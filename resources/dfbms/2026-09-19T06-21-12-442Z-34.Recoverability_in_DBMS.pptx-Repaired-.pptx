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382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8778240" y="-914400"/>
            <a:ext cx="5486400" cy="9144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9692640" y="-914400"/>
            <a:ext cx="1280160" cy="914400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77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Recoverability in DBMS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vs. Irrecoverable Schedules • Cascading, Cascadeless &amp; Strict Schedules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4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5138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7452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74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5138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Order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4572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10896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513892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Safety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Notes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F1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190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Recoverability Matters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762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schedules relate to transaction failures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F1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7190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737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Irrecoverable Schedules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17627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reads that can never be undone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F1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2735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291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Schedules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3075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Delaying commit to stay safe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10896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F1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2735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291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Schedule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73075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practical methods, step by step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F1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280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846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Schedules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2852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failure triggers a chain reaction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E9F1F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8280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8463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Cascadeless &amp; Strict Schedules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52852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guarantees, and how they nest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Every Non-Serial Schedule Is Safe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serial schedule (one transaction fully finishes before the next starts) is always safe.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non-serial schedule interleaves operations of multiple transactions for better performance — but this interleaving can be risky.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Non-serial schedules may or may not be recoverable.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“Recoverable” means: if a transaction fails, the database can always be restored to a correct, consistent state.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92240" y="16916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E9F1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smtClean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Non-Serial </a:t>
            </a: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7707086" y="2377440"/>
            <a:ext cx="1345474" cy="1005840"/>
          </a:xfrm>
          <a:prstGeom prst="line">
            <a:avLst/>
          </a:prstGeom>
          <a:noFill/>
          <a:ln w="19050">
            <a:solidFill>
              <a:srgbClr val="4458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2377440"/>
            <a:ext cx="1463040" cy="914400"/>
          </a:xfrm>
          <a:prstGeom prst="line">
            <a:avLst/>
          </a:prstGeom>
          <a:noFill/>
          <a:ln w="19050">
            <a:solidFill>
              <a:srgbClr val="4458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33832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1228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33832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3544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Irrecoverable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3886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keep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always undo a failed transaction correctly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8862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rejected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committed transaction can read a value that no longer exists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5074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to classify any given schedule into one of these buckets.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Irrecoverable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5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transaction performs a </a:t>
            </a: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</a:t>
            </a:r>
            <a:r>
              <a:rPr lang="en-US" sz="15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(reads a value written by an uncommitted transaction) and </a:t>
            </a: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before</a:t>
            </a:r>
            <a:r>
              <a:rPr lang="en-US" sz="15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uncommitted transaction commits, the schedule is irrecoverable.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reads a value that T1 has written but not yet committed — a dirty read.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commits before T1 does.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T1 fails and must roll back.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T2 read is now incorrect — but T2 has already committed, so it cannot be undone.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5212080" cy="502920"/>
          </a:xfrm>
          <a:prstGeom prst="roundRect">
            <a:avLst>
              <a:gd name="adj" fmla="val 18182"/>
            </a:avLst>
          </a:prstGeom>
          <a:solidFill>
            <a:srgbClr val="0F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59893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database is left in an incorrect, unrecoverable state.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310896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310896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3314700"/>
            <a:ext cx="530352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6301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  10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39959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   15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0" y="3108960"/>
            <a:ext cx="0" cy="265176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79992" y="4631436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 // Dirty Read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70848" y="5014831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   20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887968" y="526694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23960" y="5806440"/>
            <a:ext cx="0" cy="5029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589520" y="630936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89520" y="6309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Rolls Back → Too Late!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· WALKTHROUGH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Irrecoverable Schedule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0" cy="438912"/>
          </a:xfrm>
          <a:prstGeom prst="line">
            <a:avLst/>
          </a:prstGeom>
          <a:noFill/>
          <a:ln w="19050">
            <a:solidFill>
              <a:srgbClr val="C7D3D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234440" y="1627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writes A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7510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reads A (=10) and writes A = 15, but has not committed yet.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0" cy="438912"/>
          </a:xfrm>
          <a:prstGeom prst="line">
            <a:avLst/>
          </a:prstGeom>
          <a:noFill/>
          <a:ln w="19050">
            <a:solidFill>
              <a:srgbClr val="C7D3D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234440" y="25237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dirty-reads A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712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reads the uncommitted value A = 15 written by T1.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895344"/>
            <a:ext cx="0" cy="438912"/>
          </a:xfrm>
          <a:prstGeom prst="line">
            <a:avLst/>
          </a:prstGeom>
          <a:noFill/>
          <a:ln w="19050">
            <a:solidFill>
              <a:srgbClr val="C7D3DB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234440" y="34198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commits early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673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writes A = 20 and commits — before T1 has committed.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4791456"/>
            <a:ext cx="0" cy="438912"/>
          </a:xfrm>
          <a:prstGeom prst="line">
            <a:avLst/>
          </a:prstGeom>
          <a:noFill/>
          <a:ln w="19050">
            <a:solidFill>
              <a:srgbClr val="C7D3DB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1234440" y="4315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fails &amp; rolls back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663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aborts. The database tries to undo T1's write of A = 15.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303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212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cannot be fixed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5595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already committed using the now-invalid value — permanently incorrect.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Recoverable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may perform a dirty read from an uncommitted transaction — </a:t>
            </a: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its own commit is delayed</a:t>
            </a:r>
            <a:r>
              <a:rPr lang="en-US" sz="140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that uncommitted transaction either commits or rolls back. Such a schedule is recoverable.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performs a dirty read (reads T1's uncommitted value).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T2's commit is held back until T1 finally commits or rolls back.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T1 commits — T2 is now allowed to commit safely.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T1 fails — T2 still has a chance to roll back too, avoiding an incorrect commit.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74320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274320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948940"/>
            <a:ext cx="530352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26440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  10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82512" y="363016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   15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3995928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0" y="2743200"/>
            <a:ext cx="0" cy="246888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4092594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 // Dirty Read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97696" y="43891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   20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34272" y="4652337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// Delayed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53035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E9F1F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53949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T2's commit waits for T1's outcome.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commits later → T2 is now free to commit.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T1 had failed instead, T2 could still roll back — nothing is lost.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</a:t>
            </a:r>
            <a:r>
              <a:rPr lang="en-US" sz="1300" b="1" kern="0" spc="150" dirty="0" smtClean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IS RECOVERABLE OR IRRECOVERABLE </a:t>
            </a: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METHOD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Is It Conflict Serializable?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Check whether the given schedule is conflict serializable (equivalent to some serial schedule).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conflict serializable → it is guaranteed to be a recoverable schedule.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conflict serializable → it may or may not be recoverable. We cannot conclude yet — move to Method 2.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675120" y="1737360"/>
            <a:ext cx="4389120" cy="731520"/>
          </a:xfrm>
          <a:prstGeom prst="roundRect">
            <a:avLst>
              <a:gd name="adj" fmla="val 12500"/>
            </a:avLst>
          </a:prstGeom>
          <a:solidFill>
            <a:srgbClr val="0F2C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737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Schedule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69680" y="2468880"/>
            <a:ext cx="0" cy="457200"/>
          </a:xfrm>
          <a:prstGeom prst="line">
            <a:avLst/>
          </a:prstGeom>
          <a:noFill/>
          <a:ln w="25400">
            <a:solidFill>
              <a:srgbClr val="44586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75120" y="292608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E9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9260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Serializable?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3611880"/>
            <a:ext cx="0" cy="54864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149840" y="3611880"/>
            <a:ext cx="914400" cy="54864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40080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835640" y="3703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42519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26880" y="42519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Method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9F1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6634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serializable  </a:t>
            </a: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Recoverable
</a:t>
            </a: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conflict serializable  </a:t>
            </a:r>
            <a:r>
              <a:rPr lang="en-US" sz="14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Method 2 (dirty-read check)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 SCHEDULE · METHOD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Dirty-Read 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schedule for any dirty read — a transaction reading a value from another, still-uncommitted, transaction.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dirty read found  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schedule is Recoverable.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5394960" cy="1005840"/>
          </a:xfrm>
          <a:prstGeom prst="roundRect">
            <a:avLst>
              <a:gd name="adj" fmla="val 9091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377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 found  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 the commit order (see the two cases below).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FBEAE8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416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Dirty-reader commits BEFORE the writer commits/aborts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681728"/>
            <a:ext cx="2286000" cy="121615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681728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4887468"/>
            <a:ext cx="228600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5202936"/>
            <a:ext cx="213969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500116"/>
            <a:ext cx="213969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4681727"/>
            <a:ext cx="2377440" cy="1216153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4681728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20" name="Shape 18"/>
          <p:cNvSpPr/>
          <p:nvPr/>
        </p:nvSpPr>
        <p:spPr>
          <a:xfrm>
            <a:off x="3246120" y="4887468"/>
            <a:ext cx="237744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246120" y="4681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19272" y="5182890"/>
            <a:ext cx="2231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R(A)✓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73552" y="5443434"/>
            <a:ext cx="223113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612261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IRRECOVERABLE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3611880"/>
            <a:ext cx="5394960" cy="2788920"/>
          </a:xfrm>
          <a:prstGeom prst="roundRect">
            <a:avLst>
              <a:gd name="adj" fmla="val 3279"/>
            </a:avLst>
          </a:prstGeom>
          <a:solidFill>
            <a:srgbClr val="E7F5EE"/>
          </a:solidFill>
          <a:ln w="15240">
            <a:solidFill>
              <a:srgbClr val="1E8E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041648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Dirty-reader's commit is DELAYED until the writer commits/aborts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4681728"/>
            <a:ext cx="2286000" cy="1501902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4681728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92240" y="4887468"/>
            <a:ext cx="228600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4681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65392" y="5202936"/>
            <a:ext cx="213969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65392" y="5401056"/>
            <a:ext cx="213969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565392" y="5599176"/>
            <a:ext cx="213969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15400" y="4820471"/>
            <a:ext cx="2377440" cy="1334143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915400" y="4681728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37" name="Shape 35"/>
          <p:cNvSpPr/>
          <p:nvPr/>
        </p:nvSpPr>
        <p:spPr>
          <a:xfrm>
            <a:off x="8915400" y="4887468"/>
            <a:ext cx="237744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15400" y="4681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988552" y="5749464"/>
            <a:ext cx="223113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R(A)✓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8988552" y="5401056"/>
            <a:ext cx="223113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8988552" y="5941724"/>
            <a:ext cx="223113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61563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RECOVERABLE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RECOVERABLE SCHEDULES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Types of Recoverable Schedules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E9F1F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Schedule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transaction's failure forces several dependent transactions to also roll back.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E9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6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971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Cascadeless Schedule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5661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may only read committed data — no cascading rollbacks, but uncommitted writes are still allowed.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611880" cy="3657600"/>
          </a:xfrm>
          <a:prstGeom prst="roundRect">
            <a:avLst>
              <a:gd name="adj" fmla="val 2532"/>
            </a:avLst>
          </a:prstGeom>
          <a:solidFill>
            <a:srgbClr val="E9F1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8200" y="2148840"/>
            <a:ext cx="640080" cy="6400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6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71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Schedule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56616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may neither read nor write a data item until the last transaction that wrote it has committed or aborted.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recoverable — but they give progressively stronger safety guarantees. We'll look at each next.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BEA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in a schedule, the failure of one transaction causes several other </a:t>
            </a: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transactions to also roll back (or abort), the schedule is called a cascading (rollback/abort) schedule.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(fails)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3314700"/>
            <a:ext cx="228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3063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F2C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3314700"/>
            <a:ext cx="228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3063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F2C4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3314700"/>
            <a:ext cx="22860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41080" y="30632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0F2C4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3063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657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(reads uncommitted data from)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dirty-reads a value from T1 (uncommitted).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dirty-reads a value from T2, and T4 dirty-reads from T3.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fails and rolls back.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T2, T3, and T4 all depended on data that is now invalid, they must roll back too — a cascading rollback.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92240" y="416052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E9F1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70916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failure can undo a large chain of otherwise-fine work.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wastage of CPU time and processing effort.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technically “recoverable” — but expensive and undesirable in practice.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Cascadeless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transaction is not allowed to </a:t>
            </a:r>
            <a:r>
              <a:rPr lang="en-US" sz="145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data item until the last transaction that wrote it has committed or aborted, the schedule is cascadeless. It allows only committed read operations.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valid cascadeless schedule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5778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383280"/>
            <a:ext cx="557784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89020"/>
            <a:ext cx="557784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83280"/>
            <a:ext cx="185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390448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427024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463600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407920" y="3383280"/>
            <a:ext cx="0" cy="265176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07920" y="3383280"/>
            <a:ext cx="185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481072" y="390448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481072" y="427024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✓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2481072" y="463600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481072" y="500176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67200" y="3383280"/>
            <a:ext cx="0" cy="265176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67200" y="3383280"/>
            <a:ext cx="185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40352" y="390448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340352" y="427024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340352" y="463600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✓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340352" y="5001768"/>
            <a:ext cx="1712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80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 only ever touches already-committed data → no chain of rollbacks is possible.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971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still permits uncommitted WRITES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0" y="338328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338328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3589020"/>
            <a:ext cx="521208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3383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390448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427024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73952" y="463600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006840" y="3383280"/>
            <a:ext cx="0" cy="192024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06840" y="3383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079992" y="390448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079992" y="427024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 // Uncommitted Write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079992" y="4636008"/>
            <a:ext cx="2459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4406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writes A without waiting for T1 — still allowed here, since cascadeless only restricts reads, not writes.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7F5EE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transaction is neither allowed to </a:t>
            </a:r>
            <a:r>
              <a:rPr lang="en-US" sz="14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nor write</a:t>
            </a:r>
            <a:r>
              <a:rPr lang="en-US" sz="1450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data item until the last transaction that wrote it has committed or aborted, the schedule is called a strict schedule. It allows only committed reads AND writes.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645920" y="3200400"/>
            <a:ext cx="59436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0E7"/>
            </a:solidFill>
            <a:prstDash val="solid"/>
          </a:ln>
          <a:effectLst>
            <a:outerShdw blurRad="76200" dist="25400" dir="5400000" algn="bl" rotWithShape="0">
              <a:srgbClr val="1B2B3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0" y="3200400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0F2C4C"/>
          </a:solidFill>
          <a:ln/>
        </p:spPr>
      </p:sp>
      <p:sp>
        <p:nvSpPr>
          <p:cNvPr id="8" name="Shape 6"/>
          <p:cNvSpPr/>
          <p:nvPr/>
        </p:nvSpPr>
        <p:spPr>
          <a:xfrm>
            <a:off x="1645920" y="3406140"/>
            <a:ext cx="5943600" cy="2057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719072" y="372160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45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W(A)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719072" y="408736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C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/ Rollback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3200400"/>
            <a:ext cx="0" cy="1920240"/>
          </a:xfrm>
          <a:prstGeom prst="line">
            <a:avLst/>
          </a:prstGeom>
          <a:noFill/>
          <a:ln w="12700">
            <a:solidFill>
              <a:srgbClr val="D7E0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32004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372160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4087368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R(A) / W(A)  –  waits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52578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must wait for T1's commit/rollback before touching A at all — for both reads and writes.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0" y="3200400"/>
            <a:ext cx="3749040" cy="2148840"/>
          </a:xfrm>
          <a:prstGeom prst="roundRect">
            <a:avLst>
              <a:gd name="adj" fmla="val 4255"/>
            </a:avLst>
          </a:prstGeom>
          <a:solidFill>
            <a:srgbClr val="E9F1F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924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guarantee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74904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recovery — easy to undo (just restore the old value).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most real-world locking protocols.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Schedule Types Nest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965960"/>
            <a:ext cx="6035040" cy="3931920"/>
          </a:xfrm>
          <a:prstGeom prst="ellipse">
            <a:avLst/>
          </a:prstGeom>
          <a:solidFill>
            <a:srgbClr val="CFE3EC"/>
          </a:solidFill>
          <a:ln w="19050">
            <a:solidFill>
              <a:srgbClr val="0F2C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491740"/>
            <a:ext cx="4480560" cy="2880360"/>
          </a:xfrm>
          <a:prstGeom prst="ellipse">
            <a:avLst/>
          </a:prstGeom>
          <a:solidFill>
            <a:srgbClr val="9FC7DC"/>
          </a:solidFill>
          <a:ln w="19050">
            <a:solidFill>
              <a:srgbClr val="0F2C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3040380"/>
            <a:ext cx="2834640" cy="1783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0F2C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0574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Schedules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633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Cascadeless Schedules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173736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E9F1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352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Rules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237744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schedules are more strict than cascadeless schedules.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strict schedule IS a cascadeless schedule.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every cascadeless schedule is a strict schedule.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cascadeless schedule is recoverable — but not every recoverable schedule is cascadeless (cascading schedules exist in between).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C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778240" y="-914400"/>
            <a:ext cx="5486400" cy="9144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46304" cy="146304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110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Irrecoverable:  </a:t>
            </a:r>
            <a:r>
              <a:rPr lang="en-US" sz="145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reader commits before the writer — never allow this.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46304" cy="146304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968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Recoverable:  </a:t>
            </a:r>
            <a:r>
              <a:rPr lang="en-US" sz="145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reader's commit waits for the writer's outcome.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46304" cy="146304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826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Cascading:  </a:t>
            </a:r>
            <a:r>
              <a:rPr lang="en-US" sz="145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Recoverable, but one failure can chain-fail many transactions.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146304" cy="146304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9684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Cascadeless:  </a:t>
            </a:r>
            <a:r>
              <a:rPr lang="en-US" sz="145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committed data — no cascading rollbacks.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46304" cy="146304"/>
          </a:xfrm>
          <a:prstGeom prst="roundRect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6542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 </a:t>
            </a:r>
            <a:r>
              <a:rPr lang="en-US" sz="145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read or write on uncommitted data at all — safest &amp; simplest to recover.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Recoverability in DBMS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1453</Words>
  <Application>Microsoft Office PowerPoint</Application>
  <PresentationFormat>Widescreen</PresentationFormat>
  <Paragraphs>255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Sahithi</cp:lastModifiedBy>
  <cp:revision>7</cp:revision>
  <dcterms:created xsi:type="dcterms:W3CDTF">2026-09-06T13:59:23Z</dcterms:created>
  <dcterms:modified xsi:type="dcterms:W3CDTF">2026-09-07T04:19:47Z</dcterms:modified>
</cp:coreProperties>
</file>