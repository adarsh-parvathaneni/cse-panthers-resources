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29184" cy="32918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188720"/>
            <a:ext cx="182880" cy="18288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237744" cy="23774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182880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2194560"/>
            <a:ext cx="274320" cy="27432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2743200"/>
            <a:ext cx="146304" cy="14630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THEORY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Operators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guide to selection, projection, joins, and set operations — with worked examples on a two-table sample database.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353312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1353312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975104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1975104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596896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2596896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18688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0" name="Text 18"/>
          <p:cNvSpPr/>
          <p:nvPr/>
        </p:nvSpPr>
        <p:spPr>
          <a:xfrm>
            <a:off x="3218688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840480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62272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4" name="Text 22"/>
          <p:cNvSpPr/>
          <p:nvPr/>
        </p:nvSpPr>
        <p:spPr>
          <a:xfrm>
            <a:off x="4462272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084064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6" name="Text 24"/>
          <p:cNvSpPr/>
          <p:nvPr/>
        </p:nvSpPr>
        <p:spPr>
          <a:xfrm>
            <a:off x="5084064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705856" y="484632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8" name="Text 26"/>
          <p:cNvSpPr/>
          <p:nvPr/>
        </p:nvSpPr>
        <p:spPr>
          <a:xfrm>
            <a:off x="5705856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Relational Algebra?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1264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procedural query language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is a set of operators that take one or two relations (tables) as input and produce a new relation as output.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operator's result is itself a relation — this closure property lets operators be chained to build complex queries.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engines translate declarative SQL into relational algebra expressions to plan and optimize execution.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49440" y="1463040"/>
            <a:ext cx="46634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Families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0" y="2350008"/>
            <a:ext cx="164592" cy="164592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Selection, π Projection, ρ Rename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401568"/>
            <a:ext cx="164592" cy="164592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0" y="3584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∪ Union, − Difference, ∩ Intersection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4453128"/>
            <a:ext cx="164592" cy="164592"/>
          </a:xfrm>
          <a:prstGeom prst="ellipse">
            <a:avLst/>
          </a:prstGeom>
          <a:solidFill>
            <a:srgbClr val="21C7A8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Combining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0" y="4636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Cartesian Product, ⋈ Join, ÷ Division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5623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operators are covered in this deck, each with a worked example.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Sample Database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relations are used across every example in this deck.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2316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945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82880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Enrolled</a:t>
            </a:r>
            <a:endParaRPr lang="en-US" sz="16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42316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303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53035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used: R and S denote relations, a1...an denote attributes, θ denotes a comparison condition (=, &lt;, &gt;, etc.).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filters rows (tuples) of a relation, keeping only those that satisfy a given condition. It reduces the number of rows without changing the columns.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 θ (R)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has the same schema as R, but ≤ the number of rows. Also called a 'horizontal' filter.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Dept = 'CS' (Students)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Dept = 'CS';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950208"/>
          <a:ext cx="5074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3172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students in the CS department are kept; other rows are dropped.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selects specific columns (attributes) from a relation, discarding the rest. Duplicate resulting rows are removed automatically.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 a1, ..., an (R)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keeps all rows (minus duplicates) but only the listed columns — a 'vertical' filter.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Name, Dept (Students)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Name, Dept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Students;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721608"/>
          <a:ext cx="50749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Name and Dept columns remain; SID is dropped.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combines all tuples from two relations into one, removing duplicates. Both relations must be union-compatible (same number of attributes, matching domains).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∪ 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Union-compatibility is required: same arity and corresponding attribute domains.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Dept(Students) ∪ π Dept(NewHires)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Students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 FROM NewHires;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NewHires contributes an 'EE' and a 'HR' department: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15968"/>
          <a:ext cx="2743200" cy="914400"/>
        </p:xfrm>
        <a:graphic>
          <a:graphicData uri="http://schemas.openxmlformats.org/drawingml/2006/table">
            <a:tbl>
              <a:tblPr/>
              <a:tblGrid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has each distinct department listed once, duplicates merged.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Difference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 returns tuples that are present in the first relation but not in the second. Order matters: R − S is not the same as S − 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− 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requires union-compatibility. Non-commutative, unlike Union and Intersection.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SID(Students) − π SID(Enrolled)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FROM Students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FROM Enrolled;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950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SIDs enrolled in at least one course: {1, 2, 3}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15968"/>
          <a:ext cx="2011680" cy="914400"/>
        </p:xfrm>
        <a:graphic>
          <a:graphicData uri="http://schemas.openxmlformats.org/drawingml/2006/table">
            <a:tbl>
              <a:tblPr/>
              <a:tblGrid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student 4 (Karan) has not enrolled in any course.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Cartesian Product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pairs every tuple of R with every tuple of S, producing all possible combinations. It is the basis on which joins are built.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× 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has |R| × |S| rows and the combined attributes of both relations — grows quickly, rarely used alone.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× Enrolled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 JOIN Enrolled;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721608"/>
          <a:ext cx="5074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109728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Students × 4 Enrolled rows = 16 total rows (partial view shown).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assigns a new name to a relation, its attributes, or both — without changing the data. It resolves naming conflicts, e.g. before a self-join.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 X(A1,...,An) (R)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cosmetic — the underlying tuples are unaffected; useful for self-joins and disambiguation.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E(EID, Course) (Enrolled)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AS EID, Course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Enrolled AS E;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721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 Enrolled(SID, Course)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4014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E(EID, Course)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43400"/>
          <a:ext cx="3108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 and its SID column are simply relabeled.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Intersection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∩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returns only the tuples that appear in both relations. Like union, it requires union-compatible relations.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∩ 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expressed using difference: R ∩ S = R − (R − 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 SID(EnrolledDB) ∩ π SID(EnrolledOS)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FROM Enrolled WHERE Course = 'DB'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INTERSECT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FROM Enrolled WHERE Course = 'OS';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995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'DB': {1, 2}   Students in 'OS': {1}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361688"/>
          <a:ext cx="2011680" cy="914400"/>
        </p:xfrm>
        <a:graphic>
          <a:graphicData uri="http://schemas.openxmlformats.org/drawingml/2006/table">
            <a:tbl>
              <a:tblPr/>
              <a:tblGrid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student 1 (Aisha) is enrolled in both DB and OS.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combines related tuples from two relations based on a condition, typically equality of a shared attribute (natural join) — it is a filtered Cartesian Product.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⋈ θ  S     (Natural join: R ⋈ 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automatically matches on same-named attributes and removes the duplicate column; theta join keeps both and applies any condition 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⋈ Enrolled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777240"/>
          </a:xfrm>
          <a:prstGeom prst="roundRect">
            <a:avLst>
              <a:gd name="adj" fmla="val 7059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S.SID, Name, Dept, Course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 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Enrolled E ON S.SID = E.SID;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950208"/>
          <a:ext cx="5074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97280"/>
                <a:gridCol w="15087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matched on SID; Karan (SID 4) drops out — no matching Enrolled row.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OPERATOR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457200"/>
            <a:ext cx="914400" cy="914400"/>
          </a:xfrm>
          <a:prstGeom prst="ellipse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0" y="4389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C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finds tuples in R that are associated with every tuple in S — useful for 'for all' queries, like finding students enrolled in every required course.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8404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÷  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892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must contain all attributes of S plus more; result attributes are those of R not in 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566928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25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20574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057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Enrolled ÷ π Course(RequiredCourses)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4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944368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SID FROM Enrolled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Course IN (SELECT Course FROM RequiredCourses)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COUNT(DISTINCT Course)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33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COUNT(*) FROM RequiredCourses);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4407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RequiredCourses = { DB, OS }: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4727448"/>
          <a:ext cx="2011680" cy="914400"/>
        </p:xfrm>
        <a:graphic>
          <a:graphicData uri="http://schemas.openxmlformats.org/drawingml/2006/table">
            <a:tbl>
              <a:tblPr/>
              <a:tblGrid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33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263640" y="59893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student 1 (Aisha) is enrolled in both required courses, DB and OS.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C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Algebra Cheat Sheet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6858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C7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C7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C7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σ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rows by condition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π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columns, drop duplicates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∪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R or S (distinct)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Difference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R but not in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×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 combinations of R and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Relabel a relation or its attributes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∩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both R and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⋈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matching rows of R and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1C7A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÷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R related to all of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331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Relational Algebra Operators</dc:title>
  <dc:subject>PptxGenJS Presentation</dc:subject>
  <dc:creator>Claude</dc:creator>
  <cp:lastModifiedBy>Claude</cp:lastModifiedBy>
  <cp:revision>1</cp:revision>
  <dcterms:created xsi:type="dcterms:W3CDTF">2026-07-09T05:39:04Z</dcterms:created>
  <dcterms:modified xsi:type="dcterms:W3CDTF">2026-07-09T05:39:04Z</dcterms:modified>
</cp:coreProperties>
</file>