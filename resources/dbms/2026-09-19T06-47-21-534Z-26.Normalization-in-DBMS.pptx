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585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212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41248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redundancy in database tables, one normal form at a time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4251960"/>
            <a:ext cx="23774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  •   2NF   •   3NF   •   BCNF   •   4NF   •   5NF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 of Normal Forms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11183112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1682496"/>
            <a:ext cx="105156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682496"/>
            <a:ext cx="1051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65960" y="1645920"/>
            <a:ext cx="33832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40680" y="1645920"/>
            <a:ext cx="6035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holds a single, atomic value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2377440"/>
            <a:ext cx="11183112" cy="649224"/>
          </a:xfrm>
          <a:prstGeom prst="roundRect">
            <a:avLst>
              <a:gd name="adj" fmla="val 8451"/>
            </a:avLst>
          </a:prstGeom>
          <a:solidFill>
            <a:srgbClr val="EAF1F7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2459736"/>
            <a:ext cx="105156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459736"/>
            <a:ext cx="1051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965960" y="2423160"/>
            <a:ext cx="33832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40680" y="2423160"/>
            <a:ext cx="6035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 on part of the key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3154680"/>
            <a:ext cx="11183112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685800" y="3236976"/>
            <a:ext cx="105156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236976"/>
            <a:ext cx="1051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965960" y="3200400"/>
            <a:ext cx="33832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440680" y="3200400"/>
            <a:ext cx="6035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 through non-key attributes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3931920"/>
            <a:ext cx="11183112" cy="649224"/>
          </a:xfrm>
          <a:prstGeom prst="roundRect">
            <a:avLst>
              <a:gd name="adj" fmla="val 8451"/>
            </a:avLst>
          </a:prstGeom>
          <a:solidFill>
            <a:srgbClr val="EAF1F7"/>
          </a:solidFill>
          <a:ln/>
        </p:spPr>
      </p:sp>
      <p:sp>
        <p:nvSpPr>
          <p:cNvPr id="25" name="Shape 22"/>
          <p:cNvSpPr/>
          <p:nvPr/>
        </p:nvSpPr>
        <p:spPr>
          <a:xfrm>
            <a:off x="685800" y="4014216"/>
            <a:ext cx="105156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4014216"/>
            <a:ext cx="1051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965960" y="3977640"/>
            <a:ext cx="33832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Boyce–Codd Normal Form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5440680" y="3977640"/>
            <a:ext cx="6035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must be a super key (3.5NF)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2920" y="4709160"/>
            <a:ext cx="11183112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85800" y="4791456"/>
            <a:ext cx="105156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4791456"/>
            <a:ext cx="1051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4NF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965960" y="4754880"/>
            <a:ext cx="33832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Normal Form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440680" y="4754880"/>
            <a:ext cx="6035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multi-valued dependency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02920" y="5486400"/>
            <a:ext cx="11183112" cy="649224"/>
          </a:xfrm>
          <a:prstGeom prst="roundRect">
            <a:avLst>
              <a:gd name="adj" fmla="val 8451"/>
            </a:avLst>
          </a:prstGeom>
          <a:solidFill>
            <a:srgbClr val="EAF1F7"/>
          </a:solidFill>
          <a:ln/>
        </p:spPr>
      </p:sp>
      <p:sp>
        <p:nvSpPr>
          <p:cNvPr id="35" name="Shape 32"/>
          <p:cNvSpPr/>
          <p:nvPr/>
        </p:nvSpPr>
        <p:spPr>
          <a:xfrm>
            <a:off x="685800" y="5568696"/>
            <a:ext cx="1051560" cy="484632"/>
          </a:xfrm>
          <a:prstGeom prst="roundRect">
            <a:avLst>
              <a:gd name="adj" fmla="val 11321"/>
            </a:avLst>
          </a:prstGeom>
          <a:solidFill>
            <a:srgbClr val="21295C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" y="5568696"/>
            <a:ext cx="1051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5NF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965960" y="5532120"/>
            <a:ext cx="33832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Normal Form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5440680" y="5532120"/>
            <a:ext cx="6035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 dependency — the Project-Join Normal Form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Normalization?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6492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1828800"/>
            <a:ext cx="5897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</a:t>
            </a:r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minimizing redundancy in database tables (relations).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5897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duplication of data — the same data repeated multiple times.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401568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uses a series of Normal Forms to systematically reduce redundancy.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69480" y="1600200"/>
            <a:ext cx="44165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B23A2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69480" y="16002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B2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7269480" y="16002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0" y="2011680"/>
            <a:ext cx="39593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in database tables may cause insertion, deletion, and update anomalies — inconsistent or lost data as the table changes.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needs a key attribute — the column(s) that uniquely identify each row.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61772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1887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Bhanu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Chetan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263640" y="48006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is the key attribute — it uniquely identifies each student, even when names repeat.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Matters: The Three Anomalies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645920"/>
            <a:ext cx="3593592" cy="429768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888236" y="1920240"/>
            <a:ext cx="822960" cy="82296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91" y="201899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288036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Anomaly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22960" y="3520440"/>
            <a:ext cx="29535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add certain data without also having unrelated data on hand (e.g. can't add a subject until a student enrolls in it).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279392" y="1645920"/>
            <a:ext cx="3593592" cy="429768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64708" y="1920240"/>
            <a:ext cx="822960" cy="82296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463" y="2018995"/>
            <a:ext cx="625450" cy="625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07992" y="288036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Anomaly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599432" y="3520440"/>
            <a:ext cx="29535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one row unintentionally wipes out other useful information stored redundantly in that same row.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055864" y="1645920"/>
            <a:ext cx="3593592" cy="429768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41180" y="1920240"/>
            <a:ext cx="822960" cy="822960"/>
          </a:xfrm>
          <a:prstGeom prst="ellipse">
            <a:avLst/>
          </a:prstGeom>
          <a:solidFill>
            <a:srgbClr val="B23A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935" y="2018995"/>
            <a:ext cx="625450" cy="625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84464" y="2880360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Anomaly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375904" y="3520440"/>
            <a:ext cx="295351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 is stored in many rows, so updating it means editing every duplicate — miss one, and the data becomes inconsistent.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Normal Form (1NF)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satisfies 1NF when it follows these four rules: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205740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057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200253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must hold single, atomic (single-valued) values — no lists or sets in one cell.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292608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926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87121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attribute's domain (the kind of data it stores) should not change from row to row.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794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373989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attribute (column) must have a unique name.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466344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460857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attributes or rows are stored does not matter.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5800" y="571500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" y="57150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57150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14400" y="612648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is the entry ticket: a table must be 1NF before it can even be considered for 2NF, 3NF, and beyond.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 in Action — Student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multi-valued Subject column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OS, CN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Chetan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Bhanu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C++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80960" y="201168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B23A2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0" y="20116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B23A2E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20116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1NF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909560" y="2423160"/>
            <a:ext cx="3520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cell for Roll No 101 holds two values, "OS, CN", in a single field. That breaks the atomic-value rule.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02920" y="4526280"/>
            <a:ext cx="11155680" cy="1737360"/>
          </a:xfrm>
          <a:prstGeom prst="roundRect">
            <a:avLst>
              <a:gd name="adj" fmla="val 5263"/>
            </a:avLst>
          </a:prstGeom>
          <a:solidFill>
            <a:srgbClr val="FBEAE8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47091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that expects one subject per row (e.g. "list every student for each subject") can't cleanly filter, sort, or join on a combined value like "OS, CN". The table needs one row per subject instead.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 in Action — Fixing the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one subject per row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Chetan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680960" y="2011680"/>
            <a:ext cx="39776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0" y="20116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7A4C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20116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 1NF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909560" y="2423160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holds exactly one value. Roll No 101 now appears on two rows — one per subject.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02920" y="489204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FFF6E5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50749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satisfying 1NF actually increased redundancy — "Arjun" and "Bhanu" now repeat across rows. Removing that new redundancy is exactly what 2NF tackles next.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Normal Form (2NF)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63677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must already be in 1NF.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" y="23317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27685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must be no partial dependency.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3017520"/>
            <a:ext cx="1118311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Dependency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36118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non-key attribute of the table depends on only part of a composite key attribute, rather than depending on the whole key.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507492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507492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50749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THIS APPLY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" y="5486400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dependency can only happen when a table has a composite key (two or more columns together forming the key) — with a single-column key, there's no "part of the key" to depend 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 in Action — Teacher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766560" y="16916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{Teacher_id + Subject}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{Teacher_age}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766560" y="260604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B23A2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66560" y="26060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B23A2E"/>
          </a:solidFill>
          <a:ln/>
        </p:spPr>
      </p:sp>
      <p:sp>
        <p:nvSpPr>
          <p:cNvPr id="13" name="Text 9"/>
          <p:cNvSpPr/>
          <p:nvPr/>
        </p:nvSpPr>
        <p:spPr>
          <a:xfrm>
            <a:off x="6766560" y="2606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2NF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995160" y="3017520"/>
            <a:ext cx="44348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Teacher_age depends only on Teacher_id — a proper subset of the composite key — not on the whole key {Teacher_id, Subject}. That's a partial dependency.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02920" y="4160520"/>
            <a:ext cx="6035040" cy="1828800"/>
          </a:xfrm>
          <a:prstGeom prst="roundRect">
            <a:avLst>
              <a:gd name="adj" fmla="val 5000"/>
            </a:avLst>
          </a:prstGeom>
          <a:solidFill>
            <a:srgbClr val="FBEAE8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434340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every time Teacher_id repeats (111, 111 or 333, 333), Teacher_age repeats too — that's the redundancy 2NF exists to remove.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 in Action — Decomposing the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satisfy 2NF, split the table into two — separating what depends on Teacher_id alone from what depends on the full key.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Teacher_Detail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12648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Teacher_Subject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46888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02920" y="516636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02920" y="516636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7A4C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51663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1520" y="557784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Teacher_age is now stored once per teacher in Teacher_Detail. Teacher_Subject freely repeats Teacher_id to capture the many-subjects-per-teacher relationship, with no redundant age data.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 Normal Form (3NF)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63677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must already be in 2NF.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" y="233172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27685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must be no transitive dependency.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3017520"/>
            <a:ext cx="111831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Transitive Dependency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36118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non-key (non-prime) attribute depends on another non-key attribute, rather than depending on the key attribute directly.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516636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516636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51663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" y="557784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A → B is a transitive dependency: B depends on A, and A depends on the key — so B only reaches the key indirectly, "through" 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 in Action — Employee Details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00200"/>
                <a:gridCol w="1737360"/>
                <a:gridCol w="1691640"/>
                <a:gridCol w="1737360"/>
                <a:gridCol w="31821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emp_zip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emp_district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Dayal Bagh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Urapakkam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Bhagwan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Gwalior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38862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chain: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→ emp_zip → {emp_state, emp_city, emp_district}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02920" y="4709160"/>
            <a:ext cx="111831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B23A2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2920" y="470916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B23A2E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4709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3NF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5120640"/>
            <a:ext cx="107259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emp_state, emp_city, and emp_district don't depend on emp_id directly — they depend on emp_zip, which is itself a non-key attribute. That indirect chain is a transitive dependency.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 in Action — Decomposing the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satisfy 3NF, split off the zip-dependent attributes into their own table.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emp_zip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1722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Employee_Zip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377440"/>
          <a:ext cx="5532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371600"/>
                <a:gridCol w="16002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emp_zip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emp_district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Dayal Bagh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Urapakkam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Bhagwan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Gwalior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02920" y="5257800"/>
            <a:ext cx="1118311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02920" y="52578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7A4C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5257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1520" y="56692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emp_zip becomes the key of Employee_Zip, and every location attribute now depends directly on it — the transitive chain through emp_id is gone.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 3.5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Boyce–Codd Normal Form (BCNF)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63677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must already be in 3NF.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" y="23317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27685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dependency A → B, A must be a super key.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3017520"/>
            <a:ext cx="111831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Plain Terms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36118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dependency A → B, A cannot be a non-prime (non-key) attribute if B is a prime (key) attribute. Whoever determines a value must itself be capable of identifying the whole row.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516636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516636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51663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STRICTER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" y="5577840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only checks dependencies onto non-key attributes. BCNF checks every dependency, even ones pointing at key attributes — closing a loophole 3NF leaves open.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 in Action — Student, Subject, Professor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6126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P.Cpp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P.Java2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P.Chash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903720" y="164592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{student_id + subject}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{professor}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professor teaches only one subject, but one subject may be taught by different professors.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02920" y="4160520"/>
            <a:ext cx="6126480" cy="1737360"/>
          </a:xfrm>
          <a:prstGeom prst="roundRect">
            <a:avLst>
              <a:gd name="adj" fmla="val 5263"/>
            </a:avLst>
          </a:prstGeom>
          <a:solidFill>
            <a:srgbClr val="FBEAE8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434340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→ subject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is a non-key attribute, yet it determines subject, which is part of the key.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03720" y="461772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B23A2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03720" y="461772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B23A2E"/>
          </a:solidFill>
          <a:ln/>
        </p:spPr>
      </p:sp>
      <p:sp>
        <p:nvSpPr>
          <p:cNvPr id="15" name="Text 11"/>
          <p:cNvSpPr/>
          <p:nvPr/>
        </p:nvSpPr>
        <p:spPr>
          <a:xfrm>
            <a:off x="6903720" y="46177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BCNF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32320" y="50292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determinant “professor” is not a super key, yet it determines a prime attribute — violating the BCNF rule.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 in Action — Decomposing the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satisfy BCNF, decompose around the professor → subject dependency using a new professor-id attribute.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120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5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51460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25603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P.Cpp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P.Java2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02920" y="489204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02920" y="489204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7A4C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920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1520" y="53035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p_id — a new attribute — becomes the key of Professor, so professor is now a determinant for a table where it forms part of a genuine super key. Student links to Professor through p_id instead of repeating professor names.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Fourth Normal Form (4NF)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63677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must already be in BCNF.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" y="233172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27685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must have no multi-valued dependency.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3017520"/>
            <a:ext cx="1118311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Multi-Valued Dependency (A →→ B)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" y="36118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dependency A → B, if a single value of A can have multiple values of B, the table may have a multi-valued dependency. This needs at least three columns to occur.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525780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52578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5257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" y="5669280"/>
            <a:ext cx="107259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relation R(A, B, C): if there is an MVD between A and B, then B and C must be independent of each other.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4NF in Action — Student, Course, Hobby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Hobby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Cricket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Cricket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406640" y="182880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→→ Java, Ravi →→ Python
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→→ Cricket, Ravi →→ Chess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406640" y="2743200"/>
            <a:ext cx="4251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B23A2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06640" y="27432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B23A2E"/>
          </a:solidFill>
          <a:ln/>
        </p:spPr>
      </p:sp>
      <p:sp>
        <p:nvSpPr>
          <p:cNvPr id="13" name="Text 9"/>
          <p:cNvSpPr/>
          <p:nvPr/>
        </p:nvSpPr>
        <p:spPr>
          <a:xfrm>
            <a:off x="7406640" y="27432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4NF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635240" y="315468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and Hobby are two independent, multi-valued facts about Ravi — but every combination of the two is stored, quadrupling the rows for one student.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02920" y="4069080"/>
            <a:ext cx="6583680" cy="1828800"/>
          </a:xfrm>
          <a:prstGeom prst="roundRect">
            <a:avLst>
              <a:gd name="adj" fmla="val 5000"/>
            </a:avLst>
          </a:prstGeom>
          <a:solidFill>
            <a:srgbClr val="FBEAE8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425196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→→ Course
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→→ Hobby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has nothing to do with Hobby, yet the table forces every course to be paired with every hobby.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4NF in Action — Decomposing the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satisfy 4NF, separate the two independent multi-valued facts into their own tables.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Student_Course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46888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008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Student_Hobby</a:t>
            </a:r>
            <a:endParaRPr lang="en-US" sz="15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46888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Hobby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Cricket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02920" y="461772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02920" y="461772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7A4C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6177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31520" y="50292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now records exactly one independent fact about the student. The artificial pairing of every course with every hobby is gone — from 4 rows down to 2 + 2.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 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Fifth Normal Form (5NF)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Project-Join Normal Form (PJNF)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8288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177393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must already be in 4NF.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24688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468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414016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must be no join dependency.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2920" y="3154680"/>
            <a:ext cx="1118311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Dependency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77240" y="37490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can't be decomposed into smaller tables without losing information. If decomposition does happen, it must be losslessly reconstructable by joining the pieces back together.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502920" y="5212080"/>
            <a:ext cx="1118311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2920" y="5212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52120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APPLIES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1520" y="56235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5NF deals with tables that involve three or more related entities, where the relationships between them are more complex than any earlier normal form can capture.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5NF in Action — Agent, Company, Product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Infosys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772400" y="1737360"/>
            <a:ext cx="391363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0" y="173736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17373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001000" y="2148840"/>
            <a:ext cx="345643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relation involves three interacting entities. No single pair of columns alone explains why exactly these rows exist — it's a genuine three-way relationship.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2920" y="3977640"/>
            <a:ext cx="11183112" cy="1737360"/>
          </a:xfrm>
          <a:prstGeom prst="roundRect">
            <a:avLst>
              <a:gd name="adj" fmla="val 5263"/>
            </a:avLst>
          </a:prstGeom>
          <a:solidFill>
            <a:srgbClr val="FFF6E5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1605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5NF: 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can't be safely split into any two of Agent-Company, Company-Product, or Agent-Product alone — joining just two of those pairs back together could reconstruct rows that never actually existed (a lossy join).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7A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58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5NF in Action — Decomposing the Table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298448"/>
            <a:ext cx="11183112" cy="0"/>
          </a:xfrm>
          <a:prstGeom prst="line">
            <a:avLst/>
          </a:prstGeom>
          <a:noFill/>
          <a:ln w="19050">
            <a:solidFill>
              <a:srgbClr val="DC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all three pairwise relationships. Joining all three back together reconstructs the original table exactly, with no lost or invented rows.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Agent_Company</a:t>
            </a:r>
            <a:endParaRPr lang="en-US" sz="14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3383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Infosys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34340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Company_Product</a:t>
            </a:r>
            <a:endParaRPr lang="en-US" sz="145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468880"/>
          <a:ext cx="3383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Infosys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818388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Agent_Product</a:t>
            </a:r>
            <a:endParaRPr lang="en-US" sz="145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468880"/>
          <a:ext cx="33832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02920" y="507492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1E7A4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02920" y="507492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1E7A4C"/>
          </a:solidFill>
          <a:ln/>
        </p:spPr>
      </p:sp>
      <p:sp>
        <p:nvSpPr>
          <p:cNvPr id="18" name="Text 12"/>
          <p:cNvSpPr/>
          <p:nvPr/>
        </p:nvSpPr>
        <p:spPr>
          <a:xfrm>
            <a:off x="502920" y="50749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31520" y="54864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captures one pairwise relationship. Re-joining Agent_Company ⋈ Company_Product ⋈ Agent_Product recreates the original data exactly — this is what “lossless join” means in practice.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Normalization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normal form solves the redundancy problem the previous one left behind.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 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FB5"/>
                </a:solidFill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0487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048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24048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862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FB5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1810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311810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FB5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3133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3133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38313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a super key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2885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FB5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544568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445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4NF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011680" y="454456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multi-valued dependency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50017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FB5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57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5NF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011680" y="5257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 dependency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06640" y="1691640"/>
            <a:ext cx="4160520" cy="4389120"/>
          </a:xfrm>
          <a:prstGeom prst="roundRect">
            <a:avLst>
              <a:gd name="adj" fmla="val 2198"/>
            </a:avLst>
          </a:prstGeom>
          <a:solidFill>
            <a:srgbClr val="1B2A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bother?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2423160"/>
            <a:ext cx="3611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duplicated data
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Fewer insertion, update, and deletion anomalies
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Easier-to-maintain, consistent tables
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clear, principled way to design schemas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in DBMS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961120" y="6547104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2026-07-30T02:16:13Z</dcterms:created>
  <dcterms:modified xsi:type="dcterms:W3CDTF">2026-07-30T02:16:13Z</dcterms:modified>
</cp:coreProperties>
</file>