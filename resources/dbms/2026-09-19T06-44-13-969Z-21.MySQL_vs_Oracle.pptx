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20"/>
    <p:sldId id="270" r:id="rId21"/>
    <p:sldId id="271" r:id="rId22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108960" cy="3108960"/>
          </a:xfrm>
          <a:prstGeom prst="ellipse">
            <a:avLst/>
          </a:prstGeom>
          <a:solidFill>
            <a:srgbClr val="24316B"/>
          </a:solidFill>
          <a:ln/>
        </p:spPr>
      </p:sp>
      <p:pic>
        <p:nvPicPr>
          <p:cNvPr id="4" name="Image 0" descr="/home/claude/mysql_oracle_ppt/icons/mysql_mysq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051560"/>
            <a:ext cx="960120" cy="960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7492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600" dirty="0"/>
          </a:p>
        </p:txBody>
      </p:sp>
      <p:pic>
        <p:nvPicPr>
          <p:cNvPr id="6" name="Image 1" descr="/home/claude/mysql_oracle_ppt/icons/oracle_ora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051560"/>
            <a:ext cx="960120" cy="9601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23317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vs Oracle</a:t>
            </a:r>
            <a:endParaRPr lang="en-US" sz="4800" dirty="0"/>
          </a:p>
        </p:txBody>
      </p:sp>
      <p:sp>
        <p:nvSpPr>
          <p:cNvPr id="8" name="Text 4"/>
          <p:cNvSpPr/>
          <p:nvPr/>
        </p:nvSpPr>
        <p:spPr>
          <a:xfrm>
            <a:off x="1188720" y="333756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Two Leading Database Systems — and How Their SQL Commands Differ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937760" y="4160520"/>
            <a:ext cx="2313432" cy="36576"/>
          </a:xfrm>
          <a:prstGeom prst="rect">
            <a:avLst/>
          </a:prstGeom>
          <a:solidFill>
            <a:srgbClr val="F29111"/>
          </a:solidFill>
          <a:ln/>
        </p:spPr>
      </p:sp>
      <p:sp>
        <p:nvSpPr>
          <p:cNvPr id="10" name="Text 6"/>
          <p:cNvSpPr/>
          <p:nvPr/>
        </p:nvSpPr>
        <p:spPr>
          <a:xfrm>
            <a:off x="1188720" y="598932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•  Classroom Guide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914400" cy="45720"/>
          </a:xfrm>
          <a:prstGeom prst="rect">
            <a:avLst/>
          </a:prstGeom>
          <a:solidFill>
            <a:srgbClr val="F29111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5087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973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mysql_oracle_ppt/icons/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0528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6916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Core Differences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07568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Ownership, licensing, architecture, and philosophy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5087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8973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mysql_oracle_ppt/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0528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6916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Types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60920" y="207568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system stores numbers, text, and dates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85800" y="32004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5890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mysql_oracle_ppt/icons/cod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37444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33832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DDL Commands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37360" y="376732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ALTER, DROP — syntax side by side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32004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35890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mysql_oracle_ppt/icons/exchang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37444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33832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DML &amp; DQL Commands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60920" y="376732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UPDATE, SELECT, pagination differences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85800" y="48920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4400" y="52806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mysql_oracle_ppt/icons/funcIco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543610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37360" y="50749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Built-in Functions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737360" y="545896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date, and null-handling functions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309360" y="48920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37960" y="52806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mysql_oracle_ppt/icons/sav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543610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60920" y="50749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Transactions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360920" y="545896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behavior and control differences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vs Oracle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Different Philosophies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15568"/>
            <a:ext cx="914400" cy="45720"/>
          </a:xfrm>
          <a:prstGeom prst="rect">
            <a:avLst/>
          </a:prstGeom>
          <a:solidFill>
            <a:srgbClr val="F29111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50876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1E2761"/>
          </a:solidFill>
          <a:ln/>
        </p:spPr>
      </p:sp>
      <p:pic>
        <p:nvPicPr>
          <p:cNvPr id="5" name="Image 0" descr="/home/claude/mysql_oracle_ppt/icons/mysql_mysq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288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828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1005840" y="2724912"/>
            <a:ext cx="109728" cy="109728"/>
          </a:xfrm>
          <a:prstGeom prst="ellipse">
            <a:avLst/>
          </a:prstGeom>
          <a:solidFill>
            <a:srgbClr val="F29111"/>
          </a:solidFill>
          <a:ln/>
        </p:spPr>
      </p:sp>
      <p:sp>
        <p:nvSpPr>
          <p:cNvPr id="8" name="Text 5"/>
          <p:cNvSpPr/>
          <p:nvPr/>
        </p:nvSpPr>
        <p:spPr>
          <a:xfrm>
            <a:off x="1280160" y="256032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owned by Oracle Corp. since 2010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005840" y="3300984"/>
            <a:ext cx="109728" cy="109728"/>
          </a:xfrm>
          <a:prstGeom prst="ellipse">
            <a:avLst/>
          </a:prstGeom>
          <a:solidFill>
            <a:srgbClr val="F29111"/>
          </a:solidFill>
          <a:ln/>
        </p:spPr>
      </p:sp>
      <p:sp>
        <p:nvSpPr>
          <p:cNvPr id="10" name="Text 7"/>
          <p:cNvSpPr/>
          <p:nvPr/>
        </p:nvSpPr>
        <p:spPr>
          <a:xfrm>
            <a:off x="1280160" y="313639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Community Edition; paid Enterprise tiers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05840" y="3877056"/>
            <a:ext cx="109728" cy="109728"/>
          </a:xfrm>
          <a:prstGeom prst="ellipse">
            <a:avLst/>
          </a:prstGeom>
          <a:solidFill>
            <a:srgbClr val="F29111"/>
          </a:solidFill>
          <a:ln/>
        </p:spPr>
      </p:sp>
      <p:sp>
        <p:nvSpPr>
          <p:cNvPr id="12" name="Text 9"/>
          <p:cNvSpPr/>
          <p:nvPr/>
        </p:nvSpPr>
        <p:spPr>
          <a:xfrm>
            <a:off x="1280160" y="371246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— popular for web apps (LAMP stack)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005840" y="4453128"/>
            <a:ext cx="109728" cy="109728"/>
          </a:xfrm>
          <a:prstGeom prst="ellipse">
            <a:avLst/>
          </a:prstGeom>
          <a:solidFill>
            <a:srgbClr val="F29111"/>
          </a:solidFill>
          <a:ln/>
        </p:spPr>
      </p:sp>
      <p:sp>
        <p:nvSpPr>
          <p:cNvPr id="14" name="Text 11"/>
          <p:cNvSpPr/>
          <p:nvPr/>
        </p:nvSpPr>
        <p:spPr>
          <a:xfrm>
            <a:off x="1280160" y="428853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pluggable storage engines (InnoDB, MyISAM)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005840" y="5029200"/>
            <a:ext cx="109728" cy="109728"/>
          </a:xfrm>
          <a:prstGeom prst="ellipse">
            <a:avLst/>
          </a:prstGeom>
          <a:solidFill>
            <a:srgbClr val="F29111"/>
          </a:solidFill>
          <a:ln/>
        </p:spPr>
      </p:sp>
      <p:sp>
        <p:nvSpPr>
          <p:cNvPr id="16" name="Text 13"/>
          <p:cNvSpPr/>
          <p:nvPr/>
        </p:nvSpPr>
        <p:spPr>
          <a:xfrm>
            <a:off x="1280160" y="486460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SQL dialect, fewer advanced features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005840" y="5605272"/>
            <a:ext cx="109728" cy="109728"/>
          </a:xfrm>
          <a:prstGeom prst="ellipse">
            <a:avLst/>
          </a:prstGeom>
          <a:solidFill>
            <a:srgbClr val="F29111"/>
          </a:solidFill>
          <a:ln/>
        </p:spPr>
      </p:sp>
      <p:sp>
        <p:nvSpPr>
          <p:cNvPr id="18" name="Text 15"/>
          <p:cNvSpPr/>
          <p:nvPr/>
        </p:nvSpPr>
        <p:spPr>
          <a:xfrm>
            <a:off x="1280160" y="54406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startups, WordPress, small-to-mid apps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63640" y="150876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pic>
        <p:nvPicPr>
          <p:cNvPr id="20" name="Image 1" descr="/home/claude/mysql_oracle_ppt/icons/oracle_ora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594360" cy="5943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315200" y="1828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Database</a:t>
            </a:r>
            <a:endParaRPr lang="en-US" sz="2400" dirty="0"/>
          </a:p>
        </p:txBody>
      </p:sp>
      <p:sp>
        <p:nvSpPr>
          <p:cNvPr id="22" name="Shape 18"/>
          <p:cNvSpPr/>
          <p:nvPr/>
        </p:nvSpPr>
        <p:spPr>
          <a:xfrm>
            <a:off x="6583680" y="2724912"/>
            <a:ext cx="109728" cy="109728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23" name="Text 19"/>
          <p:cNvSpPr/>
          <p:nvPr/>
        </p:nvSpPr>
        <p:spPr>
          <a:xfrm>
            <a:off x="6858000" y="256032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Proprietary, owned and sold by Oracle Corporation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583680" y="3300984"/>
            <a:ext cx="109728" cy="109728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25" name="Text 21"/>
          <p:cNvSpPr/>
          <p:nvPr/>
        </p:nvSpPr>
        <p:spPr>
          <a:xfrm>
            <a:off x="6858000" y="313639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licensing; free Express Edition (XE) exists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6583680" y="3877056"/>
            <a:ext cx="109728" cy="109728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27" name="Text 23"/>
          <p:cNvSpPr/>
          <p:nvPr/>
        </p:nvSpPr>
        <p:spPr>
          <a:xfrm>
            <a:off x="6858000" y="371246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— built for large, mission-critical apps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583680" y="4453128"/>
            <a:ext cx="109728" cy="109728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29" name="Text 25"/>
          <p:cNvSpPr/>
          <p:nvPr/>
        </p:nvSpPr>
        <p:spPr>
          <a:xfrm>
            <a:off x="6858000" y="428853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tablespaces and a single powerful storage model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6583680" y="5029200"/>
            <a:ext cx="109728" cy="109728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31" name="Text 27"/>
          <p:cNvSpPr/>
          <p:nvPr/>
        </p:nvSpPr>
        <p:spPr>
          <a:xfrm>
            <a:off x="6858000" y="486460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SQL dialect extended with PL/SQL procedural code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6583680" y="5605272"/>
            <a:ext cx="109728" cy="109728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33" name="Text 29"/>
          <p:cNvSpPr/>
          <p:nvPr/>
        </p:nvSpPr>
        <p:spPr>
          <a:xfrm>
            <a:off x="6858000" y="54406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banking, telecom, and large enterprises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vs Oracle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Differences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15568"/>
            <a:ext cx="914400" cy="45720"/>
          </a:xfrm>
          <a:prstGeom prst="rect">
            <a:avLst/>
          </a:prstGeom>
          <a:solidFill>
            <a:srgbClr val="F29111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835640" cy="4892040"/>
        </p:xfrm>
        <a:graphic>
          <a:graphicData uri="http://schemas.openxmlformats.org/drawingml/2006/table">
            <a:tbl>
              <a:tblPr/>
              <a:tblGrid>
                <a:gridCol w="2834640"/>
                <a:gridCol w="3977640"/>
                <a:gridCol w="40233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Database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Ownership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96A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Corp. (open-source, GPL)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8E2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Corp. (proprietary)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96A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(Community); paid Enterprise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8E2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Expensive licensing; free XE edition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Procedural language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96A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stored procedures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8E2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PL/SQL (procedures, packages)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96A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Pluggable storage engines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8E2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Tablespaces &amp; data files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identifier gen.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96A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AUTO_INCREMENT column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8E2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 object + trigger/IDENTITY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limiting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96A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 clause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8E2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ROWNUM / FETCH FIRST clause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Dummy table for SELECT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96A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required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8E2F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table required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vs Oracle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 Differences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15568"/>
            <a:ext cx="914400" cy="45720"/>
          </a:xfrm>
          <a:prstGeom prst="rect">
            <a:avLst/>
          </a:prstGeom>
          <a:solidFill>
            <a:srgbClr val="F29111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835640" cy="4892040"/>
        </p:xfrm>
        <a:graphic>
          <a:graphicData uri="http://schemas.openxmlformats.org/drawingml/2006/table">
            <a:tbl>
              <a:tblPr/>
              <a:tblGrid>
                <a:gridCol w="2514600"/>
                <a:gridCol w="4114800"/>
                <a:gridCol w="42062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MySQL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Oracle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96A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VARCHAR(n)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E2F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VARCHAR2(n)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96A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INT, TINYINT, BIGINT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E2F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NUMBER(p) — one universal numeric type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 numbers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96A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DECIMAL(p,s), FLOAT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E2F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NUMBER(p,s)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96A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DATE (no time part)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E2F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DATE (always includes time)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&amp;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96A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DATETIME, TIMESTAMP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E2F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TIMESTAMP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96A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TEXT, LONGTEXT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E2F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CLOB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96A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BOOLEAN (alias for TINYINT(1))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E2F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 native type — use NUMBER(1) or CHAR(1)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row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96A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AUTO_INCREMENT attribute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E2F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IDENTITY column or SEQUENCE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vs Oracle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DDL: Creating a Table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goal, different syntax for auto-generated IDs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5257800" cy="4160520"/>
          </a:xfrm>
          <a:prstGeom prst="roundRect">
            <a:avLst>
              <a:gd name="adj" fmla="val 1538"/>
            </a:avLst>
          </a:prstGeom>
          <a:solidFill>
            <a:srgbClr val="141B2E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" y="1691640"/>
            <a:ext cx="100584" cy="100584"/>
          </a:xfrm>
          <a:prstGeom prst="ellipse">
            <a:avLst/>
          </a:prstGeom>
          <a:solidFill>
            <a:srgbClr val="E5573F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" y="1691640"/>
            <a:ext cx="100584" cy="100584"/>
          </a:xfrm>
          <a:prstGeom prst="ellipse">
            <a:avLst/>
          </a:prstGeom>
          <a:solidFill>
            <a:srgbClr val="E5B93F"/>
          </a:solidFill>
          <a:ln/>
        </p:spPr>
      </p:sp>
      <p:sp>
        <p:nvSpPr>
          <p:cNvPr id="7" name="Shape 5"/>
          <p:cNvSpPr/>
          <p:nvPr/>
        </p:nvSpPr>
        <p:spPr>
          <a:xfrm>
            <a:off x="1179576" y="1691640"/>
            <a:ext cx="100584" cy="100584"/>
          </a:xfrm>
          <a:prstGeom prst="ellipse">
            <a:avLst/>
          </a:prstGeom>
          <a:solidFill>
            <a:srgbClr val="3FE573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6093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9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938528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employees (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emp_id    INT AUTO_INCREMENT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PRIMARY KEY,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emp_name  VARCHAR(50) NOT NULL,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hire_date DATE,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salary    DECIMAL(10,2)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ID generated automatically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employees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(emp_name, hire_date, salary)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('Asha Rao', '2026-06-01', 55000);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257800" cy="4160520"/>
          </a:xfrm>
          <a:prstGeom prst="roundRect">
            <a:avLst>
              <a:gd name="adj" fmla="val 1538"/>
            </a:avLst>
          </a:prstGeom>
          <a:solidFill>
            <a:srgbClr val="141B2E"/>
          </a:solidFill>
          <a:ln/>
        </p:spPr>
      </p:sp>
      <p:sp>
        <p:nvSpPr>
          <p:cNvPr id="11" name="Shape 9"/>
          <p:cNvSpPr/>
          <p:nvPr/>
        </p:nvSpPr>
        <p:spPr>
          <a:xfrm>
            <a:off x="6428232" y="1691640"/>
            <a:ext cx="100584" cy="100584"/>
          </a:xfrm>
          <a:prstGeom prst="ellipse">
            <a:avLst/>
          </a:prstGeom>
          <a:solidFill>
            <a:srgbClr val="E5573F"/>
          </a:solidFill>
          <a:ln/>
        </p:spPr>
      </p:sp>
      <p:sp>
        <p:nvSpPr>
          <p:cNvPr id="12" name="Shape 10"/>
          <p:cNvSpPr/>
          <p:nvPr/>
        </p:nvSpPr>
        <p:spPr>
          <a:xfrm>
            <a:off x="6592824" y="1691640"/>
            <a:ext cx="100584" cy="100584"/>
          </a:xfrm>
          <a:prstGeom prst="ellipse">
            <a:avLst/>
          </a:prstGeom>
          <a:solidFill>
            <a:srgbClr val="E5B93F"/>
          </a:solidFill>
          <a:ln/>
        </p:spPr>
      </p:sp>
      <p:sp>
        <p:nvSpPr>
          <p:cNvPr id="13" name="Shape 11"/>
          <p:cNvSpPr/>
          <p:nvPr/>
        </p:nvSpPr>
        <p:spPr>
          <a:xfrm>
            <a:off x="6757416" y="1691640"/>
            <a:ext cx="100584" cy="100584"/>
          </a:xfrm>
          <a:prstGeom prst="ellipse">
            <a:avLst/>
          </a:prstGeom>
          <a:solidFill>
            <a:srgbClr val="3FE573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6093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1938528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employees (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emp_id    NUMBER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GENERATED ALWAYS AS IDENTITY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PRIMARY KEY,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emp_name  VARCHAR2(50) NOT NULL,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hire_date DATE,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salary    NUMBER(10,2)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Older versions: use a SEQUENCE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CREATE SEQUENCE emp_seq START WITH 1;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vs Oracle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DML: Updating &amp; Deleting Rows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is nearly identical — the difference shows up when limiting rows affected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5257800" cy="4160520"/>
          </a:xfrm>
          <a:prstGeom prst="roundRect">
            <a:avLst>
              <a:gd name="adj" fmla="val 1538"/>
            </a:avLst>
          </a:prstGeom>
          <a:solidFill>
            <a:srgbClr val="141B2E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" y="1691640"/>
            <a:ext cx="100584" cy="100584"/>
          </a:xfrm>
          <a:prstGeom prst="ellipse">
            <a:avLst/>
          </a:prstGeom>
          <a:solidFill>
            <a:srgbClr val="E5573F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" y="1691640"/>
            <a:ext cx="100584" cy="100584"/>
          </a:xfrm>
          <a:prstGeom prst="ellipse">
            <a:avLst/>
          </a:prstGeom>
          <a:solidFill>
            <a:srgbClr val="E5B93F"/>
          </a:solidFill>
          <a:ln/>
        </p:spPr>
      </p:sp>
      <p:sp>
        <p:nvSpPr>
          <p:cNvPr id="7" name="Shape 5"/>
          <p:cNvSpPr/>
          <p:nvPr/>
        </p:nvSpPr>
        <p:spPr>
          <a:xfrm>
            <a:off x="1179576" y="1691640"/>
            <a:ext cx="100584" cy="100584"/>
          </a:xfrm>
          <a:prstGeom prst="ellipse">
            <a:avLst/>
          </a:prstGeom>
          <a:solidFill>
            <a:srgbClr val="3FE573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6093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9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938528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Update with a row limit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employees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salary = salary * 1.10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dept = 'Sales'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5;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Delete with a row limit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employees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hire_date &lt; '2020-01-01'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10;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257800" cy="4160520"/>
          </a:xfrm>
          <a:prstGeom prst="roundRect">
            <a:avLst>
              <a:gd name="adj" fmla="val 1538"/>
            </a:avLst>
          </a:prstGeom>
          <a:solidFill>
            <a:srgbClr val="141B2E"/>
          </a:solidFill>
          <a:ln/>
        </p:spPr>
      </p:sp>
      <p:sp>
        <p:nvSpPr>
          <p:cNvPr id="11" name="Shape 9"/>
          <p:cNvSpPr/>
          <p:nvPr/>
        </p:nvSpPr>
        <p:spPr>
          <a:xfrm>
            <a:off x="6428232" y="1691640"/>
            <a:ext cx="100584" cy="100584"/>
          </a:xfrm>
          <a:prstGeom prst="ellipse">
            <a:avLst/>
          </a:prstGeom>
          <a:solidFill>
            <a:srgbClr val="E5573F"/>
          </a:solidFill>
          <a:ln/>
        </p:spPr>
      </p:sp>
      <p:sp>
        <p:nvSpPr>
          <p:cNvPr id="12" name="Shape 10"/>
          <p:cNvSpPr/>
          <p:nvPr/>
        </p:nvSpPr>
        <p:spPr>
          <a:xfrm>
            <a:off x="6592824" y="1691640"/>
            <a:ext cx="100584" cy="100584"/>
          </a:xfrm>
          <a:prstGeom prst="ellipse">
            <a:avLst/>
          </a:prstGeom>
          <a:solidFill>
            <a:srgbClr val="E5B93F"/>
          </a:solidFill>
          <a:ln/>
        </p:spPr>
      </p:sp>
      <p:sp>
        <p:nvSpPr>
          <p:cNvPr id="13" name="Shape 11"/>
          <p:cNvSpPr/>
          <p:nvPr/>
        </p:nvSpPr>
        <p:spPr>
          <a:xfrm>
            <a:off x="6757416" y="1691640"/>
            <a:ext cx="100584" cy="100584"/>
          </a:xfrm>
          <a:prstGeom prst="ellipse">
            <a:avLst/>
          </a:prstGeom>
          <a:solidFill>
            <a:srgbClr val="3FE573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6093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1938528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No LIMIT clause on UPDATE/DELETE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Use ROWNUM in a subquery instead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employees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salary = salary * 1.10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emp_id IN (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emp_id FROM employees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dept = 'Sales'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ROWNUM &lt;= 5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vs Oracle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DQL: Limiting &amp; Paging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day-to-day difference students will hit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5257800" cy="4160520"/>
          </a:xfrm>
          <a:prstGeom prst="roundRect">
            <a:avLst>
              <a:gd name="adj" fmla="val 1538"/>
            </a:avLst>
          </a:prstGeom>
          <a:solidFill>
            <a:srgbClr val="141B2E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" y="1691640"/>
            <a:ext cx="100584" cy="100584"/>
          </a:xfrm>
          <a:prstGeom prst="ellipse">
            <a:avLst/>
          </a:prstGeom>
          <a:solidFill>
            <a:srgbClr val="E5573F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" y="1691640"/>
            <a:ext cx="100584" cy="100584"/>
          </a:xfrm>
          <a:prstGeom prst="ellipse">
            <a:avLst/>
          </a:prstGeom>
          <a:solidFill>
            <a:srgbClr val="E5B93F"/>
          </a:solidFill>
          <a:ln/>
        </p:spPr>
      </p:sp>
      <p:sp>
        <p:nvSpPr>
          <p:cNvPr id="7" name="Shape 5"/>
          <p:cNvSpPr/>
          <p:nvPr/>
        </p:nvSpPr>
        <p:spPr>
          <a:xfrm>
            <a:off x="1179576" y="1691640"/>
            <a:ext cx="100584" cy="100584"/>
          </a:xfrm>
          <a:prstGeom prst="ellipse">
            <a:avLst/>
          </a:prstGeom>
          <a:solidFill>
            <a:srgbClr val="3FE573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6093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9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938528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Top 5 highest paid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emp_name, salary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salary DESC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5;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Page 2 (rows 11-20)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emp_name, salary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salary DESC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10 OFFSET 10;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257800" cy="4160520"/>
          </a:xfrm>
          <a:prstGeom prst="roundRect">
            <a:avLst>
              <a:gd name="adj" fmla="val 1538"/>
            </a:avLst>
          </a:prstGeom>
          <a:solidFill>
            <a:srgbClr val="141B2E"/>
          </a:solidFill>
          <a:ln/>
        </p:spPr>
      </p:sp>
      <p:sp>
        <p:nvSpPr>
          <p:cNvPr id="11" name="Shape 9"/>
          <p:cNvSpPr/>
          <p:nvPr/>
        </p:nvSpPr>
        <p:spPr>
          <a:xfrm>
            <a:off x="6428232" y="1691640"/>
            <a:ext cx="100584" cy="100584"/>
          </a:xfrm>
          <a:prstGeom prst="ellipse">
            <a:avLst/>
          </a:prstGeom>
          <a:solidFill>
            <a:srgbClr val="E5573F"/>
          </a:solidFill>
          <a:ln/>
        </p:spPr>
      </p:sp>
      <p:sp>
        <p:nvSpPr>
          <p:cNvPr id="12" name="Shape 10"/>
          <p:cNvSpPr/>
          <p:nvPr/>
        </p:nvSpPr>
        <p:spPr>
          <a:xfrm>
            <a:off x="6592824" y="1691640"/>
            <a:ext cx="100584" cy="100584"/>
          </a:xfrm>
          <a:prstGeom prst="ellipse">
            <a:avLst/>
          </a:prstGeom>
          <a:solidFill>
            <a:srgbClr val="E5B93F"/>
          </a:solidFill>
          <a:ln/>
        </p:spPr>
      </p:sp>
      <p:sp>
        <p:nvSpPr>
          <p:cNvPr id="13" name="Shape 11"/>
          <p:cNvSpPr/>
          <p:nvPr/>
        </p:nvSpPr>
        <p:spPr>
          <a:xfrm>
            <a:off x="6757416" y="1691640"/>
            <a:ext cx="100584" cy="100584"/>
          </a:xfrm>
          <a:prstGeom prst="ellipse">
            <a:avLst/>
          </a:prstGeom>
          <a:solidFill>
            <a:srgbClr val="3FE573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6093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1938528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Top 5 highest paid (12c+)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emp_name, salary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salary DESC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 FIRST 5 ROWS ONLY;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Page 2 (rows 11-20)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emp_name, salary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salary DESC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 10 ROWS FETCH NEXT 10 ROWS ONLY;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vs Oracle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Expressions Without a Table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requires a table for every SELECT — even when there's nothing to query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5257800" cy="4160520"/>
          </a:xfrm>
          <a:prstGeom prst="roundRect">
            <a:avLst>
              <a:gd name="adj" fmla="val 1538"/>
            </a:avLst>
          </a:prstGeom>
          <a:solidFill>
            <a:srgbClr val="141B2E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" y="1691640"/>
            <a:ext cx="100584" cy="100584"/>
          </a:xfrm>
          <a:prstGeom prst="ellipse">
            <a:avLst/>
          </a:prstGeom>
          <a:solidFill>
            <a:srgbClr val="E5573F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" y="1691640"/>
            <a:ext cx="100584" cy="100584"/>
          </a:xfrm>
          <a:prstGeom prst="ellipse">
            <a:avLst/>
          </a:prstGeom>
          <a:solidFill>
            <a:srgbClr val="E5B93F"/>
          </a:solidFill>
          <a:ln/>
        </p:spPr>
      </p:sp>
      <p:sp>
        <p:nvSpPr>
          <p:cNvPr id="7" name="Shape 5"/>
          <p:cNvSpPr/>
          <p:nvPr/>
        </p:nvSpPr>
        <p:spPr>
          <a:xfrm>
            <a:off x="1179576" y="1691640"/>
            <a:ext cx="100584" cy="100584"/>
          </a:xfrm>
          <a:prstGeom prst="ellipse">
            <a:avLst/>
          </a:prstGeom>
          <a:solidFill>
            <a:srgbClr val="3FE573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6093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9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938528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No dummy table needed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5 + 3;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NOW();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CONCAT('Hello, ', 'World');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UPPER('mysql');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257800" cy="4160520"/>
          </a:xfrm>
          <a:prstGeom prst="roundRect">
            <a:avLst>
              <a:gd name="adj" fmla="val 1538"/>
            </a:avLst>
          </a:prstGeom>
          <a:solidFill>
            <a:srgbClr val="141B2E"/>
          </a:solidFill>
          <a:ln/>
        </p:spPr>
      </p:sp>
      <p:sp>
        <p:nvSpPr>
          <p:cNvPr id="11" name="Shape 9"/>
          <p:cNvSpPr/>
          <p:nvPr/>
        </p:nvSpPr>
        <p:spPr>
          <a:xfrm>
            <a:off x="6428232" y="1691640"/>
            <a:ext cx="100584" cy="100584"/>
          </a:xfrm>
          <a:prstGeom prst="ellipse">
            <a:avLst/>
          </a:prstGeom>
          <a:solidFill>
            <a:srgbClr val="E5573F"/>
          </a:solidFill>
          <a:ln/>
        </p:spPr>
      </p:sp>
      <p:sp>
        <p:nvSpPr>
          <p:cNvPr id="12" name="Shape 10"/>
          <p:cNvSpPr/>
          <p:nvPr/>
        </p:nvSpPr>
        <p:spPr>
          <a:xfrm>
            <a:off x="6592824" y="1691640"/>
            <a:ext cx="100584" cy="100584"/>
          </a:xfrm>
          <a:prstGeom prst="ellipse">
            <a:avLst/>
          </a:prstGeom>
          <a:solidFill>
            <a:srgbClr val="E5B93F"/>
          </a:solidFill>
          <a:ln/>
        </p:spPr>
      </p:sp>
      <p:sp>
        <p:nvSpPr>
          <p:cNvPr id="13" name="Shape 11"/>
          <p:cNvSpPr/>
          <p:nvPr/>
        </p:nvSpPr>
        <p:spPr>
          <a:xfrm>
            <a:off x="6757416" y="1691640"/>
            <a:ext cx="100584" cy="100584"/>
          </a:xfrm>
          <a:prstGeom prst="ellipse">
            <a:avLst/>
          </a:prstGeom>
          <a:solidFill>
            <a:srgbClr val="3FE573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6093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1938528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Must select FROM the DUAL table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5 + 3 FROM DUAL;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SYSDATE FROM DUAL;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'Hello, ' || 'World' FROM DUAL;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UPPER('oracle') FROM DUAL;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vs Oracle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Function Differences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15568"/>
            <a:ext cx="914400" cy="45720"/>
          </a:xfrm>
          <a:prstGeom prst="rect">
            <a:avLst/>
          </a:prstGeom>
          <a:solidFill>
            <a:srgbClr val="F29111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835640" cy="4892040"/>
        </p:xfrm>
        <a:graphic>
          <a:graphicData uri="http://schemas.openxmlformats.org/drawingml/2006/table">
            <a:tbl>
              <a:tblPr/>
              <a:tblGrid>
                <a:gridCol w="2423160"/>
                <a:gridCol w="4206240"/>
                <a:gridCol w="42062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MySQL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Oracle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date/time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96A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NOW()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E2F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SYSDATE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Concatenate strings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96A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CONCAT(a, b)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E2F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|| b  or  CONCAT(a, b)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NULL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96A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IFNULL(x, val)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E2F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NVL(x, val)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96A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SUBSTRING(str, pos, len)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E2F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SUBSTR(str, pos, len)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length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96A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LENGTH(str) / CHAR_LENGTH(str)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E2F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LENGTH(str)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Format/parse a 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96A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STR_TO_DATE(str, fmt)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E2F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TO_DATE(str, fmt)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limit in query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96A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LIMIT 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E2F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ROWNUM / FETCH FIRST n ROWS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logic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96A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IF(cond, a, b)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E2F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CASE WHEN cond THEN a ELSE b END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vs Oracle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TCL: Transaction Behavior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commands are the same (COMMIT, ROLLBACK, SAVEPOINT) — the default behavior is not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548640" cy="548640"/>
          </a:xfrm>
          <a:prstGeom prst="ellipse">
            <a:avLst/>
          </a:prstGeom>
          <a:solidFill>
            <a:srgbClr val="F29111"/>
          </a:solidFill>
          <a:ln/>
        </p:spPr>
      </p:sp>
      <p:pic>
        <p:nvPicPr>
          <p:cNvPr id="6" name="Image 0" descr="/home/claude/mysql_oracle_ppt/icons/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476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27432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autocommit = 1 by default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statement (INSERT, UPDATE, DELETE) is committed immediately unless you explicitly start a transaction.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 / ROLLBACK;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C74634"/>
          </a:solidFill>
          <a:ln/>
        </p:spPr>
      </p:sp>
      <p:pic>
        <p:nvPicPr>
          <p:cNvPr id="11" name="Image 1" descr="/home/claude/mysql_oracle_ppt/icons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031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476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537960" y="27432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autocommit = OFF by default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starts implicitly with the first DML statement. Nothing is saved until you explicitly commit.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E2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...;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E2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   -- required to persist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E2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or ROLLBACK; to undo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vs Oracle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Cheat Sheet: Command Equivalents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914400" cy="45720"/>
          </a:xfrm>
          <a:prstGeom prst="rect">
            <a:avLst/>
          </a:prstGeom>
          <a:solidFill>
            <a:srgbClr val="F29111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83564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0690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MySQL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Oracle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 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96A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LIMIT 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E2F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FETCH FIRST n ROWS ONLY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Auto-increment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96A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AUTO_INCREMENT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E2F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IDENTITY / SEQUENCE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96A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NOW()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E2F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SYSDATE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 NULL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96A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IFNULL(x, y)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E2F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NVL(x, y)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Concatenate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96A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CONCAT(a, b)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E2F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|| 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Empty-table SELECT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96A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 required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E2F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FROM DUAL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Autocommit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96A0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 by default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E2F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OFF by default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vs Oracle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754880" cy="475488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645920"/>
            <a:ext cx="3840480" cy="3840480"/>
          </a:xfrm>
          <a:prstGeom prst="ellipse">
            <a:avLst/>
          </a:prstGeom>
          <a:solidFill>
            <a:srgbClr val="24316B"/>
          </a:solidFill>
          <a:ln/>
        </p:spPr>
      </p:sp>
      <p:sp>
        <p:nvSpPr>
          <p:cNvPr id="4" name="Shape 2"/>
          <p:cNvSpPr/>
          <p:nvPr/>
        </p:nvSpPr>
        <p:spPr>
          <a:xfrm>
            <a:off x="5547208" y="1463040"/>
            <a:ext cx="1097280" cy="1097280"/>
          </a:xfrm>
          <a:prstGeom prst="ellipse">
            <a:avLst/>
          </a:prstGeom>
          <a:solidFill>
            <a:srgbClr val="24316B"/>
          </a:solidFill>
          <a:ln/>
        </p:spPr>
      </p:sp>
      <p:pic>
        <p:nvPicPr>
          <p:cNvPr id="5" name="Image 0" descr="/home/claude/mysql_oracle_ppt/icons/question_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3240" y="1719072"/>
            <a:ext cx="585216" cy="585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8346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370332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the concepts stay the same across every relational database 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syntax changes.</a:t>
            </a:r>
            <a:endParaRPr lang="en-US" sz="1500" dirty="0"/>
          </a:p>
        </p:txBody>
      </p:sp>
      <p:pic>
        <p:nvPicPr>
          <p:cNvPr id="8" name="Image 1" descr="/home/claude/mysql_oracle_ppt/icons/mysql_mysq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4937760"/>
            <a:ext cx="457200" cy="457200"/>
          </a:xfrm>
          <a:prstGeom prst="rect">
            <a:avLst/>
          </a:prstGeom>
        </p:spPr>
      </p:pic>
      <p:pic>
        <p:nvPicPr>
          <p:cNvPr id="9" name="Image 2" descr="/home/claude/mysql_oracle_ppt/icons/oracle_ora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493776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023360" y="5486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•  Oracle Database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DDL: Altering &amp; Dropping Tables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columns, changing types, and removing objects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5257800" cy="4160520"/>
          </a:xfrm>
          <a:prstGeom prst="roundRect">
            <a:avLst>
              <a:gd name="adj" fmla="val 1538"/>
            </a:avLst>
          </a:prstGeom>
          <a:solidFill>
            <a:srgbClr val="141B2E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" y="1691640"/>
            <a:ext cx="100584" cy="100584"/>
          </a:xfrm>
          <a:prstGeom prst="ellipse">
            <a:avLst/>
          </a:prstGeom>
          <a:solidFill>
            <a:srgbClr val="E5573F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" y="1691640"/>
            <a:ext cx="100584" cy="100584"/>
          </a:xfrm>
          <a:prstGeom prst="ellipse">
            <a:avLst/>
          </a:prstGeom>
          <a:solidFill>
            <a:srgbClr val="E5B93F"/>
          </a:solidFill>
          <a:ln/>
        </p:spPr>
      </p:sp>
      <p:sp>
        <p:nvSpPr>
          <p:cNvPr id="7" name="Shape 5"/>
          <p:cNvSpPr/>
          <p:nvPr/>
        </p:nvSpPr>
        <p:spPr>
          <a:xfrm>
            <a:off x="1179576" y="1691640"/>
            <a:ext cx="100584" cy="100584"/>
          </a:xfrm>
          <a:prstGeom prst="ellipse">
            <a:avLst/>
          </a:prstGeom>
          <a:solidFill>
            <a:srgbClr val="3FE573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6093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9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938528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employees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 COLUMN bonus DECIMAL(8,2);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employees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MODIFY COLUMN salary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DECIMAL(12,2);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employees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RENAME COLUMN bonus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incentive;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 employees;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257800" cy="4160520"/>
          </a:xfrm>
          <a:prstGeom prst="roundRect">
            <a:avLst>
              <a:gd name="adj" fmla="val 1538"/>
            </a:avLst>
          </a:prstGeom>
          <a:solidFill>
            <a:srgbClr val="141B2E"/>
          </a:solidFill>
          <a:ln/>
        </p:spPr>
      </p:sp>
      <p:sp>
        <p:nvSpPr>
          <p:cNvPr id="11" name="Shape 9"/>
          <p:cNvSpPr/>
          <p:nvPr/>
        </p:nvSpPr>
        <p:spPr>
          <a:xfrm>
            <a:off x="6428232" y="1691640"/>
            <a:ext cx="100584" cy="100584"/>
          </a:xfrm>
          <a:prstGeom prst="ellipse">
            <a:avLst/>
          </a:prstGeom>
          <a:solidFill>
            <a:srgbClr val="E5573F"/>
          </a:solidFill>
          <a:ln/>
        </p:spPr>
      </p:sp>
      <p:sp>
        <p:nvSpPr>
          <p:cNvPr id="12" name="Shape 10"/>
          <p:cNvSpPr/>
          <p:nvPr/>
        </p:nvSpPr>
        <p:spPr>
          <a:xfrm>
            <a:off x="6592824" y="1691640"/>
            <a:ext cx="100584" cy="100584"/>
          </a:xfrm>
          <a:prstGeom prst="ellipse">
            <a:avLst/>
          </a:prstGeom>
          <a:solidFill>
            <a:srgbClr val="E5B93F"/>
          </a:solidFill>
          <a:ln/>
        </p:spPr>
      </p:sp>
      <p:sp>
        <p:nvSpPr>
          <p:cNvPr id="13" name="Shape 11"/>
          <p:cNvSpPr/>
          <p:nvPr/>
        </p:nvSpPr>
        <p:spPr>
          <a:xfrm>
            <a:off x="6757416" y="1691640"/>
            <a:ext cx="100584" cy="100584"/>
          </a:xfrm>
          <a:prstGeom prst="ellipse">
            <a:avLst/>
          </a:prstGeom>
          <a:solidFill>
            <a:srgbClr val="3FE573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6093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1938528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employees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 bonus NUMBER(8,2);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employees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MODIFY salary NUMBER(12,2);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employees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RENAME COLUMN bonus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incentive;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 employees;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Goes to recycle bin;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add PURGE to erase for good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vs Oracle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Upsert: Insert-or-Update Logic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statement to insert a new row or update an existing one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5257800" cy="4160520"/>
          </a:xfrm>
          <a:prstGeom prst="roundRect">
            <a:avLst>
              <a:gd name="adj" fmla="val 1538"/>
            </a:avLst>
          </a:prstGeom>
          <a:solidFill>
            <a:srgbClr val="141B2E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" y="1691640"/>
            <a:ext cx="100584" cy="100584"/>
          </a:xfrm>
          <a:prstGeom prst="ellipse">
            <a:avLst/>
          </a:prstGeom>
          <a:solidFill>
            <a:srgbClr val="E5573F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" y="1691640"/>
            <a:ext cx="100584" cy="100584"/>
          </a:xfrm>
          <a:prstGeom prst="ellipse">
            <a:avLst/>
          </a:prstGeom>
          <a:solidFill>
            <a:srgbClr val="E5B93F"/>
          </a:solidFill>
          <a:ln/>
        </p:spPr>
      </p:sp>
      <p:sp>
        <p:nvSpPr>
          <p:cNvPr id="7" name="Shape 5"/>
          <p:cNvSpPr/>
          <p:nvPr/>
        </p:nvSpPr>
        <p:spPr>
          <a:xfrm>
            <a:off x="1179576" y="1691640"/>
            <a:ext cx="100584" cy="100584"/>
          </a:xfrm>
          <a:prstGeom prst="ellipse">
            <a:avLst/>
          </a:prstGeom>
          <a:solidFill>
            <a:srgbClr val="3FE573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6093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9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938528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employees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(emp_id, emp_name, salary)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(101, 'Asha Rao', 60000)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DUPLICATE KEY UPDATE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salary = VALUES(salary);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Requires a UNIQUE or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PRIMARY KEY on emp_id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257800" cy="4160520"/>
          </a:xfrm>
          <a:prstGeom prst="roundRect">
            <a:avLst>
              <a:gd name="adj" fmla="val 1538"/>
            </a:avLst>
          </a:prstGeom>
          <a:solidFill>
            <a:srgbClr val="141B2E"/>
          </a:solidFill>
          <a:ln/>
        </p:spPr>
      </p:sp>
      <p:sp>
        <p:nvSpPr>
          <p:cNvPr id="11" name="Shape 9"/>
          <p:cNvSpPr/>
          <p:nvPr/>
        </p:nvSpPr>
        <p:spPr>
          <a:xfrm>
            <a:off x="6428232" y="1691640"/>
            <a:ext cx="100584" cy="100584"/>
          </a:xfrm>
          <a:prstGeom prst="ellipse">
            <a:avLst/>
          </a:prstGeom>
          <a:solidFill>
            <a:srgbClr val="E5573F"/>
          </a:solidFill>
          <a:ln/>
        </p:spPr>
      </p:sp>
      <p:sp>
        <p:nvSpPr>
          <p:cNvPr id="12" name="Shape 10"/>
          <p:cNvSpPr/>
          <p:nvPr/>
        </p:nvSpPr>
        <p:spPr>
          <a:xfrm>
            <a:off x="6592824" y="1691640"/>
            <a:ext cx="100584" cy="100584"/>
          </a:xfrm>
          <a:prstGeom prst="ellipse">
            <a:avLst/>
          </a:prstGeom>
          <a:solidFill>
            <a:srgbClr val="E5B93F"/>
          </a:solidFill>
          <a:ln/>
        </p:spPr>
      </p:sp>
      <p:sp>
        <p:nvSpPr>
          <p:cNvPr id="13" name="Shape 11"/>
          <p:cNvSpPr/>
          <p:nvPr/>
        </p:nvSpPr>
        <p:spPr>
          <a:xfrm>
            <a:off x="6757416" y="1691640"/>
            <a:ext cx="100584" cy="100584"/>
          </a:xfrm>
          <a:prstGeom prst="ellipse">
            <a:avLst/>
          </a:prstGeom>
          <a:solidFill>
            <a:srgbClr val="3FE573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6093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1938528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INTO employees 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(SELECT 101 AS emp_id,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'Asha Rao' AS emp_name,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60000 AS salary FROM DUAL) 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(e.emp_id = s.emp_id)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MATCHED THEN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SET e.salary = s.salary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NOT MATCHED THEN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(emp_id, emp_name, salary)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VALUES (s.emp_id, s.emp_name,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s.salary);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vs Oracle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Operations &amp; Hierarchical Queries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result sets and querying parent-child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5257800" cy="4160520"/>
          </a:xfrm>
          <a:prstGeom prst="roundRect">
            <a:avLst>
              <a:gd name="adj" fmla="val 1538"/>
            </a:avLst>
          </a:prstGeom>
          <a:solidFill>
            <a:srgbClr val="141B2E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" y="1691640"/>
            <a:ext cx="100584" cy="100584"/>
          </a:xfrm>
          <a:prstGeom prst="ellipse">
            <a:avLst/>
          </a:prstGeom>
          <a:solidFill>
            <a:srgbClr val="E5573F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" y="1691640"/>
            <a:ext cx="100584" cy="100584"/>
          </a:xfrm>
          <a:prstGeom prst="ellipse">
            <a:avLst/>
          </a:prstGeom>
          <a:solidFill>
            <a:srgbClr val="E5B93F"/>
          </a:solidFill>
          <a:ln/>
        </p:spPr>
      </p:sp>
      <p:sp>
        <p:nvSpPr>
          <p:cNvPr id="7" name="Shape 5"/>
          <p:cNvSpPr/>
          <p:nvPr/>
        </p:nvSpPr>
        <p:spPr>
          <a:xfrm>
            <a:off x="1179576" y="1691640"/>
            <a:ext cx="100584" cy="100584"/>
          </a:xfrm>
          <a:prstGeom prst="ellipse">
            <a:avLst/>
          </a:prstGeom>
          <a:solidFill>
            <a:srgbClr val="3FE573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6093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9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938528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Set operations (8.0.31+)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dept FROM employees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INTERSECT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dept FROM departments;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Recursive CTE (8.0+)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RECURSIVE org AS (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emp_id, manager_id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employees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manager_id IS NULL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UNION ALL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e.emp_id, e.manager_id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employees 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org o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e.manager_id = o.emp_id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org;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257800" cy="4160520"/>
          </a:xfrm>
          <a:prstGeom prst="roundRect">
            <a:avLst>
              <a:gd name="adj" fmla="val 1538"/>
            </a:avLst>
          </a:prstGeom>
          <a:solidFill>
            <a:srgbClr val="141B2E"/>
          </a:solidFill>
          <a:ln/>
        </p:spPr>
      </p:sp>
      <p:sp>
        <p:nvSpPr>
          <p:cNvPr id="11" name="Shape 9"/>
          <p:cNvSpPr/>
          <p:nvPr/>
        </p:nvSpPr>
        <p:spPr>
          <a:xfrm>
            <a:off x="6428232" y="1691640"/>
            <a:ext cx="100584" cy="100584"/>
          </a:xfrm>
          <a:prstGeom prst="ellipse">
            <a:avLst/>
          </a:prstGeom>
          <a:solidFill>
            <a:srgbClr val="E5573F"/>
          </a:solidFill>
          <a:ln/>
        </p:spPr>
      </p:sp>
      <p:sp>
        <p:nvSpPr>
          <p:cNvPr id="12" name="Shape 10"/>
          <p:cNvSpPr/>
          <p:nvPr/>
        </p:nvSpPr>
        <p:spPr>
          <a:xfrm>
            <a:off x="6592824" y="1691640"/>
            <a:ext cx="100584" cy="100584"/>
          </a:xfrm>
          <a:prstGeom prst="ellipse">
            <a:avLst/>
          </a:prstGeom>
          <a:solidFill>
            <a:srgbClr val="E5B93F"/>
          </a:solidFill>
          <a:ln/>
        </p:spPr>
      </p:sp>
      <p:sp>
        <p:nvSpPr>
          <p:cNvPr id="13" name="Shape 11"/>
          <p:cNvSpPr/>
          <p:nvPr/>
        </p:nvSpPr>
        <p:spPr>
          <a:xfrm>
            <a:off x="6757416" y="1691640"/>
            <a:ext cx="100584" cy="100584"/>
          </a:xfrm>
          <a:prstGeom prst="ellipse">
            <a:avLst/>
          </a:prstGeom>
          <a:solidFill>
            <a:srgbClr val="3FE573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6093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1938528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Set operations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dept FROM employees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INTERSECT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dept FROM departments;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MINUS: no MySQL equivalent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dept FROM employees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dept FROM departments;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Hierarchical query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emp_id, manager_id, LEVEL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WITH manager_id IS NULL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 BY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PRIOR emp_id = manager_id;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vs Oracle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2026-07-24T16:13:05Z</dcterms:created>
  <dcterms:modified xsi:type="dcterms:W3CDTF">2026-07-24T16:13:05Z</dcterms:modified>
</cp:coreProperties>
</file>