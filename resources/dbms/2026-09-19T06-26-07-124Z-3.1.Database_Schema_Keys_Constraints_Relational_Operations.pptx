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5943600" cy="5943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85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" y="83941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7132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2148840"/>
            <a:ext cx="9875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Database</a:t>
            </a:r>
            <a:endParaRPr lang="en-US" sz="50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685800" y="4434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pPr indent="0" marL="0">
              <a:buNone/>
            </a:pPr>
            <a:r>
              <a:rPr lang="en-US" sz="16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60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pPr indent="0" marL="0">
              <a:buNone/>
            </a:pPr>
            <a:r>
              <a:rPr lang="en-US" sz="16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60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</a:t>
            </a:r>
            <a:pPr indent="0" marL="0">
              <a:buNone/>
            </a:pPr>
            <a:r>
              <a:rPr lang="en-US" sz="16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60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Operations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50749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7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classroom deep-dive into how relational databases are designed, structured, and queried — with worked examples throughout.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25400" dir="5400000">
              <a:srgbClr val="9AA7B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9280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3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754880" y="194767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icons/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0943" y="2083735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560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29718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of the database — schema vs. instance, the three-schema architecture, and data independence.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5040" y="169164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25400" dir="5400000">
              <a:srgbClr val="9AA7B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09360" y="189280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3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10241280" y="194767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icons/ke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7343" y="2083735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09360" y="2560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309360" y="29718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Super, candidate, primary, foreign, composite &amp; alternate keys — how tables identify and relate to each other.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406908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25400" dir="5400000">
              <a:srgbClr val="9AA7B0">
                <a:alpha val="1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22960" y="427024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3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4754880" y="432511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2" descr="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943" y="4461175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2960" y="4937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 Constraints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2296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Domain, entity, referential and key constraints that keep data accurate and consistent.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035040" y="406908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25400" dir="5400000">
              <a:srgbClr val="9AA7B0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309360" y="427024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3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Shape 19"/>
          <p:cNvSpPr/>
          <p:nvPr/>
        </p:nvSpPr>
        <p:spPr>
          <a:xfrm>
            <a:off x="10241280" y="432511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5" name="Image 3" descr="icons/projec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7343" y="4461175"/>
            <a:ext cx="294803" cy="29480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309360" y="4937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Operations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630936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 — selection, projection, set operations, joins — the theory behind SQL.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3108960" cy="310896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685800" y="35204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3434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 that defines structure, before any data ever exists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 ·  CONCEPT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vs. Instance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has two very different things people confuse: its design (schema) and its data (instance).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21295C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icons/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241767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3500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30175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/ design — table names, columns, data types and relationships. Defined once, changes rarely.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3931920"/>
          <a:ext cx="4572000" cy="1828800"/>
        </p:xfrm>
        <a:graphic>
          <a:graphicData uri="http://schemas.openxmlformats.org/drawingml/2006/table">
            <a:tbl>
              <a:tblPr/>
              <a:tblGrid>
                <a:gridCol w="4572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STUDENT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24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C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StudentID  INT  PRIMARY KEY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24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C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       VARCHAR(50)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24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C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        INT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24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C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DeptID     INT  FOREIGN KEY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24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A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126480" y="196596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25400" dir="5400000">
              <a:srgbClr val="9AA7B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46520" y="22860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icons/tab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194" y="241767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78040" y="23500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446520" y="30175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data stored at a given moment. Changes constantly — every INSERT, UPDATE or DELETE creates a new instance.</a:t>
            </a:r>
            <a:endParaRPr lang="en-US" sz="12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3931920"/>
          <a:ext cx="4572000" cy="18288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Aisha Khan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Rohan Mehta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Nair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 · 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Three-Schema (ANSI/SPARC)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relational database is organized into three layers, each hiding the complexity of the one below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949440" cy="1051560"/>
          </a:xfrm>
          <a:prstGeom prst="roundRect">
            <a:avLst>
              <a:gd name="adj" fmla="val 6087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939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SCHEMA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441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Level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individual users/apps see — custom views tailored to each user group.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6949440" cy="1051560"/>
          </a:xfrm>
          <a:prstGeom prst="roundRect">
            <a:avLst>
              <a:gd name="adj" fmla="val 6087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3741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SCHEMA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721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Level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397764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logical structure — all tables, columns, relationships &amp; constraints.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6949440" cy="1051560"/>
          </a:xfrm>
          <a:prstGeom prst="roundRect">
            <a:avLst>
              <a:gd name="adj" fmla="val 6087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6542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SCHEMA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5001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Level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525780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is physically stored — files, indexes, storage allocation.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86200" y="3017520"/>
            <a:ext cx="274320" cy="228600"/>
          </a:xfrm>
          <a:prstGeom prst="downArrow">
            <a:avLst/>
          </a:prstGeom>
          <a:solidFill>
            <a:srgbClr val="B9CBD6"/>
          </a:solidFill>
          <a:ln/>
        </p:spPr>
      </p:sp>
      <p:sp>
        <p:nvSpPr>
          <p:cNvPr id="18" name="Shape 16"/>
          <p:cNvSpPr/>
          <p:nvPr/>
        </p:nvSpPr>
        <p:spPr>
          <a:xfrm>
            <a:off x="3886200" y="4297680"/>
            <a:ext cx="274320" cy="228600"/>
          </a:xfrm>
          <a:prstGeom prst="downArrow">
            <a:avLst/>
          </a:prstGeom>
          <a:solidFill>
            <a:srgbClr val="B9CBD6"/>
          </a:solidFill>
          <a:ln/>
        </p:spPr>
      </p:sp>
      <p:sp>
        <p:nvSpPr>
          <p:cNvPr id="19" name="Text 17"/>
          <p:cNvSpPr/>
          <p:nvPr/>
        </p:nvSpPr>
        <p:spPr>
          <a:xfrm>
            <a:off x="7818120" y="1828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Applications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818120" y="2194560"/>
            <a:ext cx="1170432" cy="502920"/>
          </a:xfrm>
          <a:prstGeom prst="roundRect">
            <a:avLst>
              <a:gd name="adj" fmla="val 10909"/>
            </a:avLst>
          </a:prstGeom>
          <a:solidFill>
            <a:srgbClr val="F4F8FB"/>
          </a:solidFill>
          <a:ln w="12700">
            <a:solidFill>
              <a:srgbClr val="C3D6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219456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View 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116568" y="2194560"/>
            <a:ext cx="1170432" cy="502920"/>
          </a:xfrm>
          <a:prstGeom prst="roundRect">
            <a:avLst>
              <a:gd name="adj" fmla="val 10909"/>
            </a:avLst>
          </a:prstGeom>
          <a:solidFill>
            <a:srgbClr val="F4F8FB"/>
          </a:solidFill>
          <a:ln w="12700">
            <a:solidFill>
              <a:srgbClr val="C3D6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16568" y="219456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View B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0415016" y="2194560"/>
            <a:ext cx="1170432" cy="502920"/>
          </a:xfrm>
          <a:prstGeom prst="roundRect">
            <a:avLst>
              <a:gd name="adj" fmla="val 10909"/>
            </a:avLst>
          </a:prstGeom>
          <a:solidFill>
            <a:srgbClr val="F4F8FB"/>
          </a:solidFill>
          <a:ln w="12700">
            <a:solidFill>
              <a:srgbClr val="C3D6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15016" y="219456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View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818120" y="3063240"/>
            <a:ext cx="3794760" cy="2834640"/>
          </a:xfrm>
          <a:prstGeom prst="roundRect">
            <a:avLst>
              <a:gd name="adj" fmla="val 2581"/>
            </a:avLst>
          </a:prstGeom>
          <a:solidFill>
            <a:srgbClr val="F4F8FB"/>
          </a:solidFill>
          <a:ln/>
        </p:spPr>
      </p:sp>
      <p:sp>
        <p:nvSpPr>
          <p:cNvPr id="27" name="Shape 25"/>
          <p:cNvSpPr/>
          <p:nvPr/>
        </p:nvSpPr>
        <p:spPr>
          <a:xfrm>
            <a:off x="8092440" y="32918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8" name="Image 0" descr="icons/lin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2168" y="3401568"/>
            <a:ext cx="237744" cy="23774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68680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Independence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8092440" y="384048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independence: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conceptual schema without breaking external views/apps.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independence: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storage/indexes without touching the conceptual schema.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3108960" cy="310896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685800" y="35204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3434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table uniquely identifies rows — and how tables connect to one another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 ·  FOUNDATIONS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 Key &amp; Candidate Key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486400" cy="146304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Aisha Khan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aisha@univ.edu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Rohan Mehta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rohan@univ.edu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Nair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priya@univ.edu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63240"/>
            <a:ext cx="5486400" cy="3108960"/>
          </a:xfrm>
          <a:prstGeom prst="roundRect">
            <a:avLst>
              <a:gd name="adj" fmla="val 2353"/>
            </a:avLst>
          </a:prstGeom>
          <a:solidFill>
            <a:srgbClr val="F4F8FB"/>
          </a:solidFill>
          <a:ln/>
        </p:spPr>
      </p:sp>
      <p:sp>
        <p:nvSpPr>
          <p:cNvPr id="6" name="Shape 3"/>
          <p:cNvSpPr/>
          <p:nvPr/>
        </p:nvSpPr>
        <p:spPr>
          <a:xfrm>
            <a:off x="822960" y="32918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icons/cub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3412541"/>
            <a:ext cx="261518" cy="261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33649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 Key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822960" y="38862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column (or combination of columns) that uniquely identifies a row. A table can have many super keys — most contain extra, unneeded columns.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822960" y="48463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{StudentID}, {StudentID, Name}, {StudentID, Email, Age}, {Email}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355080" y="1417320"/>
            <a:ext cx="5257800" cy="4754880"/>
          </a:xfrm>
          <a:prstGeom prst="roundRect">
            <a:avLst>
              <a:gd name="adj" fmla="val 1538"/>
            </a:avLst>
          </a:prstGeom>
          <a:solidFill>
            <a:srgbClr val="21295C"/>
          </a:solidFill>
          <a:ln/>
        </p:spPr>
      </p:sp>
      <p:sp>
        <p:nvSpPr>
          <p:cNvPr id="12" name="Shape 8"/>
          <p:cNvSpPr/>
          <p:nvPr/>
        </p:nvSpPr>
        <p:spPr>
          <a:xfrm>
            <a:off x="6629400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icons/ke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101" y="1766621"/>
            <a:ext cx="261518" cy="26151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69480" y="17190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Key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6629400" y="22402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super key — remove any column and it stops being unique. A table may have several candidate keys; one is chosen as the primary key.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6629400" y="32461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keys here: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FA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 {StudentID}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FA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 {Email}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629400" y="4343400"/>
            <a:ext cx="4709160" cy="0"/>
          </a:xfrm>
          <a:prstGeom prst="line">
            <a:avLst/>
          </a:prstGeom>
          <a:noFill/>
          <a:ln w="12700">
            <a:solidFill>
              <a:srgbClr val="3A4A82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629400" y="452628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candidate key: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C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{StudentID, Name}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removing Name still leaves a unique key, so it isn't minimal.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 ·  PRIMARY KEY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Key (PK)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candidate key chosen to uniquely identify every row in a table.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14600" cy="1737360"/>
          </a:xfrm>
          <a:prstGeom prst="roundRect">
            <a:avLst>
              <a:gd name="adj" fmla="val 3684"/>
            </a:avLst>
          </a:prstGeom>
          <a:solidFill>
            <a:srgbClr val="F4F8FB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67128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995" y="2265883"/>
            <a:ext cx="213970" cy="2139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7157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Uniqueness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520" y="304495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two rows share the same primary key value.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1965960"/>
            <a:ext cx="2514600" cy="1737360"/>
          </a:xfrm>
          <a:prstGeom prst="roundRect">
            <a:avLst>
              <a:gd name="adj" fmla="val 3684"/>
            </a:avLst>
          </a:prstGeom>
          <a:solidFill>
            <a:srgbClr val="F4F8FB"/>
          </a:solidFill>
          <a:ln/>
        </p:spPr>
      </p:sp>
      <p:sp>
        <p:nvSpPr>
          <p:cNvPr id="11" name="Shape 8"/>
          <p:cNvSpPr/>
          <p:nvPr/>
        </p:nvSpPr>
        <p:spPr>
          <a:xfrm>
            <a:off x="3429000" y="2167128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755" y="2265883"/>
            <a:ext cx="213970" cy="21397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27157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Null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383280" y="304495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primary key column can never be empty.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852160" y="1965960"/>
            <a:ext cx="2514600" cy="1737360"/>
          </a:xfrm>
          <a:prstGeom prst="roundRect">
            <a:avLst>
              <a:gd name="adj" fmla="val 3684"/>
            </a:avLst>
          </a:prstGeom>
          <a:solidFill>
            <a:srgbClr val="F4F8FB"/>
          </a:solidFill>
          <a:ln/>
        </p:spPr>
      </p:sp>
      <p:sp>
        <p:nvSpPr>
          <p:cNvPr id="16" name="Shape 12"/>
          <p:cNvSpPr/>
          <p:nvPr/>
        </p:nvSpPr>
        <p:spPr>
          <a:xfrm>
            <a:off x="6080760" y="2167128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515" y="2265883"/>
            <a:ext cx="213970" cy="21397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35040" y="27157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per Table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035040" y="304495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has exactly one primary key (which may span multiple columns).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8503920" y="1965960"/>
            <a:ext cx="2514600" cy="1737360"/>
          </a:xfrm>
          <a:prstGeom prst="roundRect">
            <a:avLst>
              <a:gd name="adj" fmla="val 3684"/>
            </a:avLst>
          </a:prstGeom>
          <a:solidFill>
            <a:srgbClr val="F4F8FB"/>
          </a:solidFill>
          <a:ln/>
        </p:spPr>
      </p:sp>
      <p:sp>
        <p:nvSpPr>
          <p:cNvPr id="21" name="Shape 16"/>
          <p:cNvSpPr/>
          <p:nvPr/>
        </p:nvSpPr>
        <p:spPr>
          <a:xfrm>
            <a:off x="8732520" y="2167128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3" descr="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1275" y="2265883"/>
            <a:ext cx="213970" cy="21397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686800" y="27157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Stability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686800" y="304495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value should rarely, if ever, change over time.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Example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48640" y="4343400"/>
            <a:ext cx="5486400" cy="1828800"/>
          </a:xfrm>
          <a:prstGeom prst="roundRect">
            <a:avLst>
              <a:gd name="adj" fmla="val 3000"/>
            </a:avLst>
          </a:prstGeom>
          <a:solidFill>
            <a:srgbClr val="16204A"/>
          </a:solidFill>
          <a:ln/>
        </p:spPr>
      </p:sp>
      <p:sp>
        <p:nvSpPr>
          <p:cNvPr id="27" name="Text 21"/>
          <p:cNvSpPr/>
          <p:nvPr/>
        </p:nvSpPr>
        <p:spPr>
          <a:xfrm>
            <a:off x="777240" y="448056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STUDENT (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StudentID  INT          PRIMARY KEY,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VARCHAR(50)  NOT NULL,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        INT,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DeptID     INT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35508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6355080" y="4343400"/>
            <a:ext cx="5257800" cy="1828800"/>
          </a:xfrm>
          <a:prstGeom prst="roundRect">
            <a:avLst>
              <a:gd name="adj" fmla="val 3000"/>
            </a:avLst>
          </a:prstGeom>
          <a:solidFill>
            <a:srgbClr val="F4F8FB"/>
          </a:solidFill>
          <a:ln/>
        </p:spPr>
      </p:sp>
      <p:sp>
        <p:nvSpPr>
          <p:cNvPr id="30" name="Text 24"/>
          <p:cNvSpPr/>
          <p:nvPr/>
        </p:nvSpPr>
        <p:spPr>
          <a:xfrm>
            <a:off x="6583680" y="448056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key is the row's identity. Every foreign key in a related table points back to a primary key value — making it the anchor for relationships and referential integrity (covered next).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 ·  FOREIGN KEY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Foreign Key (FK)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in one table that references the primary key of another table — the mechanism that links tables together.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04088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 (parent)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965960"/>
          <a:ext cx="4297680" cy="137160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Science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Mathematics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291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 (child — references DEPARTMENT)</a:t>
            </a:r>
            <a:endParaRPr lang="en-US" sz="11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6126480" cy="1691640"/>
        </p:xfrm>
        <a:graphic>
          <a:graphicData uri="http://schemas.openxmlformats.org/drawingml/2006/table">
            <a:tbl>
              <a:tblPr/>
              <a:tblGrid>
                <a:gridCol w="2042160"/>
                <a:gridCol w="2042160"/>
                <a:gridCol w="204216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DeptID (FK)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Aisha Khan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Rohan Mehta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Nair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Karan Singh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 rot="1200000">
            <a:off x="6309360" y="3017520"/>
            <a:ext cx="1005840" cy="457200"/>
          </a:xfrm>
          <a:prstGeom prst="rightArrow">
            <a:avLst/>
          </a:prstGeom>
          <a:solidFill>
            <a:srgbClr val="3FA7D6"/>
          </a:solidFill>
          <a:ln/>
        </p:spPr>
      </p:sp>
      <p:sp>
        <p:nvSpPr>
          <p:cNvPr id="10" name="Text 6"/>
          <p:cNvSpPr/>
          <p:nvPr/>
        </p:nvSpPr>
        <p:spPr>
          <a:xfrm>
            <a:off x="6355080" y="3429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548640" y="553212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16204A"/>
          </a:solidFill>
          <a:ln/>
        </p:spPr>
      </p:sp>
      <p:sp>
        <p:nvSpPr>
          <p:cNvPr id="12" name="Text 8"/>
          <p:cNvSpPr/>
          <p:nvPr/>
        </p:nvSpPr>
        <p:spPr>
          <a:xfrm>
            <a:off x="822960" y="553212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STUDENT ADD CONSTRAINT fk_dept FOREIGN KEY (DeptID) REFERENCES DEPARTMENT(DeptID);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 ·  COMPLETE PICTURE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Key Types at a Glance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572000"/>
        </p:xfrm>
        <a:graphic>
          <a:graphicData uri="http://schemas.openxmlformats.org/drawingml/2006/table">
            <a:tbl>
              <a:tblPr/>
              <a:tblGrid>
                <a:gridCol w="2103120"/>
                <a:gridCol w="5760720"/>
                <a:gridCol w="3200400"/>
              </a:tblGrid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(STUDENT table)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primary/candidate key made of two or more columns together.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{StudentID, CourseID} in ENROLLMENT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Alternate 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candidate key not chosen as the primary key.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— could have been PK, but StudentID was chosen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Enforces uniqueness like a PK, but allows one NULL and a table can have several.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UNIQUE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References a primary key in another (or the same) table.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DeptID → DEPARTMENT.DeptID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column set that guarantees uniqueness (not necessarily minimal).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{StudentID, Name, Age}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3108960" cy="310896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685800" y="35204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 Constraints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3434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that keep a database accurate, consistent and trustworthy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  · 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Core Integrity Constraints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are rules the DBMS enforces automatically — they stop bad data from ever entering the database.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25400" dir="5400000">
              <a:srgbClr val="9AA7B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3162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icons/filt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239" y="243961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154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Constraint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84048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in a column must come from that column's defined data type / valid set.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37560" y="196596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25400" dir="5400000">
              <a:srgbClr val="9AA7B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20540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s/ke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159" y="243961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3154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Integrity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66160" y="384048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key of a table can never be NULL and never duplicated.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196596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25400" dir="5400000">
              <a:srgbClr val="9AA7B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09460" y="228600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7" name="Image 2" descr="icons/lin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079" y="243961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3154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Referential Integrity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55080" y="384048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foreign key value must match an existing primary key value, or be NULL.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15400" y="196596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25400" dir="5400000">
              <a:srgbClr val="9AA7B0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89838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3" descr="icons/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1999" y="2439619"/>
            <a:ext cx="332842" cy="3328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98280" y="3154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Constraint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144000" y="384048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keys must remain unique across all rows in the table.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  ·  DOMAIN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Constraint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Restricts the set of valid values a column may hold — its data type, range, or an explicit list.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Example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1620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7744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ENROLLMENT (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StudentID INT,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CourseID  INT,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Grade     CHAR(1) CHECK (Grade IN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('A','B','C','D','F')),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       INT CHECK (Age &gt; 0)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35508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 vs. Invalid Values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2286000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EAF7EF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487168"/>
            <a:ext cx="457200" cy="457200"/>
          </a:xfrm>
          <a:prstGeom prst="ellipse">
            <a:avLst/>
          </a:prstGeom>
          <a:solidFill>
            <a:srgbClr val="1C8A5A"/>
          </a:solidFill>
          <a:ln/>
        </p:spPr>
      </p:sp>
      <p:pic>
        <p:nvPicPr>
          <p:cNvPr id="11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7688" y="2596896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78040" y="25786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= 'B'  →  accepted, part of the allowed set {A,B,C,D,F}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355080" y="3383280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/>
        </p:spPr>
      </p:sp>
      <p:sp>
        <p:nvSpPr>
          <p:cNvPr id="14" name="Shape 11"/>
          <p:cNvSpPr/>
          <p:nvPr/>
        </p:nvSpPr>
        <p:spPr>
          <a:xfrm>
            <a:off x="6537960" y="3584448"/>
            <a:ext cx="457200" cy="457200"/>
          </a:xfrm>
          <a:prstGeom prst="ellipse">
            <a:avLst/>
          </a:prstGeom>
          <a:solidFill>
            <a:srgbClr val="B43C3C"/>
          </a:solidFill>
          <a:ln/>
        </p:spPr>
      </p:sp>
      <p:pic>
        <p:nvPicPr>
          <p:cNvPr id="15" name="Image 1" descr="icons/ba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3694176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36758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= 'Z'  →  rejected, outside the domain of valid grades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457200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F4F8FB"/>
          </a:solidFill>
          <a:ln/>
        </p:spPr>
      </p:sp>
      <p:sp>
        <p:nvSpPr>
          <p:cNvPr id="18" name="Text 14"/>
          <p:cNvSpPr/>
          <p:nvPr/>
        </p:nvSpPr>
        <p:spPr>
          <a:xfrm>
            <a:off x="822960" y="475488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constraints combine a base data type (INT, VARCHAR, DATE...) with optional rules — CHECK, ranges, or a lookup list — so columns like Age, Grade, or Salary can never hold nonsensical data.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  ·  ENTITY INTEGRITY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Integrity Constraint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key of any table must be unique and can never be NULL — every row needs a distinct identity.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STUDENT table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5212080" cy="1554480"/>
        </p:xfrm>
        <a:graphic>
          <a:graphicData uri="http://schemas.openxmlformats.org/drawingml/2006/table">
            <a:tbl>
              <a:tblPr/>
              <a:tblGrid>
                <a:gridCol w="2606040"/>
                <a:gridCol w="260604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8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8A5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Aisha Khan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Rohan Mehta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Nair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3504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of Entity Integrity</a:t>
            </a:r>
            <a:endParaRPr lang="en-US" sz="125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2331720"/>
          <a:ext cx="5212080" cy="1234440"/>
        </p:xfrm>
        <a:graphic>
          <a:graphicData uri="http://schemas.openxmlformats.org/drawingml/2006/table">
            <a:tbl>
              <a:tblPr/>
              <a:tblGrid>
                <a:gridCol w="2606040"/>
                <a:gridCol w="26060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3C3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43C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NULL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Deepak Rao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43C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S102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Meera Iyer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035040" y="36576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B4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1: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primary key — no identity.   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B4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2: 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S102 already exists — duplicate key.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48640" y="4434840"/>
            <a:ext cx="10881360" cy="1645920"/>
          </a:xfrm>
          <a:prstGeom prst="roundRect">
            <a:avLst>
              <a:gd name="adj" fmla="val 3333"/>
            </a:avLst>
          </a:prstGeom>
          <a:solidFill>
            <a:srgbClr val="16204A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452628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2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 (StudentID, Name) VALUES (NULL, 'Deepak Rao');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2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Error: column 'StudentID' cannot be null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2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 (StudentID, Name) VALUES ('S102', 'Meera Iyer');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2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Error: duplicate key value violates unique constraint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  ·  REFERENTIAL INTEGRITY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Referential Integrity Constraint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foreign key value must either match an existing primary key value in the parent table, or be NULL.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3931920" cy="100584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Science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Mathematics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709160" y="3246120"/>
            <a:ext cx="914400" cy="365760"/>
          </a:xfrm>
          <a:prstGeom prst="rightArrow">
            <a:avLst/>
          </a:prstGeom>
          <a:solidFill>
            <a:srgbClr val="1C8A5A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(attempted insert)</a:t>
            </a:r>
            <a:endParaRPr lang="en-US" sz="115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2286000"/>
          <a:ext cx="5806440" cy="1005840"/>
        </p:xfrm>
        <a:graphic>
          <a:graphicData uri="http://schemas.openxmlformats.org/drawingml/2006/table">
            <a:tbl>
              <a:tblPr/>
              <a:tblGrid>
                <a:gridCol w="1935480"/>
                <a:gridCol w="1935480"/>
                <a:gridCol w="193548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Neha Verma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D01 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Arjun 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D09 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365760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FBEAEA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3657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D09 does not exist in DEPARTMENT → the insert for S106 is rejected. This is referential integrity at work: it blocks "orphan" rows that point nowhere.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deletes: ON DELETE options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502920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1620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2960" y="5138928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STUDENT ADD CONSTRAINT fk_dept FOREIGN KEY (DeptID)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REFERENCES DEPARTMENT(DeptID) ON DELETE CASCADE;   -- delete matching students too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alternatives: ON DELETE RESTRICT (block delete) | ON DELETE SET NULL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  ·  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 Constraints — Summary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20624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2651760"/>
                <a:gridCol w="1554480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Keyword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must belong to the column's valid data type / set.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CHECK, data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column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Integrity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 cannot be NULL or duplicated.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 column(s)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Referential Integrity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 must match an existing PK, or be NULL.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 ... REFERENCES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 column(s)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Constraint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key values must stay unique.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key column(s)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98932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4F8FB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989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four constraints are what let a DBMS reject bad inserts/updates automatically — no application code required.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3108960" cy="310896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685800" y="35204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Operations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3434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 — the mathematical theory that every SQL query compiles down 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OPERATIONS  · 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Relational Algebra?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operations that take one or two tables (relations) as input and produce a new table as output. SQL is built on top of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5856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0449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rows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9272" y="21488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3319272" y="225856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410712" y="30449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10712" y="3383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columns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9904" y="21488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089904" y="225856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∪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181344" y="30449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81344" y="3383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rows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860536" y="21488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8860536" y="225856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8951976" y="30449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Difference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51976" y="3383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in A not 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0690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17880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∩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40080" y="49651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303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in both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19272" y="40690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3319272" y="417880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3410712" y="49651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Cartesian Product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10712" y="5303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 pairings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9904" y="40690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089904" y="417880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⋈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6181344" y="49651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81344" y="5303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rows combined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860536" y="40690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8860536" y="417880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</a:t>
            </a:r>
            <a:endParaRPr lang="en-US" sz="4000" dirty="0"/>
          </a:p>
        </p:txBody>
      </p:sp>
      <p:sp>
        <p:nvSpPr>
          <p:cNvPr id="35" name="Text 33"/>
          <p:cNvSpPr/>
          <p:nvPr/>
        </p:nvSpPr>
        <p:spPr>
          <a:xfrm>
            <a:off x="8951976" y="49651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951976" y="5303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matching all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OPERATIONS  ·  UNARY OPERATORS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(σ) &amp; Projection (π)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table — STUDENT</a:t>
            </a:r>
            <a:endParaRPr lang="en-US" sz="11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1371600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  <a:gridCol w="2766060"/>
                <a:gridCol w="27660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Aisha Khan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Rohan Mehta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Nair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Karan Singh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33756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F4F8F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347472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463040" y="35387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— filters ROWS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4114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 &gt; 20 (STUDENT)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4526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only the rows that satisfy the condition — like SQL's WHERE clause.</a:t>
            </a:r>
            <a:endParaRPr lang="en-US" sz="11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5029200"/>
          <a:ext cx="4937760" cy="105156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Rohan Mehta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Karan Singh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035040" y="333756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21295C"/>
          </a:solidFill>
          <a:ln/>
        </p:spPr>
      </p:sp>
      <p:sp>
        <p:nvSpPr>
          <p:cNvPr id="13" name="Text 9"/>
          <p:cNvSpPr/>
          <p:nvPr/>
        </p:nvSpPr>
        <p:spPr>
          <a:xfrm>
            <a:off x="6263640" y="347472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A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6949440" y="35387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Projection — filters COLUMNS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309360" y="4114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FA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pPr indent="0" marL="0">
              <a:buNone/>
            </a:pPr>
            <a:r>
              <a:rPr lang="en-US" sz="1300" dirty="0">
                <a:solidFill>
                  <a:srgbClr val="3FA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Name, Age (STUDENT)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309360" y="4526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only the listed columns and removes duplicate rows — like SQL's SELECT column list.</a:t>
            </a:r>
            <a:endParaRPr lang="en-US" sz="1100" dirty="0"/>
          </a:p>
        </p:txBody>
      </p:sp>
      <p:graphicFrame>
        <p:nvGraphicFramePr>
          <p:cNvPr id="5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5029200"/>
          <a:ext cx="4937760" cy="1051560"/>
        </p:xfrm>
        <a:graphic>
          <a:graphicData uri="http://schemas.openxmlformats.org/drawingml/2006/table">
            <a:tbl>
              <a:tblPr/>
              <a:tblGrid>
                <a:gridCol w="2468880"/>
                <a:gridCol w="2468880"/>
              </a:tblGrid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Aisha Khan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A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Rohan Mehta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A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Nair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A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Karan Singh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A"/>
                    </a:solidFill>
                  </a:tcPr>
                </a:tc>
              </a:tr>
            </a:tbl>
          </a:graphicData>
        </a:graphic>
      </p:graphicFrame>
      <p:sp>
        <p:nvSpPr>
          <p:cNvPr id="18" name="Text 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OPERATIONS  ·  SET OPERATORS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Union, Intersection &amp; Set Difference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two relations that are union-compatible (same number of columns, matching data types).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CS_Students (DeptID = D01)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2651760" cy="914400"/>
        </p:xfrm>
        <a:graphic>
          <a:graphicData uri="http://schemas.openxmlformats.org/drawingml/2006/table">
            <a:tbl>
              <a:tblPr/>
              <a:tblGrid>
                <a:gridCol w="265176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Aisha Khan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Rohan Mehta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52044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Scholarship_Students</a:t>
            </a:r>
            <a:endParaRPr lang="en-US" sz="11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0440" y="2148840"/>
          <a:ext cx="2651760" cy="914400"/>
        </p:xfrm>
        <a:graphic>
          <a:graphicData uri="http://schemas.openxmlformats.org/drawingml/2006/table">
            <a:tbl>
              <a:tblPr/>
              <a:tblGrid>
                <a:gridCol w="265176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Rohan Mehta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Nair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329184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F4F8FB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" y="3474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∪ B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777240" y="39502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77240" y="42793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distinct names in either set.</a:t>
            </a:r>
            <a:endParaRPr lang="en-US" sz="1050" dirty="0"/>
          </a:p>
        </p:txBody>
      </p:sp>
      <p:graphicFrame>
        <p:nvGraphicFramePr>
          <p:cNvPr id="6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846320"/>
          <a:ext cx="3063240" cy="1188720"/>
        </p:xfrm>
        <a:graphic>
          <a:graphicData uri="http://schemas.openxmlformats.org/drawingml/2006/table">
            <a:tbl>
              <a:tblPr/>
              <a:tblGrid>
                <a:gridCol w="306324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Aisha Khan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Rohan Mehta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Nair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4297680" y="329184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F4F8FB"/>
          </a:solidFill>
          <a:ln/>
        </p:spPr>
      </p:sp>
      <p:sp>
        <p:nvSpPr>
          <p:cNvPr id="15" name="Text 10"/>
          <p:cNvSpPr/>
          <p:nvPr/>
        </p:nvSpPr>
        <p:spPr>
          <a:xfrm>
            <a:off x="4526280" y="3474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∩ B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4526280" y="39502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526280" y="42793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in both sets.</a:t>
            </a:r>
            <a:endParaRPr lang="en-US" sz="1050" dirty="0"/>
          </a:p>
        </p:txBody>
      </p:sp>
      <p:graphicFrame>
        <p:nvGraphicFramePr>
          <p:cNvPr id="8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4846320"/>
          <a:ext cx="3063240" cy="1188720"/>
        </p:xfrm>
        <a:graphic>
          <a:graphicData uri="http://schemas.openxmlformats.org/drawingml/2006/table">
            <a:tbl>
              <a:tblPr/>
              <a:tblGrid>
                <a:gridCol w="306324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Rohan Mehta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3"/>
          <p:cNvSpPr/>
          <p:nvPr/>
        </p:nvSpPr>
        <p:spPr>
          <a:xfrm>
            <a:off x="8046720" y="329184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F4F8FB"/>
          </a:solidFill>
          <a:ln/>
        </p:spPr>
      </p:sp>
      <p:sp>
        <p:nvSpPr>
          <p:cNvPr id="20" name="Text 14"/>
          <p:cNvSpPr/>
          <p:nvPr/>
        </p:nvSpPr>
        <p:spPr>
          <a:xfrm>
            <a:off x="8275320" y="3474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− B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8275320" y="39502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Difference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275320" y="42793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but not in B.</a:t>
            </a:r>
            <a:endParaRPr lang="en-US" sz="1050" dirty="0"/>
          </a:p>
        </p:txBody>
      </p:sp>
      <p:graphicFrame>
        <p:nvGraphicFramePr>
          <p:cNvPr id="10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75320" y="4846320"/>
          <a:ext cx="3063240" cy="1188720"/>
        </p:xfrm>
        <a:graphic>
          <a:graphicData uri="http://schemas.openxmlformats.org/drawingml/2006/table">
            <a:tbl>
              <a:tblPr/>
              <a:tblGrid>
                <a:gridCol w="306324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Aisha Khan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OPERATIONS  ·  COMBINING TABLES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Cartesian Product &amp; Join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03520" cy="4892040"/>
          </a:xfrm>
          <a:prstGeom prst="roundRect">
            <a:avLst>
              <a:gd name="adj" fmla="val 1495"/>
            </a:avLst>
          </a:prstGeom>
          <a:solidFill>
            <a:srgbClr val="F4F8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Cartesian Product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× DEPARTMENT pairs every row of STUDENT with every row of DEPARTMENT — no matching condition, so row counts multiply.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students × 3 departments = 12 rows (mostly meaningless pairings)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4754880" cy="2880360"/>
          </a:xfrm>
          <a:prstGeom prst="roundRect">
            <a:avLst>
              <a:gd name="adj" fmla="val 1587"/>
            </a:avLst>
          </a:prstGeom>
          <a:solidFill>
            <a:srgbClr val="16204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383280"/>
            <a:ext cx="4389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4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STUDENT, DEPARTMENT;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4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every student row combined with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4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every department row, regardless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4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of whether DeptID actually matches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46304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600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A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⋈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08660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— Natural / Equi / Theta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21488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 is a Cartesian product filtered by a matching condition — it keeps only meaningfully related rows.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46520" y="274320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Join: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auto-matches same-named columns (DeptID = DeptID)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 Join: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equality condition, e.g. S.DeptID = D.DeptID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 Join: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condition (&gt;, &lt;, ≠), not just equality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4297680"/>
          <a:ext cx="4892040" cy="1097280"/>
        </p:xfrm>
        <a:graphic>
          <a:graphicData uri="http://schemas.openxmlformats.org/drawingml/2006/table">
            <a:tbl>
              <a:tblPr/>
              <a:tblGrid>
                <a:gridCol w="2446020"/>
                <a:gridCol w="24460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Aisha Khan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Science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Rohan Mehta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Science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Nair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Mathematics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A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6446520" y="54864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⋈ DEPARTMENT   (matched on DeptID)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OPERATIONS  ·  OUTER JOINS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Outer Joins — Keeping Unmatched Rows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an inner join, outer joins preserve rows from one or both sides even when there's no match — filling gaps with NULL.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4F8FB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94560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4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OUTER JOIN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the left table, matched rows from the right (NULL if no match).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977640"/>
            <a:ext cx="2971800" cy="0"/>
          </a:xfrm>
          <a:prstGeom prst="line">
            <a:avLst/>
          </a:prstGeom>
          <a:noFill/>
          <a:ln w="12700">
            <a:solidFill>
              <a:srgbClr val="D5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1148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use: 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students, even ones with no department on file.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196596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4F8FB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2194560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2194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OUTER JOIN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0" y="288036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the right table, matched rows from the left (NULL if no match).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3977640"/>
            <a:ext cx="2971800" cy="0"/>
          </a:xfrm>
          <a:prstGeom prst="line">
            <a:avLst/>
          </a:prstGeom>
          <a:noFill/>
          <a:ln w="12700">
            <a:solidFill>
              <a:srgbClr val="D5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41148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use: 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departments, even ones with no students yet.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0" y="196596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4F8FB"/>
          </a:solidFill>
          <a:ln/>
        </p:spPr>
      </p:sp>
      <p:sp>
        <p:nvSpPr>
          <p:cNvPr id="18" name="Shape 16"/>
          <p:cNvSpPr/>
          <p:nvPr/>
        </p:nvSpPr>
        <p:spPr>
          <a:xfrm>
            <a:off x="8275320" y="2194560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2194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OUTER JOIN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21040" y="288036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both tables — matched where possible, NULL where not.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21040" y="3977640"/>
            <a:ext cx="2971800" cy="0"/>
          </a:xfrm>
          <a:prstGeom prst="line">
            <a:avLst/>
          </a:prstGeom>
          <a:noFill/>
          <a:ln w="12700">
            <a:solidFill>
              <a:srgbClr val="D5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41148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use: 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and every department, matched or not.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48640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16204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48640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S.Name, D.DeptName FROM STUDENT S LEFT JOIN DEPARTMENT D ON S.DeptID = D.DeptID;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OPERATIONS  ·  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Algebra — Summary</a:t>
            </a:r>
            <a:endParaRPr lang="en-US" sz="3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93776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4572000"/>
                <a:gridCol w="29260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Equivalent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Filters rows by a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Filters / selects columns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column 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∪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rows from two relations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Intersection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common to both relations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INTERSECT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Difference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in A not in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 / MINUS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Cartesian 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possible row pairings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A,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 rows combined on a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... 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in A related to all rows in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NOT IN / NOT EXISTS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029200" cy="5029200"/>
          </a:xfrm>
          <a:prstGeom prst="ellipse">
            <a:avLst/>
          </a:prstGeom>
          <a:solidFill>
            <a:srgbClr val="065A82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4114800" cy="4114800"/>
          </a:xfrm>
          <a:prstGeom prst="ellipse">
            <a:avLst/>
          </a:prstGeom>
          <a:solidFill>
            <a:srgbClr val="1C7293">
              <a:alpha val="4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182150"/>
          </a:solidFill>
          <a:ln/>
        </p:spPr>
      </p:sp>
      <p:sp>
        <p:nvSpPr>
          <p:cNvPr id="6" name="Shape 4"/>
          <p:cNvSpPr/>
          <p:nvPr/>
        </p:nvSpPr>
        <p:spPr>
          <a:xfrm>
            <a:off x="1668780" y="19659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2399" y="211957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834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14400" y="338328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 (structure) is separate from the instance (data); three layers isolate users from physical storage.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74720" y="16916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182150"/>
          </a:solidFill>
          <a:ln/>
        </p:spPr>
      </p:sp>
      <p:sp>
        <p:nvSpPr>
          <p:cNvPr id="11" name="Shape 8"/>
          <p:cNvSpPr/>
          <p:nvPr/>
        </p:nvSpPr>
        <p:spPr>
          <a:xfrm>
            <a:off x="4457700" y="19659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s/ke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319" y="211957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2834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703320" y="338328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 give rows identity; foreign keys link tables together through that identity.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63640" y="16916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182150"/>
          </a:solidFill>
          <a:ln/>
        </p:spPr>
      </p:sp>
      <p:sp>
        <p:nvSpPr>
          <p:cNvPr id="16" name="Shape 12"/>
          <p:cNvSpPr/>
          <p:nvPr/>
        </p:nvSpPr>
        <p:spPr>
          <a:xfrm>
            <a:off x="7246620" y="19659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0239" y="211957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6520" y="2834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 Constraints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92240" y="338328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Domain, entity, referential and key constraints keep every row valid and consistent automatically.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052560" y="16916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182150"/>
          </a:solidFill>
          <a:ln/>
        </p:spPr>
      </p:sp>
      <p:sp>
        <p:nvSpPr>
          <p:cNvPr id="21" name="Shape 16"/>
          <p:cNvSpPr/>
          <p:nvPr/>
        </p:nvSpPr>
        <p:spPr>
          <a:xfrm>
            <a:off x="10035540" y="19659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icons/projec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9159" y="2119579"/>
            <a:ext cx="332842" cy="3328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35440" y="2834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Operations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81160" y="338328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Selection, projection, set operations, and joins are the algebra that every SQL query is built from.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85800" y="6172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work through a few more examples together on the board.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Schema, Keys, Integrity Constraints &amp; Relational Operations</dc:title>
  <dc:subject>PptxGenJS Presentation</dc:subject>
  <dc:creator>Database Fundamentals</dc:creator>
  <cp:lastModifiedBy>Database Fundamentals</cp:lastModifiedBy>
  <cp:revision>1</cp:revision>
  <dcterms:created xsi:type="dcterms:W3CDTF">2026-07-09T05:01:48Z</dcterms:created>
  <dcterms:modified xsi:type="dcterms:W3CDTF">2026-07-09T05:01:48Z</dcterms:modified>
</cp:coreProperties>
</file>