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206240"/>
            <a:ext cx="5029200" cy="50292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0972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23317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and Querying in DBMS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822960" y="361188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relational databases organize data on disk, index it for fast access, and translate SQL into efficient execution plans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41248" y="4526280"/>
            <a:ext cx="2011680" cy="0"/>
          </a:xfrm>
          <a:prstGeom prst="line">
            <a:avLst/>
          </a:prstGeom>
          <a:noFill/>
          <a:ln w="25400">
            <a:solidFill>
              <a:srgbClr val="8FD9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663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in-depth technical walkthrough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halves of every database engine: how data is physically stored, and how queries find it fast.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487168" cy="19659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207568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icons/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94560"/>
            <a:ext cx="265176" cy="265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441448" y="20391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FD8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49808" y="274320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Hierarchy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49808" y="3172968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Cache, RAM, SSD &amp; disk trade-offs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91840" y="1874520"/>
            <a:ext cx="2487168" cy="19659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93008" y="207568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1" descr="icons/hd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194560"/>
            <a:ext cx="265176" cy="2651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84648" y="20391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FD8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493008" y="274320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&amp; File Organization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3493008" y="3172968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Blocks, heap, sorted &amp; hashed files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035040" y="1874520"/>
            <a:ext cx="2487168" cy="19659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36208" y="207568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2" descr="icons/memory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194560"/>
            <a:ext cx="265176" cy="26517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927848" y="20391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FD8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236208" y="274320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Management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6236208" y="3172968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pool &amp; replacement policies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8778240" y="1874520"/>
            <a:ext cx="2487168" cy="19659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979408" y="207568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3" descr="icons/tre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2194560"/>
            <a:ext cx="265176" cy="26517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671048" y="20391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FD8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8979408" y="274320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&amp; B+ Trees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8979408" y="3172968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lookups without full scans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548640" y="4096512"/>
            <a:ext cx="2487168" cy="19659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749808" y="42976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2" name="Image 4" descr="icons/hash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416552"/>
            <a:ext cx="265176" cy="26517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2441448" y="426110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FD8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749808" y="4965192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Indexing</a:t>
            </a:r>
            <a:endParaRPr lang="en-US" sz="1350" dirty="0"/>
          </a:p>
        </p:txBody>
      </p:sp>
      <p:sp>
        <p:nvSpPr>
          <p:cNvPr id="35" name="Text 28"/>
          <p:cNvSpPr/>
          <p:nvPr/>
        </p:nvSpPr>
        <p:spPr>
          <a:xfrm>
            <a:off x="749808" y="539496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vs. dynamic hashing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3291840" y="4096512"/>
            <a:ext cx="2487168" cy="19659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3493008" y="42976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8" name="Image 5" descr="icons/search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1880" y="4416552"/>
            <a:ext cx="265176" cy="265176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184648" y="426110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FD8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40" name="Text 32"/>
          <p:cNvSpPr/>
          <p:nvPr/>
        </p:nvSpPr>
        <p:spPr>
          <a:xfrm>
            <a:off x="3493008" y="4965192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</a:t>
            </a:r>
            <a:endParaRPr lang="en-US" sz="1350" dirty="0"/>
          </a:p>
        </p:txBody>
      </p:sp>
      <p:sp>
        <p:nvSpPr>
          <p:cNvPr id="41" name="Text 33"/>
          <p:cNvSpPr/>
          <p:nvPr/>
        </p:nvSpPr>
        <p:spPr>
          <a:xfrm>
            <a:off x="3493008" y="539496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→ optimize → execute</a:t>
            </a:r>
            <a:endParaRPr lang="en-US" sz="1050" dirty="0"/>
          </a:p>
        </p:txBody>
      </p:sp>
      <p:sp>
        <p:nvSpPr>
          <p:cNvPr id="42" name="Shape 34"/>
          <p:cNvSpPr/>
          <p:nvPr/>
        </p:nvSpPr>
        <p:spPr>
          <a:xfrm>
            <a:off x="6035040" y="4096512"/>
            <a:ext cx="2487168" cy="19659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6236208" y="42976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4" name="Image 6" descr="icons/cogs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4416552"/>
            <a:ext cx="265176" cy="265176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7927848" y="426110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FD8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46" name="Text 37"/>
          <p:cNvSpPr/>
          <p:nvPr/>
        </p:nvSpPr>
        <p:spPr>
          <a:xfrm>
            <a:off x="6236208" y="4965192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Optimization</a:t>
            </a:r>
            <a:endParaRPr lang="en-US" sz="1350" dirty="0"/>
          </a:p>
        </p:txBody>
      </p:sp>
      <p:sp>
        <p:nvSpPr>
          <p:cNvPr id="47" name="Text 38"/>
          <p:cNvSpPr/>
          <p:nvPr/>
        </p:nvSpPr>
        <p:spPr>
          <a:xfrm>
            <a:off x="6236208" y="539496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estimation &amp; plan selection</a:t>
            </a:r>
            <a:endParaRPr lang="en-US" sz="1050" dirty="0"/>
          </a:p>
        </p:txBody>
      </p:sp>
      <p:sp>
        <p:nvSpPr>
          <p:cNvPr id="48" name="Shape 39"/>
          <p:cNvSpPr/>
          <p:nvPr/>
        </p:nvSpPr>
        <p:spPr>
          <a:xfrm>
            <a:off x="8778240" y="4096512"/>
            <a:ext cx="2487168" cy="19659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8979408" y="42976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0" name="Image 7" descr="icons/exchange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8280" y="4416552"/>
            <a:ext cx="265176" cy="265176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10671048" y="426110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FD8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500" dirty="0"/>
          </a:p>
        </p:txBody>
      </p:sp>
      <p:sp>
        <p:nvSpPr>
          <p:cNvPr id="52" name="Text 42"/>
          <p:cNvSpPr/>
          <p:nvPr/>
        </p:nvSpPr>
        <p:spPr>
          <a:xfrm>
            <a:off x="8979408" y="4965192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Algorithms</a:t>
            </a:r>
            <a:endParaRPr lang="en-US" sz="1350" dirty="0"/>
          </a:p>
        </p:txBody>
      </p:sp>
      <p:sp>
        <p:nvSpPr>
          <p:cNvPr id="53" name="Text 43"/>
          <p:cNvSpPr/>
          <p:nvPr/>
        </p:nvSpPr>
        <p:spPr>
          <a:xfrm>
            <a:off x="8979408" y="539496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Nested-loop, sort-merge, hash join</a:t>
            </a:r>
            <a:endParaRPr lang="en-US" sz="1050" dirty="0"/>
          </a:p>
        </p:txBody>
      </p:sp>
      <p:sp>
        <p:nvSpPr>
          <p:cNvPr id="54" name="Text 44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and Querying in DBMS</a:t>
            </a:r>
            <a:endParaRPr lang="en-US" sz="1000" dirty="0"/>
          </a:p>
        </p:txBody>
      </p:sp>
      <p:sp>
        <p:nvSpPr>
          <p:cNvPr id="55" name="Text 4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STORAGE FUNDAMENTALS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Memory Hierarchy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juggle speed, cost, and volatility — fast storage is small and expensive; slow storage is large and cheap.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57400" y="1874520"/>
            <a:ext cx="2377440" cy="713232"/>
          </a:xfrm>
          <a:prstGeom prst="roundRect">
            <a:avLst>
              <a:gd name="adj" fmla="val 6410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2057400" y="194767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Registers / Cache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057400" y="22585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ns · bytes–KB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00200" y="2679192"/>
            <a:ext cx="3291840" cy="713232"/>
          </a:xfrm>
          <a:prstGeom prst="roundRect">
            <a:avLst>
              <a:gd name="adj" fmla="val 6410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1600200" y="2752344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Memory (RAM)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60020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ns · GBs · volatile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97280" y="3483864"/>
            <a:ext cx="4297680" cy="713232"/>
          </a:xfrm>
          <a:prstGeom prst="roundRect">
            <a:avLst>
              <a:gd name="adj" fmla="val 641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557016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(Flash Storage)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97280" y="386791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~10–100 µs · 100s of GB–TB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4288536"/>
            <a:ext cx="5303520" cy="713232"/>
          </a:xfrm>
          <a:prstGeom prst="roundRect">
            <a:avLst>
              <a:gd name="adj" fmla="val 6410"/>
            </a:avLst>
          </a:prstGeom>
          <a:solidFill>
            <a:srgbClr val="4FA8B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4361688"/>
            <a:ext cx="5303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Disk (HDD)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94360" y="467258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~5–10 ms · TBs · cheapest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1440" y="5093208"/>
            <a:ext cx="6309360" cy="713232"/>
          </a:xfrm>
          <a:prstGeom prst="roundRect">
            <a:avLst>
              <a:gd name="adj" fmla="val 6410"/>
            </a:avLst>
          </a:prstGeom>
          <a:solidFill>
            <a:srgbClr val="8FD9C4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" y="5166360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 / Archival Storage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1440" y="5477256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seconds+ · lowest cost/GB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783080" y="149047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· Costlier · Smaller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417320" y="5916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· Cheaper · Larger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903720" y="1920240"/>
            <a:ext cx="4754880" cy="1280160"/>
          </a:xfrm>
          <a:prstGeom prst="roundRect">
            <a:avLst>
              <a:gd name="adj" fmla="val 5000"/>
            </a:avLst>
          </a:prstGeom>
          <a:solidFill>
            <a:srgbClr val="F4F8FA"/>
          </a:solidFill>
          <a:ln/>
        </p:spPr>
      </p:sp>
      <p:sp>
        <p:nvSpPr>
          <p:cNvPr id="24" name="Shape 22"/>
          <p:cNvSpPr/>
          <p:nvPr/>
        </p:nvSpPr>
        <p:spPr>
          <a:xfrm>
            <a:off x="6903720" y="1920240"/>
            <a:ext cx="54864" cy="1280160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25" name="Text 23"/>
          <p:cNvSpPr/>
          <p:nvPr/>
        </p:nvSpPr>
        <p:spPr>
          <a:xfrm>
            <a:off x="7178040" y="202996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 vs. Non-Volatile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78040" y="237744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&amp; RAM lose contents on power loss; DBMS must persist committed data to disk (durability).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03720" y="3364992"/>
            <a:ext cx="4754880" cy="1280160"/>
          </a:xfrm>
          <a:prstGeom prst="roundRect">
            <a:avLst>
              <a:gd name="adj" fmla="val 5000"/>
            </a:avLst>
          </a:prstGeom>
          <a:solidFill>
            <a:srgbClr val="F4F8FA"/>
          </a:solidFill>
          <a:ln/>
        </p:spPr>
      </p:sp>
      <p:sp>
        <p:nvSpPr>
          <p:cNvPr id="28" name="Shape 26"/>
          <p:cNvSpPr/>
          <p:nvPr/>
        </p:nvSpPr>
        <p:spPr>
          <a:xfrm>
            <a:off x="6903720" y="3364992"/>
            <a:ext cx="54864" cy="1280160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29" name="Text 27"/>
          <p:cNvSpPr/>
          <p:nvPr/>
        </p:nvSpPr>
        <p:spPr>
          <a:xfrm>
            <a:off x="7178040" y="34747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I/O Bottleneck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178040" y="3822192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access is ~100,000x slower than RAM. Minimizing disk I/O drives almost every storage design decision.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03720" y="4809744"/>
            <a:ext cx="4754880" cy="1280160"/>
          </a:xfrm>
          <a:prstGeom prst="roundRect">
            <a:avLst>
              <a:gd name="adj" fmla="val 5000"/>
            </a:avLst>
          </a:prstGeom>
          <a:solidFill>
            <a:srgbClr val="F4F8FA"/>
          </a:solidFill>
          <a:ln/>
        </p:spPr>
      </p:sp>
      <p:sp>
        <p:nvSpPr>
          <p:cNvPr id="32" name="Shape 30"/>
          <p:cNvSpPr/>
          <p:nvPr/>
        </p:nvSpPr>
        <p:spPr>
          <a:xfrm>
            <a:off x="6903720" y="4809744"/>
            <a:ext cx="54864" cy="1280160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33" name="Text 31"/>
          <p:cNvSpPr/>
          <p:nvPr/>
        </p:nvSpPr>
        <p:spPr>
          <a:xfrm>
            <a:off x="7178040" y="491947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Blocks, Not Bytes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178040" y="5266944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read and written in fixed-size pages (4-16 KB), not individual records — the unit the buffer manager tracks.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and Querying in DBMS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STORAGE FUNDAMENTALS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Disk Storage: Blocks &amp; I/O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disk read pulls a whole block into a memory buffer — good layout means fewer blocks touched per query.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240280"/>
            <a:ext cx="3474720" cy="3474720"/>
          </a:xfrm>
          <a:prstGeom prst="ellipse">
            <a:avLst/>
          </a:prstGeom>
          <a:solidFill>
            <a:srgbClr val="F4F8FA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743200"/>
            <a:ext cx="2468880" cy="2468880"/>
          </a:xfrm>
          <a:prstGeom prst="ellipse">
            <a:avLst/>
          </a:prstGeom>
          <a:ln w="12700">
            <a:solidFill>
              <a:srgbClr val="1C7293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600200" y="3246120"/>
            <a:ext cx="1463040" cy="1463040"/>
          </a:xfrm>
          <a:prstGeom prst="ellipse">
            <a:avLst/>
          </a:prstGeom>
          <a:ln w="12700">
            <a:solidFill>
              <a:srgbClr val="1C7293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130552" y="3776472"/>
            <a:ext cx="402336" cy="40233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0" name="Shape 8"/>
          <p:cNvSpPr/>
          <p:nvPr/>
        </p:nvSpPr>
        <p:spPr>
          <a:xfrm>
            <a:off x="2331720" y="3977640"/>
            <a:ext cx="1737360" cy="0"/>
          </a:xfrm>
          <a:prstGeom prst="line">
            <a:avLst/>
          </a:prstGeom>
          <a:noFill/>
          <a:ln w="952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31720" y="3977640"/>
            <a:ext cx="1228499" cy="1228499"/>
          </a:xfrm>
          <a:prstGeom prst="line">
            <a:avLst/>
          </a:prstGeom>
          <a:noFill/>
          <a:ln w="9525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31720" y="3977640"/>
            <a:ext cx="0" cy="1737360"/>
          </a:xfrm>
          <a:prstGeom prst="line">
            <a:avLst/>
          </a:prstGeom>
          <a:noFill/>
          <a:ln w="9525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31720" y="3977640"/>
            <a:ext cx="-1228499" cy="1228499"/>
          </a:xfrm>
          <a:prstGeom prst="line">
            <a:avLst/>
          </a:prstGeom>
          <a:noFill/>
          <a:ln w="9525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31720" y="3977640"/>
            <a:ext cx="-1737360" cy="0"/>
          </a:xfrm>
          <a:prstGeom prst="line">
            <a:avLst/>
          </a:prstGeom>
          <a:noFill/>
          <a:ln w="9525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31720" y="3977640"/>
            <a:ext cx="-1228499" cy="-1228499"/>
          </a:xfrm>
          <a:prstGeom prst="line">
            <a:avLst/>
          </a:prstGeom>
          <a:noFill/>
          <a:ln w="9525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3977640"/>
            <a:ext cx="0" cy="-1737360"/>
          </a:xfrm>
          <a:prstGeom prst="line">
            <a:avLst/>
          </a:prstGeom>
          <a:noFill/>
          <a:ln w="9525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31720" y="3977640"/>
            <a:ext cx="1228499" cy="-1228499"/>
          </a:xfrm>
          <a:prstGeom prst="line">
            <a:avLst/>
          </a:prstGeom>
          <a:noFill/>
          <a:ln w="9525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21671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88920" y="2926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74520" y="42336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Spindle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57800" y="185623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Platters &amp; Tracks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257800" y="2167128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sits on rotating magnetic platters, organized into concentric tracks, each split into sectors (typically 512B-4KB each).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2953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57800" y="293522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/ Pages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257800" y="324612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DBMS groups sectors into fixed-size blocks (pages) — the atomic unit transferred between disk and memory buffers.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40325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57800" y="4014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 + Rotation + Transfer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257800" y="4325112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time = seek time (move arm) + rotational latency (spin to sector) + transfer time. Sequential access avoids repeated seeks.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92040" y="51114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57800" y="509320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Layout Matters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257800" y="5404104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related records in the same or adjacent blocks (clustering) minimizes seeks — a core goal of file organization.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and Querying in DBMS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STORAGE FUNDAMENTALS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Organization Methods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records are arranged inside files determines how fast the DBMS can insert, scan, and search them.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4F8F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74520"/>
            <a:ext cx="3566160" cy="5669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7452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(Unordered)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51560" y="2651760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65176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63624" y="2651760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63624" y="265176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75688" y="2651760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75688" y="265176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87752" y="2651760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87752" y="265176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099816" y="2651760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99816" y="265176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9808" y="3282696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" y="3163824"/>
            <a:ext cx="2999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records appended wherever space is free — fastest inserts (O(1))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9808" y="4178808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" y="4059936"/>
            <a:ext cx="2999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scan needed for search: O(n) block reads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49808" y="5074920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" y="4956048"/>
            <a:ext cx="2999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bulk loads, small tables, staging data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70832" y="187452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4F8FA"/>
          </a:solidFill>
          <a:ln/>
        </p:spPr>
      </p:sp>
      <p:sp>
        <p:nvSpPr>
          <p:cNvPr id="26" name="Shape 24"/>
          <p:cNvSpPr/>
          <p:nvPr/>
        </p:nvSpPr>
        <p:spPr>
          <a:xfrm>
            <a:off x="4370832" y="1874520"/>
            <a:ext cx="3566160" cy="5669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4370832" y="187452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(Sorted)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873752" y="2651760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73752" y="265176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85816" y="2651760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85816" y="265176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897880" y="2651760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65176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9944" y="2651760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9944" y="265176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922008" y="2651760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22008" y="265176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0" y="3282696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3163824"/>
            <a:ext cx="2999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physically stored in key order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0" y="4178808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1" name="Text 39"/>
          <p:cNvSpPr/>
          <p:nvPr/>
        </p:nvSpPr>
        <p:spPr>
          <a:xfrm>
            <a:off x="4754880" y="4059936"/>
            <a:ext cx="2999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enables O(log n) lookups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572000" y="507492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4956048"/>
            <a:ext cx="2999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Inserts/deletes are costly — may require reorganizing the file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193024" y="187452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4F8FA"/>
          </a:solidFill>
          <a:ln/>
        </p:spPr>
      </p:sp>
      <p:sp>
        <p:nvSpPr>
          <p:cNvPr id="45" name="Shape 43"/>
          <p:cNvSpPr/>
          <p:nvPr/>
        </p:nvSpPr>
        <p:spPr>
          <a:xfrm>
            <a:off x="8193024" y="1874520"/>
            <a:ext cx="3566160" cy="566928"/>
          </a:xfrm>
          <a:prstGeom prst="rect">
            <a:avLst/>
          </a:prstGeom>
          <a:solidFill>
            <a:srgbClr val="4FA8B8"/>
          </a:solidFill>
          <a:ln/>
        </p:spPr>
      </p:sp>
      <p:sp>
        <p:nvSpPr>
          <p:cNvPr id="46" name="Text 44"/>
          <p:cNvSpPr/>
          <p:nvPr/>
        </p:nvSpPr>
        <p:spPr>
          <a:xfrm>
            <a:off x="8193024" y="187452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8695944" y="2651760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4FA8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95944" y="265176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9208008" y="2651760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4FA8B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208008" y="265176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9720072" y="2651760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4FA8B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720072" y="265176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0232136" y="2651760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4FA8B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232136" y="265176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0744200" y="2651760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4FA8B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744200" y="265176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394192" y="3282696"/>
            <a:ext cx="73152" cy="73152"/>
          </a:xfrm>
          <a:prstGeom prst="ellipse">
            <a:avLst/>
          </a:prstGeom>
          <a:solidFill>
            <a:srgbClr val="4FA8B8"/>
          </a:solidFill>
          <a:ln/>
        </p:spPr>
      </p:sp>
      <p:sp>
        <p:nvSpPr>
          <p:cNvPr id="58" name="Text 56"/>
          <p:cNvSpPr/>
          <p:nvPr/>
        </p:nvSpPr>
        <p:spPr>
          <a:xfrm>
            <a:off x="8577072" y="3163824"/>
            <a:ext cx="2999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hash function maps key -&gt; bucket/block directly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8394192" y="4178808"/>
            <a:ext cx="73152" cy="73152"/>
          </a:xfrm>
          <a:prstGeom prst="ellipse">
            <a:avLst/>
          </a:prstGeom>
          <a:solidFill>
            <a:srgbClr val="4FA8B8"/>
          </a:solidFill>
          <a:ln/>
        </p:spPr>
      </p:sp>
      <p:sp>
        <p:nvSpPr>
          <p:cNvPr id="60" name="Text 58"/>
          <p:cNvSpPr/>
          <p:nvPr/>
        </p:nvSpPr>
        <p:spPr>
          <a:xfrm>
            <a:off x="8577072" y="4059936"/>
            <a:ext cx="2999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O(1) lookup, insert, and delete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8394192" y="5074920"/>
            <a:ext cx="73152" cy="73152"/>
          </a:xfrm>
          <a:prstGeom prst="ellipse">
            <a:avLst/>
          </a:prstGeom>
          <a:solidFill>
            <a:srgbClr val="4FA8B8"/>
          </a:solidFill>
          <a:ln/>
        </p:spPr>
      </p:sp>
      <p:sp>
        <p:nvSpPr>
          <p:cNvPr id="62" name="Text 60"/>
          <p:cNvSpPr/>
          <p:nvPr/>
        </p:nvSpPr>
        <p:spPr>
          <a:xfrm>
            <a:off x="8577072" y="4956048"/>
            <a:ext cx="2999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for range queries (e.g. "age BETWEEN 20 AND 30")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and Querying in DBMS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STORAGE FUNDAMENTALS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Buffer Management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buffer manager caches disk pages in memory, deciding what to keep and what to evict when space runs out.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" y="31546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hd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331927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9502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566160" y="2377440"/>
            <a:ext cx="4206240" cy="2377440"/>
          </a:xfrm>
          <a:prstGeom prst="roundRect">
            <a:avLst>
              <a:gd name="adj" fmla="val 3077"/>
            </a:avLst>
          </a:prstGeom>
          <a:solidFill>
            <a:srgbClr val="F4F8FA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66160" y="24688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Pool (RAM)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886200" y="2926080"/>
            <a:ext cx="777240" cy="621792"/>
          </a:xfrm>
          <a:prstGeom prst="roundRect">
            <a:avLst>
              <a:gd name="adj" fmla="val 7353"/>
            </a:avLst>
          </a:prstGeom>
          <a:solidFill>
            <a:srgbClr val="8FD9C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86200" y="2926080"/>
            <a:ext cx="777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P4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28032" y="2926080"/>
            <a:ext cx="777240" cy="621792"/>
          </a:xfrm>
          <a:prstGeom prst="roundRect">
            <a:avLst>
              <a:gd name="adj" fmla="val 7353"/>
            </a:avLst>
          </a:prstGeom>
          <a:solidFill>
            <a:srgbClr val="8FD9C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28032" y="2926080"/>
            <a:ext cx="777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P7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769864" y="2926080"/>
            <a:ext cx="777240" cy="621792"/>
          </a:xfrm>
          <a:prstGeom prst="roundRect">
            <a:avLst>
              <a:gd name="adj" fmla="val 7353"/>
            </a:avLst>
          </a:prstGeom>
          <a:solidFill>
            <a:srgbClr val="8FD9C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69864" y="2926080"/>
            <a:ext cx="777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886200" y="3694176"/>
            <a:ext cx="7772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86200" y="3694176"/>
            <a:ext cx="777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28032" y="3694176"/>
            <a:ext cx="777240" cy="621792"/>
          </a:xfrm>
          <a:prstGeom prst="roundRect">
            <a:avLst>
              <a:gd name="adj" fmla="val 7353"/>
            </a:avLst>
          </a:prstGeom>
          <a:solidFill>
            <a:srgbClr val="8FD9C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28032" y="3694176"/>
            <a:ext cx="777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P9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769864" y="3694176"/>
            <a:ext cx="777240" cy="621792"/>
          </a:xfrm>
          <a:prstGeom prst="roundRect">
            <a:avLst>
              <a:gd name="adj" fmla="val 7353"/>
            </a:avLst>
          </a:prstGeom>
          <a:solidFill>
            <a:srgbClr val="8FD9C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69864" y="3694176"/>
            <a:ext cx="777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749040" y="43708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frame holds one page; a pin count and dirty bit track its state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41080" y="315468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5" name="Image 1" descr="icons/chi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5672" y="3319272"/>
            <a:ext cx="402336" cy="402336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183880" y="395020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1691640" y="3520440"/>
            <a:ext cx="1828800" cy="0"/>
          </a:xfrm>
          <a:prstGeom prst="line">
            <a:avLst/>
          </a:prstGeom>
          <a:noFill/>
          <a:ln w="1905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28" name="Text 24"/>
          <p:cNvSpPr/>
          <p:nvPr/>
        </p:nvSpPr>
        <p:spPr>
          <a:xfrm>
            <a:off x="1737360" y="3246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on miss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7818120" y="3520440"/>
            <a:ext cx="640080" cy="0"/>
          </a:xfrm>
          <a:prstGeom prst="line">
            <a:avLst/>
          </a:prstGeom>
          <a:noFill/>
          <a:ln w="1905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30" name="Text 26"/>
          <p:cNvSpPr/>
          <p:nvPr/>
        </p:nvSpPr>
        <p:spPr>
          <a:xfrm>
            <a:off x="7772400" y="32461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 write page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548640" y="507492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POLICIES — which page gets evicted on a miss?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548640" y="5440680"/>
            <a:ext cx="3520440" cy="1051560"/>
          </a:xfrm>
          <a:prstGeom prst="roundRect">
            <a:avLst>
              <a:gd name="adj" fmla="val 6087"/>
            </a:avLst>
          </a:prstGeom>
          <a:solidFill>
            <a:srgbClr val="F4F8FA"/>
          </a:solidFill>
          <a:ln/>
        </p:spPr>
      </p:sp>
      <p:sp>
        <p:nvSpPr>
          <p:cNvPr id="33" name="Text 29"/>
          <p:cNvSpPr/>
          <p:nvPr/>
        </p:nvSpPr>
        <p:spPr>
          <a:xfrm>
            <a:off x="713232" y="5504688"/>
            <a:ext cx="3191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LRU</a:t>
            </a:r>
            <a:endParaRPr lang="en-US" sz="1250" dirty="0"/>
          </a:p>
        </p:txBody>
      </p:sp>
      <p:sp>
        <p:nvSpPr>
          <p:cNvPr id="34" name="Text 30"/>
          <p:cNvSpPr/>
          <p:nvPr/>
        </p:nvSpPr>
        <p:spPr>
          <a:xfrm>
            <a:off x="713232" y="5779008"/>
            <a:ext cx="3191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Evicts the Least Recently Used page — assumes recently touched pages will be reused soon.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4325112" y="5440680"/>
            <a:ext cx="3520440" cy="1051560"/>
          </a:xfrm>
          <a:prstGeom prst="roundRect">
            <a:avLst>
              <a:gd name="adj" fmla="val 6087"/>
            </a:avLst>
          </a:prstGeom>
          <a:solidFill>
            <a:srgbClr val="F4F8FA"/>
          </a:solidFill>
          <a:ln/>
        </p:spPr>
      </p:sp>
      <p:sp>
        <p:nvSpPr>
          <p:cNvPr id="36" name="Text 32"/>
          <p:cNvSpPr/>
          <p:nvPr/>
        </p:nvSpPr>
        <p:spPr>
          <a:xfrm>
            <a:off x="4489704" y="5504688"/>
            <a:ext cx="3191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MRU</a:t>
            </a:r>
            <a:endParaRPr lang="en-US" sz="1250" dirty="0"/>
          </a:p>
        </p:txBody>
      </p:sp>
      <p:sp>
        <p:nvSpPr>
          <p:cNvPr id="37" name="Text 33"/>
          <p:cNvSpPr/>
          <p:nvPr/>
        </p:nvSpPr>
        <p:spPr>
          <a:xfrm>
            <a:off x="4489704" y="5779008"/>
            <a:ext cx="3191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Evicts the Most Recently Used page — useful for repeated full scans, e.g. nested-loop joins.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8101584" y="5440680"/>
            <a:ext cx="3520440" cy="1051560"/>
          </a:xfrm>
          <a:prstGeom prst="roundRect">
            <a:avLst>
              <a:gd name="adj" fmla="val 6087"/>
            </a:avLst>
          </a:prstGeom>
          <a:solidFill>
            <a:srgbClr val="F4F8FA"/>
          </a:solidFill>
          <a:ln/>
        </p:spPr>
      </p:sp>
      <p:sp>
        <p:nvSpPr>
          <p:cNvPr id="39" name="Text 35"/>
          <p:cNvSpPr/>
          <p:nvPr/>
        </p:nvSpPr>
        <p:spPr>
          <a:xfrm>
            <a:off x="8266176" y="5504688"/>
            <a:ext cx="3191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</a:t>
            </a:r>
            <a:endParaRPr lang="en-US" sz="1250" dirty="0"/>
          </a:p>
        </p:txBody>
      </p:sp>
      <p:sp>
        <p:nvSpPr>
          <p:cNvPr id="40" name="Text 36"/>
          <p:cNvSpPr/>
          <p:nvPr/>
        </p:nvSpPr>
        <p:spPr>
          <a:xfrm>
            <a:off x="8266176" y="5779008"/>
            <a:ext cx="3191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Approximates LRU cheaply using a reference bit and a circular sweep — low overhead.</a:t>
            </a:r>
            <a:endParaRPr lang="en-US" sz="1000" dirty="0"/>
          </a:p>
        </p:txBody>
      </p:sp>
      <p:sp>
        <p:nvSpPr>
          <p:cNvPr id="41" name="Text 37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and Querying in DBMS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INDEXING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Indexing Fundamentals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index trades extra storage and write overhead for dramatically faster reads — like a book's table of contents.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4F8F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933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 INDEX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WHERE id = 3417  -&gt;  scan all N blocks (linear search)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O(n) block reads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172200" y="18745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E8F1F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9933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B+ TREE INDEX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2286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WHERE id = 3417  -&gt;  traverse index levels directly to the record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27432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7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O(log n) block reads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" y="36118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INDEXES ARE CLASSIFIED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50208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4F8F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059936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vs. Secondary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370832"/>
            <a:ext cx="4983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index is built on the search key that also determines the file's physical sort order. Secondary indexes exist for any other column.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53912" y="3950208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4F8FA"/>
          </a:solidFill>
          <a:ln/>
        </p:spPr>
      </p:sp>
      <p:sp>
        <p:nvSpPr>
          <p:cNvPr id="19" name="Text 17"/>
          <p:cNvSpPr/>
          <p:nvPr/>
        </p:nvSpPr>
        <p:spPr>
          <a:xfrm>
            <a:off x="6336792" y="4059936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vs. Non-Clustering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36792" y="4370832"/>
            <a:ext cx="4983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index: table rows are physically ordered to match the index. Non-clustering: index entries point to rows scattered anywhere.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5385816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4F8F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49554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vs. Sparse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5806440"/>
            <a:ext cx="4983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Dense: one index entry per record. Sparse: one entry per block — smaller, but requires a sequential file to work.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53912" y="5385816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4F8FA"/>
          </a:solidFill>
          <a:ln/>
        </p:spPr>
      </p:sp>
      <p:sp>
        <p:nvSpPr>
          <p:cNvPr id="25" name="Text 23"/>
          <p:cNvSpPr/>
          <p:nvPr/>
        </p:nvSpPr>
        <p:spPr>
          <a:xfrm>
            <a:off x="6336792" y="549554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Single-Level vs. Multi-Level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36792" y="5806440"/>
            <a:ext cx="4983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Single-level indexes are still linear to search; multi-level (tree) indexes add layers so search time grows logarithmically.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and Querying in DBMS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INDEXING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Dive: The B+ Tree Index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industry-standard index structure — balanced, disk-friendly, and efficient for both equality and range queries.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66360" y="196596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5166360" y="1965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| 60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0" y="278892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2788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| 20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2423160"/>
            <a:ext cx="-2560320" cy="365760"/>
          </a:xfrm>
          <a:prstGeom prst="line">
            <a:avLst/>
          </a:prstGeom>
          <a:noFill/>
          <a:ln w="12700">
            <a:solidFill>
              <a:srgbClr val="5C6B7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278892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2788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| 50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2423160"/>
            <a:ext cx="-91440" cy="365760"/>
          </a:xfrm>
          <a:prstGeom prst="line">
            <a:avLst/>
          </a:prstGeom>
          <a:noFill/>
          <a:ln w="12700">
            <a:solidFill>
              <a:srgbClr val="5C6B7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278892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0" y="2788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 | 80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2423160"/>
            <a:ext cx="2377440" cy="365760"/>
          </a:xfrm>
          <a:prstGeom prst="line">
            <a:avLst/>
          </a:prstGeom>
          <a:noFill/>
          <a:ln w="12700">
            <a:solidFill>
              <a:srgbClr val="5C6B7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9164" y="3703320"/>
            <a:ext cx="1170432" cy="566928"/>
          </a:xfrm>
          <a:prstGeom prst="roundRect">
            <a:avLst>
              <a:gd name="adj" fmla="val 6452"/>
            </a:avLst>
          </a:prstGeom>
          <a:solidFill>
            <a:srgbClr val="8FD9C4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9164" y="3703320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5,8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69164" y="4087368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1339596" y="3986784"/>
            <a:ext cx="164592" cy="0"/>
          </a:xfrm>
          <a:prstGeom prst="line">
            <a:avLst/>
          </a:prstGeom>
          <a:noFill/>
          <a:ln w="1587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520440" y="3246120"/>
            <a:ext cx="-2766060" cy="457200"/>
          </a:xfrm>
          <a:prstGeom prst="line">
            <a:avLst/>
          </a:prstGeom>
          <a:noFill/>
          <a:ln w="9525">
            <a:solidFill>
              <a:srgbClr val="5C6B7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04188" y="3703320"/>
            <a:ext cx="1170432" cy="566928"/>
          </a:xfrm>
          <a:prstGeom prst="roundRect">
            <a:avLst>
              <a:gd name="adj" fmla="val 6452"/>
            </a:avLst>
          </a:prstGeom>
          <a:solidFill>
            <a:srgbClr val="8FD9C4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04188" y="3703320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10,15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504188" y="4087368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2674620" y="3986784"/>
            <a:ext cx="164592" cy="0"/>
          </a:xfrm>
          <a:prstGeom prst="line">
            <a:avLst/>
          </a:prstGeom>
          <a:noFill/>
          <a:ln w="1587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520440" y="3246120"/>
            <a:ext cx="-1431036" cy="457200"/>
          </a:xfrm>
          <a:prstGeom prst="line">
            <a:avLst/>
          </a:prstGeom>
          <a:noFill/>
          <a:ln w="9525">
            <a:solidFill>
              <a:srgbClr val="5C6B7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39212" y="3703320"/>
            <a:ext cx="1170432" cy="566928"/>
          </a:xfrm>
          <a:prstGeom prst="roundRect">
            <a:avLst>
              <a:gd name="adj" fmla="val 6452"/>
            </a:avLst>
          </a:prstGeom>
          <a:solidFill>
            <a:srgbClr val="8FD9C4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9212" y="3703320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20,25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839212" y="4087368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4009644" y="3986784"/>
            <a:ext cx="164592" cy="0"/>
          </a:xfrm>
          <a:prstGeom prst="line">
            <a:avLst/>
          </a:prstGeom>
          <a:noFill/>
          <a:ln w="1587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520440" y="3246120"/>
            <a:ext cx="-96012" cy="457200"/>
          </a:xfrm>
          <a:prstGeom prst="line">
            <a:avLst/>
          </a:prstGeom>
          <a:noFill/>
          <a:ln w="9525">
            <a:solidFill>
              <a:srgbClr val="5C6B7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74236" y="3703320"/>
            <a:ext cx="1170432" cy="566928"/>
          </a:xfrm>
          <a:prstGeom prst="roundRect">
            <a:avLst>
              <a:gd name="adj" fmla="val 6452"/>
            </a:avLst>
          </a:prstGeom>
          <a:solidFill>
            <a:srgbClr val="8FD9C4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74236" y="3703320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30,35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174236" y="4087368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5344668" y="3986784"/>
            <a:ext cx="164592" cy="0"/>
          </a:xfrm>
          <a:prstGeom prst="line">
            <a:avLst/>
          </a:prstGeom>
          <a:noFill/>
          <a:ln w="1587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989320" y="3246120"/>
            <a:ext cx="-1229868" cy="457200"/>
          </a:xfrm>
          <a:prstGeom prst="line">
            <a:avLst/>
          </a:prstGeom>
          <a:noFill/>
          <a:ln w="9525">
            <a:solidFill>
              <a:srgbClr val="5C6B7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09260" y="3703320"/>
            <a:ext cx="1170432" cy="566928"/>
          </a:xfrm>
          <a:prstGeom prst="roundRect">
            <a:avLst>
              <a:gd name="adj" fmla="val 6452"/>
            </a:avLst>
          </a:prstGeom>
          <a:solidFill>
            <a:srgbClr val="8FD9C4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09260" y="3703320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40,45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509260" y="4087368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6679692" y="3986784"/>
            <a:ext cx="164592" cy="0"/>
          </a:xfrm>
          <a:prstGeom prst="line">
            <a:avLst/>
          </a:prstGeom>
          <a:noFill/>
          <a:ln w="1587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989320" y="3246120"/>
            <a:ext cx="105156" cy="457200"/>
          </a:xfrm>
          <a:prstGeom prst="line">
            <a:avLst/>
          </a:prstGeom>
          <a:noFill/>
          <a:ln w="9525">
            <a:solidFill>
              <a:srgbClr val="5C6B7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44284" y="3703320"/>
            <a:ext cx="1170432" cy="566928"/>
          </a:xfrm>
          <a:prstGeom prst="roundRect">
            <a:avLst>
              <a:gd name="adj" fmla="val 6452"/>
            </a:avLst>
          </a:prstGeom>
          <a:solidFill>
            <a:srgbClr val="8FD9C4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44284" y="3703320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50,55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844284" y="4087368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8014716" y="3986784"/>
            <a:ext cx="164592" cy="0"/>
          </a:xfrm>
          <a:prstGeom prst="line">
            <a:avLst/>
          </a:prstGeom>
          <a:noFill/>
          <a:ln w="1587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5989320" y="3246120"/>
            <a:ext cx="1440180" cy="457200"/>
          </a:xfrm>
          <a:prstGeom prst="line">
            <a:avLst/>
          </a:prstGeom>
          <a:noFill/>
          <a:ln w="9525">
            <a:solidFill>
              <a:srgbClr val="5C6B7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179308" y="3703320"/>
            <a:ext cx="1170432" cy="566928"/>
          </a:xfrm>
          <a:prstGeom prst="roundRect">
            <a:avLst>
              <a:gd name="adj" fmla="val 6452"/>
            </a:avLst>
          </a:prstGeom>
          <a:solidFill>
            <a:srgbClr val="8FD9C4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79308" y="3703320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60,65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179308" y="4087368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9349740" y="3986784"/>
            <a:ext cx="164592" cy="0"/>
          </a:xfrm>
          <a:prstGeom prst="line">
            <a:avLst/>
          </a:prstGeom>
          <a:noFill/>
          <a:ln w="1587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8458200" y="3246120"/>
            <a:ext cx="306324" cy="457200"/>
          </a:xfrm>
          <a:prstGeom prst="line">
            <a:avLst/>
          </a:prstGeom>
          <a:noFill/>
          <a:ln w="9525">
            <a:solidFill>
              <a:srgbClr val="5C6B7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514332" y="3703320"/>
            <a:ext cx="1170432" cy="566928"/>
          </a:xfrm>
          <a:prstGeom prst="roundRect">
            <a:avLst>
              <a:gd name="adj" fmla="val 6452"/>
            </a:avLst>
          </a:prstGeom>
          <a:solidFill>
            <a:srgbClr val="8FD9C4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514332" y="3703320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70,75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9514332" y="4087368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10684764" y="3986784"/>
            <a:ext cx="164592" cy="0"/>
          </a:xfrm>
          <a:prstGeom prst="line">
            <a:avLst/>
          </a:prstGeom>
          <a:noFill/>
          <a:ln w="1587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8458200" y="3246120"/>
            <a:ext cx="1641348" cy="457200"/>
          </a:xfrm>
          <a:prstGeom prst="line">
            <a:avLst/>
          </a:prstGeom>
          <a:noFill/>
          <a:ln w="9525">
            <a:solidFill>
              <a:srgbClr val="5C6B7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849356" y="3703320"/>
            <a:ext cx="1170432" cy="566928"/>
          </a:xfrm>
          <a:prstGeom prst="roundRect">
            <a:avLst>
              <a:gd name="adj" fmla="val 6452"/>
            </a:avLst>
          </a:prstGeom>
          <a:solidFill>
            <a:srgbClr val="8FD9C4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849356" y="3703320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80,90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10849356" y="4087368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8458200" y="3246120"/>
            <a:ext cx="2976372" cy="457200"/>
          </a:xfrm>
          <a:prstGeom prst="line">
            <a:avLst/>
          </a:prstGeom>
          <a:noFill/>
          <a:ln w="9525">
            <a:solidFill>
              <a:srgbClr val="5C6B7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69164" y="4379976"/>
            <a:ext cx="11850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nodes are linked left-to-right — enabling fast, sequential range scans without revisiting the tree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48640" y="47091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4F8FA"/>
          </a:solidFill>
          <a:ln/>
        </p:spPr>
      </p:sp>
      <p:sp>
        <p:nvSpPr>
          <p:cNvPr id="63" name="Text 61"/>
          <p:cNvSpPr/>
          <p:nvPr/>
        </p:nvSpPr>
        <p:spPr>
          <a:xfrm>
            <a:off x="731520" y="4828032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731520" y="5138928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log_f(n) — with fanout f in the 100s, a billion rows need only 3-4 levels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4416552" y="47091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4F8FA"/>
          </a:solidFill>
          <a:ln/>
        </p:spPr>
      </p:sp>
      <p:sp>
        <p:nvSpPr>
          <p:cNvPr id="66" name="Text 64"/>
          <p:cNvSpPr/>
          <p:nvPr/>
        </p:nvSpPr>
        <p:spPr>
          <a:xfrm>
            <a:off x="4599432" y="4828032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4599432" y="5138928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key at each level, follow the matching pointer down to a leaf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8284464" y="47091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4F8FA"/>
          </a:solidFill>
          <a:ln/>
        </p:spPr>
      </p:sp>
      <p:sp>
        <p:nvSpPr>
          <p:cNvPr id="69" name="Text 67"/>
          <p:cNvSpPr/>
          <p:nvPr/>
        </p:nvSpPr>
        <p:spPr>
          <a:xfrm>
            <a:off x="8467344" y="4828032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/ Delete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8467344" y="5138928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split or merge nodes to keep the tree balanced and &gt;= half-full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and Querying in DBMS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INDEXING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 Indexing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hash function maps each key straight to a bucket — ideal for equality lookups, but blind to ordering.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F4F8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031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482-A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94560" y="2354580"/>
            <a:ext cx="1371600" cy="0"/>
          </a:xfrm>
          <a:prstGeom prst="line">
            <a:avLst/>
          </a:prstGeom>
          <a:noFill/>
          <a:ln w="1270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22960" y="288036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F4F8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8803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917-C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94560" y="3131820"/>
            <a:ext cx="1371600" cy="0"/>
          </a:xfrm>
          <a:prstGeom prst="line">
            <a:avLst/>
          </a:prstGeom>
          <a:noFill/>
          <a:ln w="1270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22960" y="365760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F4F8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576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205-B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94560" y="3909060"/>
            <a:ext cx="1371600" cy="0"/>
          </a:xfrm>
          <a:prstGeom prst="line">
            <a:avLst/>
          </a:prstGeom>
          <a:noFill/>
          <a:ln w="1270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566160" y="233172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3566160" y="2331720"/>
            <a:ext cx="1554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h(key)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 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120640" y="3040380"/>
            <a:ext cx="1005840" cy="-685800"/>
          </a:xfrm>
          <a:prstGeom prst="line">
            <a:avLst/>
          </a:prstGeom>
          <a:noFill/>
          <a:ln w="1270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26480" y="2103120"/>
            <a:ext cx="1737360" cy="502920"/>
          </a:xfrm>
          <a:prstGeom prst="roundRect">
            <a:avLst>
              <a:gd name="adj" fmla="val 9091"/>
            </a:avLst>
          </a:prstGeom>
          <a:solidFill>
            <a:srgbClr val="8FD9C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2103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0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120640" y="3040380"/>
            <a:ext cx="1005840" cy="91440"/>
          </a:xfrm>
          <a:prstGeom prst="line">
            <a:avLst/>
          </a:prstGeom>
          <a:noFill/>
          <a:ln w="1270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126480" y="2880360"/>
            <a:ext cx="1737360" cy="502920"/>
          </a:xfrm>
          <a:prstGeom prst="roundRect">
            <a:avLst>
              <a:gd name="adj" fmla="val 9091"/>
            </a:avLst>
          </a:prstGeom>
          <a:solidFill>
            <a:srgbClr val="8FD9C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28803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1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120640" y="3040380"/>
            <a:ext cx="1005840" cy="868680"/>
          </a:xfrm>
          <a:prstGeom prst="line">
            <a:avLst/>
          </a:prstGeom>
          <a:noFill/>
          <a:ln w="1270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126480" y="3657600"/>
            <a:ext cx="1737360" cy="502920"/>
          </a:xfrm>
          <a:prstGeom prst="roundRect">
            <a:avLst>
              <a:gd name="adj" fmla="val 9091"/>
            </a:avLst>
          </a:prstGeom>
          <a:solidFill>
            <a:srgbClr val="8FD9C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36576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2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229600" y="196596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4F8FA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0" y="20848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HASHING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12480" y="2395728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number of buckets set at creation. Simple, but performance degrades as the table grows (overflow chains) or shrinks (wasted space).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29600" y="379476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E8F1F5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0" y="39136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(EXTENDIBLE) HASHING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12480" y="4224528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 split or merge on demand using a directory of pointers, growing and shrinking gracefully as data volume changes.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3931920"/>
            <a:ext cx="7315200" cy="1508760"/>
          </a:xfrm>
          <a:prstGeom prst="roundRect">
            <a:avLst>
              <a:gd name="adj" fmla="val 4848"/>
            </a:avLst>
          </a:prstGeom>
          <a:solidFill>
            <a:srgbClr val="F4F8FA"/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" y="3931920"/>
            <a:ext cx="54864" cy="1508760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" y="406908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Hash Trade-Off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68680" y="4407408"/>
            <a:ext cx="6766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indexes give average O(1) equality lookups (WHERE id = 42) — but similar keys hash to unrelated buckets, so they cannot support range queries or ORDER BY efficiently. B+ trees remain the default; hash indexes are a targeted optimization for pure equality workloads.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and Querying in DBMS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QUERYING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Query Processing Pipeline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declarative SQL statement passes through several stages before a single row is ever touched.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37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 FROM employees WHERE dept = 'R&amp;D'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2542032" cy="2834640"/>
          </a:xfrm>
          <a:prstGeom prst="roundRect">
            <a:avLst>
              <a:gd name="adj" fmla="val 2878"/>
            </a:avLst>
          </a:prstGeom>
          <a:solidFill>
            <a:srgbClr val="F4F8FA"/>
          </a:solidFill>
          <a:ln/>
        </p:spPr>
      </p:sp>
      <p:sp>
        <p:nvSpPr>
          <p:cNvPr id="9" name="Shape 7"/>
          <p:cNvSpPr/>
          <p:nvPr/>
        </p:nvSpPr>
        <p:spPr>
          <a:xfrm>
            <a:off x="1499616" y="2770632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0" descr="icons/clipboa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064" y="2926080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3520440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48640" y="374904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31520" y="4160520"/>
            <a:ext cx="21762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SQL syntax &amp; builds a parse tree; validates tables/columns exist (semantic check).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118104" y="3931920"/>
            <a:ext cx="16459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310128" y="2514600"/>
            <a:ext cx="2542032" cy="2834640"/>
          </a:xfrm>
          <a:prstGeom prst="roundRect">
            <a:avLst>
              <a:gd name="adj" fmla="val 2878"/>
            </a:avLst>
          </a:prstGeom>
          <a:solidFill>
            <a:srgbClr val="F4F8FA"/>
          </a:solidFill>
          <a:ln/>
        </p:spPr>
      </p:sp>
      <p:sp>
        <p:nvSpPr>
          <p:cNvPr id="16" name="Shape 13"/>
          <p:cNvSpPr/>
          <p:nvPr/>
        </p:nvSpPr>
        <p:spPr>
          <a:xfrm>
            <a:off x="4261104" y="2770632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1" descr="icons/exchang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2926080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10128" y="3520440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310128" y="374904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Translator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3493008" y="4160520"/>
            <a:ext cx="21762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the parse tree into an initial relational-algebra expression tree.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879592" y="3931920"/>
            <a:ext cx="16459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6071616" y="2514600"/>
            <a:ext cx="2542032" cy="2834640"/>
          </a:xfrm>
          <a:prstGeom prst="roundRect">
            <a:avLst>
              <a:gd name="adj" fmla="val 2878"/>
            </a:avLst>
          </a:prstGeom>
          <a:solidFill>
            <a:srgbClr val="F4F8FA"/>
          </a:solidFill>
          <a:ln/>
        </p:spPr>
      </p:sp>
      <p:sp>
        <p:nvSpPr>
          <p:cNvPr id="23" name="Shape 19"/>
          <p:cNvSpPr/>
          <p:nvPr/>
        </p:nvSpPr>
        <p:spPr>
          <a:xfrm>
            <a:off x="7022592" y="2770632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2" descr="icons/cog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926080"/>
            <a:ext cx="329184" cy="32918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071616" y="3520440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6071616" y="374904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6254496" y="4160520"/>
            <a:ext cx="21762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equivalent plans, estimates costs, and picks the cheapest execution strategy.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8641080" y="3931920"/>
            <a:ext cx="16459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9" name="Shape 24"/>
          <p:cNvSpPr/>
          <p:nvPr/>
        </p:nvSpPr>
        <p:spPr>
          <a:xfrm>
            <a:off x="8833104" y="2514600"/>
            <a:ext cx="2542032" cy="2834640"/>
          </a:xfrm>
          <a:prstGeom prst="roundRect">
            <a:avLst>
              <a:gd name="adj" fmla="val 2878"/>
            </a:avLst>
          </a:prstGeom>
          <a:solidFill>
            <a:srgbClr val="F4F8FA"/>
          </a:solidFill>
          <a:ln/>
        </p:spPr>
      </p:sp>
      <p:sp>
        <p:nvSpPr>
          <p:cNvPr id="30" name="Shape 25"/>
          <p:cNvSpPr/>
          <p:nvPr/>
        </p:nvSpPr>
        <p:spPr>
          <a:xfrm>
            <a:off x="9784080" y="2770632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1" name="Image 3" descr="icons/bol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9528" y="2926080"/>
            <a:ext cx="329184" cy="32918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8833104" y="3520440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8833104" y="374904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Engine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9015984" y="4160520"/>
            <a:ext cx="21762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chosen plan's operators (scan, filter, join...) and streams back rows.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and Querying in DBMS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QUERYING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Optimization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optimizer is a cost estimator: it compares candidate plans without ever running them.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20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1892808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Equivalent Plans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78992" y="221284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 rewrite rules (e.g. push selections below joins) produce many logically-equivalent expression trees.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1272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8992" y="30998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Cost per Plan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78992" y="3419856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table statistics — row counts, column selectivity, index availability — to estimate disk I/Os and CPU work.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334256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3342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78992" y="4306824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Cheapest Plan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78992" y="4626864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lowest estimated-cost plan is compiled into an executable plan tree of physical operators.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5532120"/>
            <a:ext cx="5394960" cy="685800"/>
          </a:xfrm>
          <a:prstGeom prst="roundRect">
            <a:avLst>
              <a:gd name="adj" fmla="val 9333"/>
            </a:avLst>
          </a:prstGeom>
          <a:solidFill>
            <a:srgbClr val="E8F1F5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53212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Heuristic: push SELECT and PROJECT operations as early as possible — filter rows before joining, not after.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55080" y="187452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2011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COST MODEL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2331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 ≈  (Disk I/Os × I/O time)  +  (CPU cycles × CPU time)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0" y="283464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9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disk I/O dominates, plans are compared mainly by estimated block reads — the number of pages fetched from disk.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55080" y="3794760"/>
            <a:ext cx="5303520" cy="2423160"/>
          </a:xfrm>
          <a:prstGeom prst="roundRect">
            <a:avLst>
              <a:gd name="adj" fmla="val 3019"/>
            </a:avLst>
          </a:prstGeom>
          <a:solidFill>
            <a:srgbClr val="F4F8FA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39319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SELECTIVITY DRIVES THE DECISION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42245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Selectivity = fraction of rows a condition is expected to match.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0" y="4663440"/>
            <a:ext cx="4846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93408" y="466344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 = 'R&amp;D'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12480" y="466344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~2% of rows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738360" y="466344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index -&gt; fast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583680" y="5321808"/>
            <a:ext cx="4846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93408" y="532180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is_active = true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12480" y="532180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~85% of rows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38360" y="5321808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scan may be cheaper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583680" y="602589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Optimizers keep histograms and index statistics to estimate this before running anything.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and Querying in DBMS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QUERYING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Algorithms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two tables is usually the costliest step — the optimizer picks the physical algorithm based on size, sort order, and indexes.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4F8F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74520"/>
            <a:ext cx="352044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745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Nested-Loop Join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53288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O(M x N)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49808" y="3017520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row in the outer table, scan the inner table for matches.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9808" y="4069080"/>
            <a:ext cx="3118104" cy="0"/>
          </a:xfrm>
          <a:prstGeom prst="line">
            <a:avLst/>
          </a:prstGeom>
          <a:noFill/>
          <a:ln w="9525">
            <a:solidFill>
              <a:srgbClr val="D8E2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4178808"/>
            <a:ext cx="31181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when: one table is tiny, or an index exists on the join key (index nested-loop).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25112" y="187452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4F8FA"/>
          </a:solidFill>
          <a:ln/>
        </p:spPr>
      </p:sp>
      <p:sp>
        <p:nvSpPr>
          <p:cNvPr id="14" name="Shape 12"/>
          <p:cNvSpPr/>
          <p:nvPr/>
        </p:nvSpPr>
        <p:spPr>
          <a:xfrm>
            <a:off x="4325112" y="1874520"/>
            <a:ext cx="352044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325112" y="18745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Sort-Merge Join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325112" y="253288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O(M log M + N log N)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26280" y="3017520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both tables on the join key, then merge them in a single synchronized pass.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26280" y="4069080"/>
            <a:ext cx="3118104" cy="0"/>
          </a:xfrm>
          <a:prstGeom prst="line">
            <a:avLst/>
          </a:prstGeom>
          <a:noFill/>
          <a:ln w="9525">
            <a:solidFill>
              <a:srgbClr val="D8E2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4178808"/>
            <a:ext cx="31181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when: inputs are already sorted, or the result must be delivered in sorted order.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01584" y="187452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4F8FA"/>
          </a:solidFill>
          <a:ln/>
        </p:spPr>
      </p:sp>
      <p:sp>
        <p:nvSpPr>
          <p:cNvPr id="21" name="Shape 19"/>
          <p:cNvSpPr/>
          <p:nvPr/>
        </p:nvSpPr>
        <p:spPr>
          <a:xfrm>
            <a:off x="8101584" y="1874520"/>
            <a:ext cx="3520440" cy="548640"/>
          </a:xfrm>
          <a:prstGeom prst="rect">
            <a:avLst/>
          </a:prstGeom>
          <a:solidFill>
            <a:srgbClr val="4FA8B8"/>
          </a:solidFill>
          <a:ln/>
        </p:spPr>
      </p:sp>
      <p:sp>
        <p:nvSpPr>
          <p:cNvPr id="22" name="Text 20"/>
          <p:cNvSpPr/>
          <p:nvPr/>
        </p:nvSpPr>
        <p:spPr>
          <a:xfrm>
            <a:off x="8101584" y="18745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Join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101584" y="253288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FA8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O(M + N)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302752" y="3017520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in-memory hash table on the smaller table, then probe it while scanning the larger one.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302752" y="4069080"/>
            <a:ext cx="3118104" cy="0"/>
          </a:xfrm>
          <a:prstGeom prst="line">
            <a:avLst/>
          </a:prstGeom>
          <a:noFill/>
          <a:ln w="9525">
            <a:solidFill>
              <a:srgbClr val="D8E2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02752" y="4178808"/>
            <a:ext cx="31181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when: no useful sort/index exists and an equality join key is used; usually fastest for large, unsorted tables.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and Querying in DBMS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QUERYING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End-to-End: From SQL to Rows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one query through storage and query-processing shows how every earlier concept works together.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786384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37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e.name, d.dept_name FROM employees e JOIN departments d ON e.dept_id = d.id WHERE e.salary &gt; 90000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77440" y="4937760"/>
            <a:ext cx="2834640" cy="777240"/>
          </a:xfrm>
          <a:prstGeom prst="roundRect">
            <a:avLst>
              <a:gd name="adj" fmla="val 7059"/>
            </a:avLst>
          </a:prstGeom>
          <a:solidFill>
            <a:srgbClr val="8FD9C4"/>
          </a:solidFill>
          <a:ln/>
        </p:spPr>
      </p:sp>
      <p:sp>
        <p:nvSpPr>
          <p:cNvPr id="9" name="Text 7"/>
          <p:cNvSpPr/>
          <p:nvPr/>
        </p:nvSpPr>
        <p:spPr>
          <a:xfrm>
            <a:off x="2377440" y="499262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Scan: employees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&gt; 90000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0" y="4937760"/>
            <a:ext cx="2834640" cy="777240"/>
          </a:xfrm>
          <a:prstGeom prst="roundRect">
            <a:avLst>
              <a:gd name="adj" fmla="val 7059"/>
            </a:avLst>
          </a:prstGeom>
          <a:solidFill>
            <a:srgbClr val="8FD9C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0" y="499262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Scan: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0" y="3749040"/>
            <a:ext cx="3749040" cy="777240"/>
          </a:xfrm>
          <a:prstGeom prst="roundRect">
            <a:avLst>
              <a:gd name="adj" fmla="val 7059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0" y="380390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Join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dept_id = id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06240" y="2606040"/>
            <a:ext cx="3749040" cy="777240"/>
          </a:xfrm>
          <a:prstGeom prst="roundRect">
            <a:avLst>
              <a:gd name="adj" fmla="val 7059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266090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name, dept_name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94760" y="4937760"/>
            <a:ext cx="1691640" cy="-411480"/>
          </a:xfrm>
          <a:prstGeom prst="line">
            <a:avLst/>
          </a:prstGeom>
          <a:noFill/>
          <a:ln w="15875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732520" y="4937760"/>
            <a:ext cx="-2057400" cy="-411480"/>
          </a:xfrm>
          <a:prstGeom prst="line">
            <a:avLst/>
          </a:prstGeom>
          <a:noFill/>
          <a:ln w="15875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080760" y="3749040"/>
            <a:ext cx="0" cy="-365760"/>
          </a:xfrm>
          <a:prstGeom prst="line">
            <a:avLst/>
          </a:prstGeom>
          <a:noFill/>
          <a:ln w="15875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377440" y="58064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Scan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377440" y="5989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B+ tree index on salary finds matches fast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315200" y="58064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table scan — small table, no index needed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and Querying in DBMS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74520"/>
            <a:ext cx="365760" cy="365760"/>
          </a:xfrm>
          <a:prstGeom prst="ellipse">
            <a:avLst/>
          </a:prstGeom>
          <a:solidFill>
            <a:srgbClr val="8FD9C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I/O is the bottleneck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2167128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storage decision — block size, file organization, buffering — exists to minimize disk reads.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492240" y="1874520"/>
            <a:ext cx="365760" cy="365760"/>
          </a:xfrm>
          <a:prstGeom prst="ellipse">
            <a:avLst/>
          </a:prstGeom>
          <a:solidFill>
            <a:srgbClr val="8FD9C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9516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trade space for speed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95160" y="2167128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B+ trees give O(log n) access with range-query support; hashing gives O(1) but only for equality.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364992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547872"/>
            <a:ext cx="365760" cy="365760"/>
          </a:xfrm>
          <a:prstGeom prst="ellipse">
            <a:avLst/>
          </a:prstGeom>
          <a:solidFill>
            <a:srgbClr val="8FD9C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5478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3502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Buffering bridges the speed gap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384048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hot pages in RAM, with smart replacement policies, avoids repeated slow disk trips.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09360" y="3364992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492240" y="3547872"/>
            <a:ext cx="365760" cy="365760"/>
          </a:xfrm>
          <a:prstGeom prst="ellipse">
            <a:avLst/>
          </a:prstGeom>
          <a:solidFill>
            <a:srgbClr val="8FD9C4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35478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95160" y="3502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optimization is cost-based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95160" y="384048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estimates I/O and CPU cost across equivalent plans and executes the cheapest one.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038344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" y="5221224"/>
            <a:ext cx="365760" cy="365760"/>
          </a:xfrm>
          <a:prstGeom prst="ellipse">
            <a:avLst/>
          </a:prstGeom>
          <a:solidFill>
            <a:srgbClr val="8FD9C4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52212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34440" y="517550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strategy depends on shape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34440" y="5513832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Nested-loop, sort-merge, and hash join each win under different size, order, and index conditions.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09360" y="5038344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492240" y="5221224"/>
            <a:ext cx="365760" cy="365760"/>
          </a:xfrm>
          <a:prstGeom prst="ellipse">
            <a:avLst/>
          </a:prstGeom>
          <a:solidFill>
            <a:srgbClr val="8FD9C4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52212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95160" y="517550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and querying are linked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95160" y="5513832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physical design choice below directly determines what execution plans are even possible above.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and Querying in DBMS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-2103120" y="-210312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3840480"/>
            <a:ext cx="5029200" cy="50292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41848" y="192024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3016" y="2121408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063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1371600" y="388620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on storage engines, indexing strategy, or query optimization?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and Querying in DBMS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2026-07-25T07:18:00Z</dcterms:created>
  <dcterms:modified xsi:type="dcterms:W3CDTF">2026-07-25T07:18:00Z</dcterms:modified>
</cp:coreProperties>
</file>