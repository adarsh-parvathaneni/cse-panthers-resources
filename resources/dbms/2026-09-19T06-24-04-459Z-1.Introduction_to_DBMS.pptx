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1"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21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237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F33F3-083A-4E9D-B2DF-1988DF468315}"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F40E41-8F3C-4D33-A4A1-08E5BD2B8C2D}" type="slidenum">
              <a:rPr lang="en-IN" smtClean="0"/>
              <a:t>‹#›</a:t>
            </a:fld>
            <a:endParaRPr lang="en-IN"/>
          </a:p>
        </p:txBody>
      </p:sp>
    </p:spTree>
    <p:extLst>
      <p:ext uri="{BB962C8B-B14F-4D97-AF65-F5344CB8AC3E}">
        <p14:creationId xmlns:p14="http://schemas.microsoft.com/office/powerpoint/2010/main" val="10389769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572000" cy="4572000"/>
          </a:xfrm>
          <a:prstGeom prst="ellipse">
            <a:avLst/>
          </a:prstGeom>
          <a:solidFill>
            <a:srgbClr val="028090">
              <a:alpha val="20000"/>
            </a:srgbClr>
          </a:solidFill>
          <a:ln/>
        </p:spPr>
      </p:sp>
      <p:sp>
        <p:nvSpPr>
          <p:cNvPr id="3" name="Shape 1"/>
          <p:cNvSpPr/>
          <p:nvPr/>
        </p:nvSpPr>
        <p:spPr>
          <a:xfrm>
            <a:off x="-1371600" y="4572000"/>
            <a:ext cx="3657600" cy="3657600"/>
          </a:xfrm>
          <a:prstGeom prst="ellipse">
            <a:avLst/>
          </a:prstGeom>
          <a:solidFill>
            <a:srgbClr val="00A896">
              <a:alpha val="15000"/>
            </a:srgbClr>
          </a:solidFill>
          <a:ln/>
        </p:spPr>
      </p:sp>
      <p:pic>
        <p:nvPicPr>
          <p:cNvPr id="4" name="Image 0" descr="preencoded.png"/>
          <p:cNvPicPr>
            <a:picLocks noChangeAspect="1"/>
          </p:cNvPicPr>
          <p:nvPr/>
        </p:nvPicPr>
        <p:blipFill>
          <a:blip r:embed="rId3"/>
          <a:stretch>
            <a:fillRect/>
          </a:stretch>
        </p:blipFill>
        <p:spPr>
          <a:xfrm>
            <a:off x="822960" y="2331720"/>
            <a:ext cx="914400" cy="914400"/>
          </a:xfrm>
          <a:prstGeom prst="rect">
            <a:avLst/>
          </a:prstGeom>
        </p:spPr>
      </p:pic>
      <p:sp>
        <p:nvSpPr>
          <p:cNvPr id="5" name="Text 2"/>
          <p:cNvSpPr/>
          <p:nvPr/>
        </p:nvSpPr>
        <p:spPr>
          <a:xfrm>
            <a:off x="1920240" y="2103120"/>
            <a:ext cx="9326880" cy="109728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Introduction to DBMS</a:t>
            </a:r>
            <a:endParaRPr lang="en-US" sz="4400" dirty="0"/>
          </a:p>
        </p:txBody>
      </p:sp>
      <p:sp>
        <p:nvSpPr>
          <p:cNvPr id="6" name="Text 3"/>
          <p:cNvSpPr/>
          <p:nvPr/>
        </p:nvSpPr>
        <p:spPr>
          <a:xfrm>
            <a:off x="1965960" y="3154680"/>
            <a:ext cx="9144000" cy="548640"/>
          </a:xfrm>
          <a:prstGeom prst="rect">
            <a:avLst/>
          </a:prstGeom>
          <a:noFill/>
          <a:ln/>
        </p:spPr>
        <p:txBody>
          <a:bodyPr wrap="square" rtlCol="0" anchor="ctr"/>
          <a:lstStyle/>
          <a:p>
            <a:pPr marL="0" indent="0">
              <a:buNone/>
            </a:pPr>
            <a:r>
              <a:rPr lang="en-US" sz="1800" i="1" dirty="0">
                <a:solidFill>
                  <a:srgbClr val="02C39A"/>
                </a:solidFill>
                <a:latin typeface="Calibri" pitchFamily="34" charset="0"/>
                <a:ea typeface="Calibri" pitchFamily="34" charset="-122"/>
                <a:cs typeface="Calibri" pitchFamily="34" charset="-120"/>
              </a:rPr>
              <a:t>Data, Databases &amp; Database Management Systems</a:t>
            </a:r>
            <a:endParaRPr lang="en-US" sz="1800" dirty="0"/>
          </a:p>
        </p:txBody>
      </p:sp>
      <p:sp>
        <p:nvSpPr>
          <p:cNvPr id="7" name="Text 4"/>
          <p:cNvSpPr/>
          <p:nvPr/>
        </p:nvSpPr>
        <p:spPr>
          <a:xfrm>
            <a:off x="1965960" y="6035040"/>
            <a:ext cx="3657600" cy="365760"/>
          </a:xfrm>
          <a:prstGeom prst="rect">
            <a:avLst/>
          </a:prstGeom>
          <a:noFill/>
          <a:ln/>
        </p:spPr>
        <p:txBody>
          <a:bodyPr wrap="square" rtlCol="0" anchor="ctr"/>
          <a:lstStyle/>
          <a:p>
            <a:pPr marL="0" indent="0">
              <a:buNone/>
            </a:pPr>
            <a:r>
              <a:rPr lang="en-US" sz="1300" dirty="0">
                <a:solidFill>
                  <a:srgbClr val="B8D8D6"/>
                </a:solidFill>
                <a:latin typeface="Calibri" pitchFamily="34" charset="0"/>
                <a:ea typeface="Calibri" pitchFamily="34" charset="-122"/>
                <a:cs typeface="Calibri" pitchFamily="34" charset="-120"/>
              </a:rPr>
              <a:t>28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What is Data?</a:t>
            </a:r>
            <a:endParaRPr lang="en-US" sz="3000" dirty="0"/>
          </a:p>
        </p:txBody>
      </p:sp>
      <p:sp>
        <p:nvSpPr>
          <p:cNvPr id="3" name="Shape 1"/>
          <p:cNvSpPr/>
          <p:nvPr/>
        </p:nvSpPr>
        <p:spPr>
          <a:xfrm>
            <a:off x="548640" y="1554480"/>
            <a:ext cx="11064240" cy="1371600"/>
          </a:xfrm>
          <a:prstGeom prst="roundRect">
            <a:avLst>
              <a:gd name="adj" fmla="val 5333"/>
            </a:avLst>
          </a:prstGeom>
          <a:solidFill>
            <a:srgbClr val="F4FAF9"/>
          </a:solidFill>
          <a:ln/>
          <a:effectLst>
            <a:outerShdw blurRad="76200" dist="25400" dir="2700000" algn="bl" rotWithShape="0">
              <a:srgbClr val="000000">
                <a:alpha val="8000"/>
              </a:srgbClr>
            </a:outerShdw>
          </a:effectLst>
        </p:spPr>
      </p:sp>
      <p:sp>
        <p:nvSpPr>
          <p:cNvPr id="4" name="Text 2"/>
          <p:cNvSpPr/>
          <p:nvPr/>
        </p:nvSpPr>
        <p:spPr>
          <a:xfrm>
            <a:off x="914400" y="1737360"/>
            <a:ext cx="10332720" cy="1005840"/>
          </a:xfrm>
          <a:prstGeom prst="rect">
            <a:avLst/>
          </a:prstGeom>
          <a:noFill/>
          <a:ln/>
        </p:spPr>
        <p:txBody>
          <a:bodyPr wrap="square" rtlCol="0" anchor="ctr"/>
          <a:lstStyle/>
          <a:p>
            <a:pPr marL="0" indent="0">
              <a:buNone/>
            </a:pPr>
            <a:r>
              <a:rPr lang="en-US" sz="1600" dirty="0">
                <a:solidFill>
                  <a:srgbClr val="1E293B"/>
                </a:solidFill>
                <a:latin typeface="Calibri" pitchFamily="34" charset="0"/>
                <a:ea typeface="Calibri" pitchFamily="34" charset="-122"/>
                <a:cs typeface="Calibri" pitchFamily="34" charset="-120"/>
              </a:rPr>
              <a:t>Data is </a:t>
            </a:r>
            <a:r>
              <a:rPr lang="en-US" sz="1600" b="1" dirty="0">
                <a:solidFill>
                  <a:srgbClr val="028090"/>
                </a:solidFill>
                <a:latin typeface="Calibri" pitchFamily="34" charset="0"/>
                <a:ea typeface="Calibri" pitchFamily="34" charset="-122"/>
                <a:cs typeface="Calibri" pitchFamily="34" charset="-120"/>
              </a:rPr>
              <a:t>raw facts, figures, symbols, numbers and statistics</a:t>
            </a:r>
            <a:r>
              <a:rPr lang="en-US" sz="1600" dirty="0">
                <a:solidFill>
                  <a:srgbClr val="1E293B"/>
                </a:solidFill>
                <a:latin typeface="Calibri" pitchFamily="34" charset="0"/>
                <a:ea typeface="Calibri" pitchFamily="34" charset="-122"/>
                <a:cs typeface="Calibri" pitchFamily="34" charset="-120"/>
              </a:rPr>
              <a:t> stored in a network. It is unprocessed, and may or may not be meaningful on its own.</a:t>
            </a:r>
            <a:endParaRPr lang="en-US" sz="1600" dirty="0"/>
          </a:p>
        </p:txBody>
      </p:sp>
      <p:sp>
        <p:nvSpPr>
          <p:cNvPr id="5" name="Shape 3"/>
          <p:cNvSpPr/>
          <p:nvPr/>
        </p:nvSpPr>
        <p:spPr>
          <a:xfrm>
            <a:off x="548640" y="3291840"/>
            <a:ext cx="4846320" cy="2743200"/>
          </a:xfrm>
          <a:prstGeom prst="roundRect">
            <a:avLst>
              <a:gd name="adj" fmla="val 3333"/>
            </a:avLst>
          </a:prstGeom>
          <a:solidFill>
            <a:srgbClr val="FBEAEA"/>
          </a:solidFill>
          <a:ln/>
        </p:spPr>
      </p:sp>
      <p:sp>
        <p:nvSpPr>
          <p:cNvPr id="6" name="Text 4"/>
          <p:cNvSpPr/>
          <p:nvPr/>
        </p:nvSpPr>
        <p:spPr>
          <a:xfrm>
            <a:off x="822960" y="3474720"/>
            <a:ext cx="4297680" cy="365760"/>
          </a:xfrm>
          <a:prstGeom prst="rect">
            <a:avLst/>
          </a:prstGeom>
          <a:noFill/>
          <a:ln/>
        </p:spPr>
        <p:txBody>
          <a:bodyPr wrap="square" rtlCol="0" anchor="ctr"/>
          <a:lstStyle/>
          <a:p>
            <a:pPr marL="0" indent="0">
              <a:buNone/>
            </a:pPr>
            <a:r>
              <a:rPr lang="en-US" sz="1500" b="1" dirty="0">
                <a:solidFill>
                  <a:srgbClr val="B0413E"/>
                </a:solidFill>
                <a:latin typeface="Calibri" pitchFamily="34" charset="0"/>
                <a:ea typeface="Calibri" pitchFamily="34" charset="-122"/>
                <a:cs typeface="Calibri" pitchFamily="34" charset="-120"/>
              </a:rPr>
              <a:t>DATA (Unprocessed)</a:t>
            </a:r>
            <a:endParaRPr lang="en-US" sz="1500" dirty="0"/>
          </a:p>
        </p:txBody>
      </p:sp>
      <p:sp>
        <p:nvSpPr>
          <p:cNvPr id="7" name="Text 5"/>
          <p:cNvSpPr/>
          <p:nvPr/>
        </p:nvSpPr>
        <p:spPr>
          <a:xfrm>
            <a:off x="822960" y="3977640"/>
            <a:ext cx="4297680" cy="18288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5</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cities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Top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John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Mangoes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Born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1980</a:t>
            </a:r>
            <a:endParaRPr lang="en-US" sz="1300" dirty="0"/>
          </a:p>
        </p:txBody>
      </p:sp>
      <p:sp>
        <p:nvSpPr>
          <p:cNvPr id="8" name="Shape 6"/>
          <p:cNvSpPr/>
          <p:nvPr/>
        </p:nvSpPr>
        <p:spPr>
          <a:xfrm>
            <a:off x="5440680" y="4343400"/>
            <a:ext cx="914400" cy="640080"/>
          </a:xfrm>
          <a:prstGeom prst="rightArrow">
            <a:avLst/>
          </a:prstGeom>
          <a:solidFill>
            <a:srgbClr val="028090"/>
          </a:solidFill>
          <a:ln/>
        </p:spPr>
      </p:sp>
      <p:sp>
        <p:nvSpPr>
          <p:cNvPr id="9" name="Shape 7"/>
          <p:cNvSpPr/>
          <p:nvPr/>
        </p:nvSpPr>
        <p:spPr>
          <a:xfrm>
            <a:off x="6400800" y="3291840"/>
            <a:ext cx="4846320" cy="2743200"/>
          </a:xfrm>
          <a:prstGeom prst="roundRect">
            <a:avLst>
              <a:gd name="adj" fmla="val 3333"/>
            </a:avLst>
          </a:prstGeom>
          <a:solidFill>
            <a:srgbClr val="E3F6F4"/>
          </a:solidFill>
          <a:ln/>
        </p:spPr>
      </p:sp>
      <p:sp>
        <p:nvSpPr>
          <p:cNvPr id="10" name="Text 8"/>
          <p:cNvSpPr/>
          <p:nvPr/>
        </p:nvSpPr>
        <p:spPr>
          <a:xfrm>
            <a:off x="6675120" y="3474720"/>
            <a:ext cx="429768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INFORMATION (Processed)</a:t>
            </a:r>
            <a:endParaRPr lang="en-US" sz="1500" dirty="0"/>
          </a:p>
        </p:txBody>
      </p:sp>
      <p:sp>
        <p:nvSpPr>
          <p:cNvPr id="11" name="Text 9"/>
          <p:cNvSpPr/>
          <p:nvPr/>
        </p:nvSpPr>
        <p:spPr>
          <a:xfrm>
            <a:off x="6675120" y="3977640"/>
            <a:ext cx="4297680" cy="18288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5 Mangoes</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Top cities</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John Born (1980)</a:t>
            </a:r>
            <a:endParaRPr lang="en-US" sz="1400" dirty="0"/>
          </a:p>
        </p:txBody>
      </p:sp>
      <p:sp>
        <p:nvSpPr>
          <p:cNvPr id="12" name="Text 1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Data vs. Information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698480" cy="4224528"/>
        </p:xfrm>
        <a:graphic>
          <a:graphicData uri="http://schemas.openxmlformats.org/drawingml/2006/table">
            <a:tbl>
              <a:tblPr/>
              <a:tblGrid>
                <a:gridCol w="534924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70408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Data</a:t>
                      </a:r>
                      <a:endParaRPr lang="en-US" sz="15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028090"/>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Information</a:t>
                      </a:r>
                      <a:endParaRPr lang="en-US" sz="15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0B2E33"/>
                    </a:solidFill>
                  </a:tcPr>
                </a:tc>
                <a:extLst>
                  <a:ext uri="{0D108BD9-81ED-4DB2-BD59-A6C34878D82A}">
                    <a16:rowId xmlns:a16="http://schemas.microsoft.com/office/drawing/2014/main" val="10000"/>
                  </a:ext>
                </a:extLst>
              </a:tr>
              <a:tr h="704088">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It is raw facts.</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Processed form of data.</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May or may not be meaningful.</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Always meaningful.</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088">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Understanding is difficult.</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Understanding is easy.</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088">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Data may not be in order.</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93B"/>
                          </a:solidFill>
                          <a:latin typeface="Calibri" pitchFamily="34" charset="0"/>
                          <a:ea typeface="Calibri" pitchFamily="34" charset="-122"/>
                          <a:cs typeface="Calibri" pitchFamily="34" charset="-120"/>
                        </a:rPr>
                        <a:t>It should be in order.</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4088">
                <a:tc>
                  <a:txBody>
                    <a:bodyPr/>
                    <a:lstStyle/>
                    <a:p>
                      <a:pPr marL="0" indent="0" algn="l">
                        <a:buNone/>
                      </a:pPr>
                      <a:r>
                        <a:rPr lang="en-US" sz="1400" i="1" dirty="0">
                          <a:solidFill>
                            <a:srgbClr val="64748B"/>
                          </a:solidFill>
                          <a:latin typeface="Calibri" pitchFamily="34" charset="0"/>
                          <a:ea typeface="Calibri" pitchFamily="34" charset="-122"/>
                          <a:cs typeface="Calibri" pitchFamily="34" charset="-120"/>
                        </a:rPr>
                        <a:t>Ex: Survey data</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64748B"/>
                          </a:solidFill>
                          <a:latin typeface="Calibri" pitchFamily="34" charset="0"/>
                          <a:ea typeface="Calibri" pitchFamily="34" charset="-122"/>
                          <a:cs typeface="Calibri" pitchFamily="34" charset="-120"/>
                        </a:rPr>
                        <a:t>Ex: Census report</a:t>
                      </a:r>
                      <a:endParaRPr lang="en-US" sz="1400" dirty="0">
                        <a:latin typeface="Calibri" charset="0"/>
                        <a:ea typeface="Calibri" charset="0"/>
                        <a:cs typeface="Calibri" charset="0"/>
                      </a:endParaRPr>
                    </a:p>
                  </a:txBody>
                  <a:tcPr anchor="ctr">
                    <a:lnL w="9525" cap="flat" cmpd="sng" algn="ctr">
                      <a:solidFill>
                        <a:srgbClr val="D8E4E3"/>
                      </a:solidFill>
                      <a:prstDash val="solid"/>
                      <a:round/>
                      <a:headEnd type="none" w="med" len="med"/>
                      <a:tailEnd type="none" w="med" len="med"/>
                    </a:lnL>
                    <a:lnR w="9525" cap="flat" cmpd="sng" algn="ctr">
                      <a:solidFill>
                        <a:srgbClr val="D8E4E3"/>
                      </a:solidFill>
                      <a:prstDash val="solid"/>
                      <a:round/>
                      <a:headEnd type="none" w="med" len="med"/>
                      <a:tailEnd type="none" w="med" len="med"/>
                    </a:lnR>
                    <a:lnT w="9525" cap="flat" cmpd="sng" algn="ctr">
                      <a:solidFill>
                        <a:srgbClr val="D8E4E3"/>
                      </a:solidFill>
                      <a:prstDash val="solid"/>
                      <a:round/>
                      <a:headEnd type="none" w="med" len="med"/>
                      <a:tailEnd type="none" w="med" len="med"/>
                    </a:lnT>
                    <a:lnB w="9525" cap="flat" cmpd="sng" algn="ctr">
                      <a:solidFill>
                        <a:srgbClr val="D8E4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Text 1"/>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E33"/>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28090">
              <a:alpha val="15000"/>
            </a:srgbClr>
          </a:solidFill>
          <a:ln/>
        </p:spPr>
      </p:sp>
      <p:sp>
        <p:nvSpPr>
          <p:cNvPr id="3" name="Text 1"/>
          <p:cNvSpPr/>
          <p:nvPr/>
        </p:nvSpPr>
        <p:spPr>
          <a:xfrm>
            <a:off x="548640" y="45720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is a Database?</a:t>
            </a:r>
            <a:endParaRPr lang="en-US" sz="3000" dirty="0"/>
          </a:p>
        </p:txBody>
      </p:sp>
      <p:pic>
        <p:nvPicPr>
          <p:cNvPr id="4" name="Image 0" descr="preencoded.png"/>
          <p:cNvPicPr>
            <a:picLocks noChangeAspect="1"/>
          </p:cNvPicPr>
          <p:nvPr/>
        </p:nvPicPr>
        <p:blipFill>
          <a:blip r:embed="rId3"/>
          <a:stretch>
            <a:fillRect/>
          </a:stretch>
        </p:blipFill>
        <p:spPr>
          <a:xfrm>
            <a:off x="822960" y="1737360"/>
            <a:ext cx="1280160" cy="1280160"/>
          </a:xfrm>
          <a:prstGeom prst="rect">
            <a:avLst/>
          </a:prstGeom>
        </p:spPr>
      </p:pic>
      <p:sp>
        <p:nvSpPr>
          <p:cNvPr id="5" name="Shape 2"/>
          <p:cNvSpPr/>
          <p:nvPr/>
        </p:nvSpPr>
        <p:spPr>
          <a:xfrm>
            <a:off x="2468880" y="1737360"/>
            <a:ext cx="8961120" cy="1737360"/>
          </a:xfrm>
          <a:prstGeom prst="roundRect">
            <a:avLst>
              <a:gd name="adj" fmla="val 5263"/>
            </a:avLst>
          </a:prstGeom>
          <a:solidFill>
            <a:srgbClr val="FFFFFF">
              <a:alpha val="95000"/>
            </a:srgbClr>
          </a:solidFill>
          <a:ln/>
        </p:spPr>
      </p:sp>
      <p:sp>
        <p:nvSpPr>
          <p:cNvPr id="6" name="Text 3"/>
          <p:cNvSpPr/>
          <p:nvPr/>
        </p:nvSpPr>
        <p:spPr>
          <a:xfrm>
            <a:off x="2743200" y="1874520"/>
            <a:ext cx="8412480" cy="1463040"/>
          </a:xfrm>
          <a:prstGeom prst="rect">
            <a:avLst/>
          </a:prstGeom>
          <a:noFill/>
          <a:ln/>
        </p:spPr>
        <p:txBody>
          <a:bodyPr wrap="square" rtlCol="0" anchor="ctr"/>
          <a:lstStyle/>
          <a:p>
            <a:pPr marL="0" indent="0">
              <a:buNone/>
            </a:pPr>
            <a:r>
              <a:rPr lang="en-US" sz="1600" dirty="0">
                <a:solidFill>
                  <a:srgbClr val="1E293B"/>
                </a:solidFill>
                <a:latin typeface="Calibri" pitchFamily="34" charset="0"/>
                <a:ea typeface="Calibri" pitchFamily="34" charset="-122"/>
                <a:cs typeface="Calibri" pitchFamily="34" charset="-120"/>
              </a:rPr>
              <a:t>A database is a collection of </a:t>
            </a:r>
            <a:r>
              <a:rPr lang="en-US" sz="1600" b="1" dirty="0">
                <a:solidFill>
                  <a:srgbClr val="028090"/>
                </a:solidFill>
                <a:latin typeface="Calibri" pitchFamily="34" charset="0"/>
                <a:ea typeface="Calibri" pitchFamily="34" charset="-122"/>
                <a:cs typeface="Calibri" pitchFamily="34" charset="-120"/>
              </a:rPr>
              <a:t>interrelated data</a:t>
            </a:r>
            <a:r>
              <a:rPr lang="en-US" sz="1600" dirty="0">
                <a:solidFill>
                  <a:srgbClr val="1E293B"/>
                </a:solidFill>
                <a:latin typeface="Calibri" pitchFamily="34" charset="0"/>
                <a:ea typeface="Calibri" pitchFamily="34" charset="-122"/>
                <a:cs typeface="Calibri" pitchFamily="34" charset="-120"/>
              </a:rPr>
              <a:t>, which helps in the efficient retrieval, insertion, and deletion of data from / to the database.</a:t>
            </a:r>
            <a:endParaRPr lang="en-US" sz="1600" dirty="0"/>
          </a:p>
        </p:txBody>
      </p:sp>
      <p:sp>
        <p:nvSpPr>
          <p:cNvPr id="7" name="Text 4"/>
          <p:cNvSpPr/>
          <p:nvPr/>
        </p:nvSpPr>
        <p:spPr>
          <a:xfrm>
            <a:off x="822960" y="3840480"/>
            <a:ext cx="2743200" cy="36576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Example</a:t>
            </a:r>
            <a:endParaRPr lang="en-US" sz="1400" dirty="0"/>
          </a:p>
        </p:txBody>
      </p:sp>
      <p:sp>
        <p:nvSpPr>
          <p:cNvPr id="8" name="Shape 5"/>
          <p:cNvSpPr/>
          <p:nvPr/>
        </p:nvSpPr>
        <p:spPr>
          <a:xfrm>
            <a:off x="822960" y="4206240"/>
            <a:ext cx="10607040" cy="1737360"/>
          </a:xfrm>
          <a:prstGeom prst="roundRect">
            <a:avLst>
              <a:gd name="adj" fmla="val 5263"/>
            </a:avLst>
          </a:prstGeom>
          <a:solidFill>
            <a:srgbClr val="0E3A40"/>
          </a:solidFill>
          <a:ln/>
        </p:spPr>
      </p:sp>
      <p:sp>
        <p:nvSpPr>
          <p:cNvPr id="9" name="Text 6"/>
          <p:cNvSpPr/>
          <p:nvPr/>
        </p:nvSpPr>
        <p:spPr>
          <a:xfrm>
            <a:off x="1097280" y="4343400"/>
            <a:ext cx="10058400" cy="1463040"/>
          </a:xfrm>
          <a:prstGeom prst="rect">
            <a:avLst/>
          </a:prstGeom>
          <a:noFill/>
          <a:ln/>
        </p:spPr>
        <p:txBody>
          <a:bodyPr wrap="square" rtlCol="0" anchor="ctr"/>
          <a:lstStyle/>
          <a:p>
            <a:pPr marL="0" indent="0">
              <a:buNone/>
            </a:pPr>
            <a:r>
              <a:rPr lang="en-US" sz="1500" dirty="0">
                <a:solidFill>
                  <a:srgbClr val="E3F6F4"/>
                </a:solidFill>
                <a:latin typeface="Calibri" pitchFamily="34" charset="0"/>
                <a:ea typeface="Calibri" pitchFamily="34" charset="-122"/>
                <a:cs typeface="Calibri" pitchFamily="34" charset="-120"/>
              </a:rPr>
              <a:t>A university database organizes data about </a:t>
            </a:r>
            <a:r>
              <a:rPr lang="en-US" sz="1500" b="1" dirty="0">
                <a:solidFill>
                  <a:srgbClr val="02C39A"/>
                </a:solidFill>
                <a:latin typeface="Calibri" pitchFamily="34" charset="0"/>
                <a:ea typeface="Calibri" pitchFamily="34" charset="-122"/>
                <a:cs typeface="Calibri" pitchFamily="34" charset="-120"/>
              </a:rPr>
              <a:t>students, faculty, and admin staff</a:t>
            </a:r>
            <a:r>
              <a:rPr lang="en-US" sz="1500" dirty="0">
                <a:solidFill>
                  <a:srgbClr val="E3F6F4"/>
                </a:solidFill>
                <a:latin typeface="Calibri" pitchFamily="34" charset="0"/>
                <a:ea typeface="Calibri" pitchFamily="34" charset="-122"/>
                <a:cs typeface="Calibri" pitchFamily="34" charset="-120"/>
              </a:rPr>
              <a:t> — enabling efficient retrieval, insertion, and deletion of records.</a:t>
            </a:r>
            <a:endParaRPr lang="en-US" sz="1500" dirty="0"/>
          </a:p>
        </p:txBody>
      </p:sp>
      <p:sp>
        <p:nvSpPr>
          <p:cNvPr id="10" name="Text 7"/>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Types of Databases</a:t>
            </a:r>
            <a:endParaRPr lang="en-US" sz="3000" dirty="0"/>
          </a:p>
        </p:txBody>
      </p:sp>
      <p:sp>
        <p:nvSpPr>
          <p:cNvPr id="3" name="Text 1"/>
          <p:cNvSpPr/>
          <p:nvPr/>
        </p:nvSpPr>
        <p:spPr>
          <a:xfrm>
            <a:off x="548640" y="960120"/>
            <a:ext cx="10972800" cy="36576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A database organizes data into tables, reports, and views</a:t>
            </a:r>
            <a:endParaRPr lang="en-US" sz="1400" dirty="0"/>
          </a:p>
        </p:txBody>
      </p:sp>
      <p:sp>
        <p:nvSpPr>
          <p:cNvPr id="4" name="Shape 2"/>
          <p:cNvSpPr/>
          <p:nvPr/>
        </p:nvSpPr>
        <p:spPr>
          <a:xfrm>
            <a:off x="548640" y="1691640"/>
            <a:ext cx="2560320" cy="4206240"/>
          </a:xfrm>
          <a:prstGeom prst="roundRect">
            <a:avLst>
              <a:gd name="adj" fmla="val 3571"/>
            </a:avLst>
          </a:prstGeom>
          <a:solidFill>
            <a:srgbClr val="F4FAF9"/>
          </a:solidFill>
          <a:ln/>
          <a:effectLst>
            <a:outerShdw blurRad="76200" dist="25400" dir="2700000" algn="bl" rotWithShape="0">
              <a:srgbClr val="000000">
                <a:alpha val="8000"/>
              </a:srgbClr>
            </a:outerShdw>
          </a:effectLst>
        </p:spPr>
      </p:sp>
      <p:sp>
        <p:nvSpPr>
          <p:cNvPr id="5" name="Shape 3"/>
          <p:cNvSpPr/>
          <p:nvPr/>
        </p:nvSpPr>
        <p:spPr>
          <a:xfrm>
            <a:off x="1417320" y="2011680"/>
            <a:ext cx="822960" cy="82296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1581912" y="2176272"/>
            <a:ext cx="493776" cy="493776"/>
          </a:xfrm>
          <a:prstGeom prst="rect">
            <a:avLst/>
          </a:prstGeom>
        </p:spPr>
      </p:pic>
      <p:sp>
        <p:nvSpPr>
          <p:cNvPr id="7" name="Text 4"/>
          <p:cNvSpPr/>
          <p:nvPr/>
        </p:nvSpPr>
        <p:spPr>
          <a:xfrm>
            <a:off x="685800" y="2971800"/>
            <a:ext cx="2286000" cy="457200"/>
          </a:xfrm>
          <a:prstGeom prst="rect">
            <a:avLst/>
          </a:prstGeom>
          <a:noFill/>
          <a:ln/>
        </p:spPr>
        <p:txBody>
          <a:bodyPr wrap="square" rtlCol="0" anchor="ctr"/>
          <a:lstStyle/>
          <a:p>
            <a:pPr marL="0" indent="0" algn="ctr">
              <a:buNone/>
            </a:pPr>
            <a:r>
              <a:rPr lang="en-US" sz="1500" b="1" dirty="0">
                <a:solidFill>
                  <a:srgbClr val="0B2E33"/>
                </a:solidFill>
                <a:latin typeface="Calibri" pitchFamily="34" charset="0"/>
                <a:ea typeface="Calibri" pitchFamily="34" charset="-122"/>
                <a:cs typeface="Calibri" pitchFamily="34" charset="-120"/>
              </a:rPr>
              <a:t>Relational DB</a:t>
            </a:r>
            <a:endParaRPr lang="en-US" sz="1500" dirty="0"/>
          </a:p>
        </p:txBody>
      </p:sp>
      <p:sp>
        <p:nvSpPr>
          <p:cNvPr id="8" name="Text 5"/>
          <p:cNvSpPr/>
          <p:nvPr/>
        </p:nvSpPr>
        <p:spPr>
          <a:xfrm>
            <a:off x="731520" y="3474720"/>
            <a:ext cx="2194560" cy="1371600"/>
          </a:xfrm>
          <a:prstGeom prst="rect">
            <a:avLst/>
          </a:prstGeom>
          <a:noFill/>
          <a:ln/>
        </p:spPr>
        <p:txBody>
          <a:bodyPr wrap="square" rtlCol="0" anchor="t"/>
          <a:lstStyle/>
          <a:p>
            <a:pPr marL="0" indent="0" algn="ctr">
              <a:buNone/>
            </a:pPr>
            <a:r>
              <a:rPr lang="en-US" sz="1150" dirty="0">
                <a:solidFill>
                  <a:srgbClr val="1E293B"/>
                </a:solidFill>
                <a:latin typeface="Calibri" pitchFamily="34" charset="0"/>
                <a:ea typeface="Calibri" pitchFamily="34" charset="-122"/>
                <a:cs typeface="Calibri" pitchFamily="34" charset="-120"/>
              </a:rPr>
              <a:t>Data in linked tables, queried using SQL.</a:t>
            </a:r>
            <a:endParaRPr lang="en-US" sz="1150" dirty="0"/>
          </a:p>
        </p:txBody>
      </p:sp>
      <p:sp>
        <p:nvSpPr>
          <p:cNvPr id="9" name="Text 6"/>
          <p:cNvSpPr/>
          <p:nvPr/>
        </p:nvSpPr>
        <p:spPr>
          <a:xfrm>
            <a:off x="685800" y="5257800"/>
            <a:ext cx="2286000" cy="457200"/>
          </a:xfrm>
          <a:prstGeom prst="rect">
            <a:avLst/>
          </a:prstGeom>
          <a:noFill/>
          <a:ln/>
        </p:spPr>
        <p:txBody>
          <a:bodyPr wrap="square" rtlCol="0" anchor="ctr"/>
          <a:lstStyle/>
          <a:p>
            <a:pPr marL="0" indent="0" algn="ctr">
              <a:buNone/>
            </a:pPr>
            <a:r>
              <a:rPr lang="en-US" sz="1100" i="1" dirty="0">
                <a:solidFill>
                  <a:srgbClr val="028090"/>
                </a:solidFill>
                <a:latin typeface="Calibri" pitchFamily="34" charset="0"/>
                <a:ea typeface="Calibri" pitchFamily="34" charset="-122"/>
                <a:cs typeface="Calibri" pitchFamily="34" charset="-120"/>
              </a:rPr>
              <a:t>MySQL, Oracle</a:t>
            </a:r>
            <a:endParaRPr lang="en-US" sz="1100" dirty="0"/>
          </a:p>
        </p:txBody>
      </p:sp>
      <p:sp>
        <p:nvSpPr>
          <p:cNvPr id="10" name="Shape 7"/>
          <p:cNvSpPr/>
          <p:nvPr/>
        </p:nvSpPr>
        <p:spPr>
          <a:xfrm>
            <a:off x="3383280" y="1691640"/>
            <a:ext cx="2560320" cy="4206240"/>
          </a:xfrm>
          <a:prstGeom prst="roundRect">
            <a:avLst>
              <a:gd name="adj" fmla="val 3571"/>
            </a:avLst>
          </a:prstGeom>
          <a:solidFill>
            <a:srgbClr val="F4FAF9"/>
          </a:solidFill>
          <a:ln/>
          <a:effectLst>
            <a:outerShdw blurRad="76200" dist="25400" dir="2700000" algn="bl" rotWithShape="0">
              <a:srgbClr val="000000">
                <a:alpha val="8000"/>
              </a:srgbClr>
            </a:outerShdw>
          </a:effectLst>
        </p:spPr>
      </p:sp>
      <p:sp>
        <p:nvSpPr>
          <p:cNvPr id="11" name="Shape 8"/>
          <p:cNvSpPr/>
          <p:nvPr/>
        </p:nvSpPr>
        <p:spPr>
          <a:xfrm>
            <a:off x="4251960" y="2011680"/>
            <a:ext cx="822960" cy="822960"/>
          </a:xfrm>
          <a:prstGeom prst="ellipse">
            <a:avLst/>
          </a:prstGeom>
          <a:solidFill>
            <a:srgbClr val="FFFFFF"/>
          </a:solidFill>
          <a:ln/>
        </p:spPr>
      </p:sp>
      <p:pic>
        <p:nvPicPr>
          <p:cNvPr id="12" name="Image 1" descr="preencoded.png"/>
          <p:cNvPicPr>
            <a:picLocks noChangeAspect="1"/>
          </p:cNvPicPr>
          <p:nvPr/>
        </p:nvPicPr>
        <p:blipFill>
          <a:blip r:embed="rId4"/>
          <a:stretch>
            <a:fillRect/>
          </a:stretch>
        </p:blipFill>
        <p:spPr>
          <a:xfrm>
            <a:off x="4416552" y="2176272"/>
            <a:ext cx="493776" cy="493776"/>
          </a:xfrm>
          <a:prstGeom prst="rect">
            <a:avLst/>
          </a:prstGeom>
        </p:spPr>
      </p:pic>
      <p:sp>
        <p:nvSpPr>
          <p:cNvPr id="13" name="Text 9"/>
          <p:cNvSpPr/>
          <p:nvPr/>
        </p:nvSpPr>
        <p:spPr>
          <a:xfrm>
            <a:off x="3520440" y="2971800"/>
            <a:ext cx="2286000" cy="457200"/>
          </a:xfrm>
          <a:prstGeom prst="rect">
            <a:avLst/>
          </a:prstGeom>
          <a:noFill/>
          <a:ln/>
        </p:spPr>
        <p:txBody>
          <a:bodyPr wrap="square" rtlCol="0" anchor="ctr"/>
          <a:lstStyle/>
          <a:p>
            <a:pPr marL="0" indent="0" algn="ctr">
              <a:buNone/>
            </a:pPr>
            <a:r>
              <a:rPr lang="en-US" sz="1500" b="1" dirty="0">
                <a:solidFill>
                  <a:srgbClr val="0B2E33"/>
                </a:solidFill>
                <a:latin typeface="Calibri" pitchFamily="34" charset="0"/>
                <a:ea typeface="Calibri" pitchFamily="34" charset="-122"/>
                <a:cs typeface="Calibri" pitchFamily="34" charset="-120"/>
              </a:rPr>
              <a:t>Flat File DB</a:t>
            </a:r>
            <a:endParaRPr lang="en-US" sz="1500" dirty="0"/>
          </a:p>
        </p:txBody>
      </p:sp>
      <p:sp>
        <p:nvSpPr>
          <p:cNvPr id="14" name="Text 10"/>
          <p:cNvSpPr/>
          <p:nvPr/>
        </p:nvSpPr>
        <p:spPr>
          <a:xfrm>
            <a:off x="3566160" y="3474720"/>
            <a:ext cx="2194560" cy="1371600"/>
          </a:xfrm>
          <a:prstGeom prst="rect">
            <a:avLst/>
          </a:prstGeom>
          <a:noFill/>
          <a:ln/>
        </p:spPr>
        <p:txBody>
          <a:bodyPr wrap="square" rtlCol="0" anchor="t"/>
          <a:lstStyle/>
          <a:p>
            <a:pPr marL="0" indent="0" algn="ctr">
              <a:buNone/>
            </a:pPr>
            <a:r>
              <a:rPr lang="en-US" sz="1150" dirty="0">
                <a:solidFill>
                  <a:srgbClr val="1E293B"/>
                </a:solidFill>
                <a:latin typeface="Calibri" pitchFamily="34" charset="0"/>
                <a:ea typeface="Calibri" pitchFamily="34" charset="-122"/>
                <a:cs typeface="Calibri" pitchFamily="34" charset="-120"/>
              </a:rPr>
              <a:t>All information stored in a single table.</a:t>
            </a:r>
            <a:endParaRPr lang="en-US" sz="1150" dirty="0"/>
          </a:p>
        </p:txBody>
      </p:sp>
      <p:sp>
        <p:nvSpPr>
          <p:cNvPr id="15" name="Text 11"/>
          <p:cNvSpPr/>
          <p:nvPr/>
        </p:nvSpPr>
        <p:spPr>
          <a:xfrm>
            <a:off x="3520440" y="5257800"/>
            <a:ext cx="2286000" cy="457200"/>
          </a:xfrm>
          <a:prstGeom prst="rect">
            <a:avLst/>
          </a:prstGeom>
          <a:noFill/>
          <a:ln/>
        </p:spPr>
        <p:txBody>
          <a:bodyPr wrap="square" rtlCol="0" anchor="ctr"/>
          <a:lstStyle/>
          <a:p>
            <a:pPr marL="0" indent="0" algn="ctr">
              <a:buNone/>
            </a:pPr>
            <a:r>
              <a:rPr lang="en-US" sz="1100" i="1" dirty="0">
                <a:solidFill>
                  <a:srgbClr val="028090"/>
                </a:solidFill>
                <a:latin typeface="Calibri" pitchFamily="34" charset="0"/>
                <a:ea typeface="Calibri" pitchFamily="34" charset="-122"/>
                <a:cs typeface="Calibri" pitchFamily="34" charset="-120"/>
              </a:rPr>
              <a:t>Excel</a:t>
            </a:r>
            <a:endParaRPr lang="en-US" sz="1100" dirty="0"/>
          </a:p>
        </p:txBody>
      </p:sp>
      <p:sp>
        <p:nvSpPr>
          <p:cNvPr id="16" name="Shape 12"/>
          <p:cNvSpPr/>
          <p:nvPr/>
        </p:nvSpPr>
        <p:spPr>
          <a:xfrm>
            <a:off x="6217920" y="1691640"/>
            <a:ext cx="2560320" cy="4206240"/>
          </a:xfrm>
          <a:prstGeom prst="roundRect">
            <a:avLst>
              <a:gd name="adj" fmla="val 3571"/>
            </a:avLst>
          </a:prstGeom>
          <a:solidFill>
            <a:srgbClr val="F4FAF9"/>
          </a:solidFill>
          <a:ln/>
          <a:effectLst>
            <a:outerShdw blurRad="76200" dist="25400" dir="2700000" algn="bl" rotWithShape="0">
              <a:srgbClr val="000000">
                <a:alpha val="8000"/>
              </a:srgbClr>
            </a:outerShdw>
          </a:effectLst>
        </p:spPr>
      </p:sp>
      <p:sp>
        <p:nvSpPr>
          <p:cNvPr id="17" name="Shape 13"/>
          <p:cNvSpPr/>
          <p:nvPr/>
        </p:nvSpPr>
        <p:spPr>
          <a:xfrm>
            <a:off x="7086600" y="2011680"/>
            <a:ext cx="822960" cy="822960"/>
          </a:xfrm>
          <a:prstGeom prst="ellipse">
            <a:avLst/>
          </a:prstGeom>
          <a:solidFill>
            <a:srgbClr val="FFFFFF"/>
          </a:solidFill>
          <a:ln/>
        </p:spPr>
      </p:sp>
      <p:pic>
        <p:nvPicPr>
          <p:cNvPr id="18" name="Image 2" descr="preencoded.png"/>
          <p:cNvPicPr>
            <a:picLocks noChangeAspect="1"/>
          </p:cNvPicPr>
          <p:nvPr/>
        </p:nvPicPr>
        <p:blipFill>
          <a:blip r:embed="rId5"/>
          <a:stretch>
            <a:fillRect/>
          </a:stretch>
        </p:blipFill>
        <p:spPr>
          <a:xfrm>
            <a:off x="7251192" y="2176272"/>
            <a:ext cx="493776" cy="493776"/>
          </a:xfrm>
          <a:prstGeom prst="rect">
            <a:avLst/>
          </a:prstGeom>
        </p:spPr>
      </p:pic>
      <p:sp>
        <p:nvSpPr>
          <p:cNvPr id="19" name="Text 14"/>
          <p:cNvSpPr/>
          <p:nvPr/>
        </p:nvSpPr>
        <p:spPr>
          <a:xfrm>
            <a:off x="6355080" y="2971800"/>
            <a:ext cx="2286000" cy="457200"/>
          </a:xfrm>
          <a:prstGeom prst="rect">
            <a:avLst/>
          </a:prstGeom>
          <a:noFill/>
          <a:ln/>
        </p:spPr>
        <p:txBody>
          <a:bodyPr wrap="square" rtlCol="0" anchor="ctr"/>
          <a:lstStyle/>
          <a:p>
            <a:pPr marL="0" indent="0" algn="ctr">
              <a:buNone/>
            </a:pPr>
            <a:r>
              <a:rPr lang="en-US" sz="1500" b="1" dirty="0">
                <a:solidFill>
                  <a:srgbClr val="0B2E33"/>
                </a:solidFill>
                <a:latin typeface="Calibri" pitchFamily="34" charset="0"/>
                <a:ea typeface="Calibri" pitchFamily="34" charset="-122"/>
                <a:cs typeface="Calibri" pitchFamily="34" charset="-120"/>
              </a:rPr>
              <a:t>NoSQL DB</a:t>
            </a:r>
            <a:endParaRPr lang="en-US" sz="1500" dirty="0"/>
          </a:p>
        </p:txBody>
      </p:sp>
      <p:sp>
        <p:nvSpPr>
          <p:cNvPr id="20" name="Text 15"/>
          <p:cNvSpPr/>
          <p:nvPr/>
        </p:nvSpPr>
        <p:spPr>
          <a:xfrm>
            <a:off x="6400800" y="3474720"/>
            <a:ext cx="2194560" cy="1371600"/>
          </a:xfrm>
          <a:prstGeom prst="rect">
            <a:avLst/>
          </a:prstGeom>
          <a:noFill/>
          <a:ln/>
        </p:spPr>
        <p:txBody>
          <a:bodyPr wrap="square" rtlCol="0" anchor="t"/>
          <a:lstStyle/>
          <a:p>
            <a:pPr marL="0" indent="0" algn="ctr">
              <a:buNone/>
            </a:pPr>
            <a:r>
              <a:rPr lang="en-US" sz="1150" dirty="0">
                <a:solidFill>
                  <a:srgbClr val="1E293B"/>
                </a:solidFill>
                <a:latin typeface="Calibri" pitchFamily="34" charset="0"/>
                <a:ea typeface="Calibri" pitchFamily="34" charset="-122"/>
                <a:cs typeface="Calibri" pitchFamily="34" charset="-120"/>
              </a:rPr>
              <a:t>Stores unstructured data, often as files.</a:t>
            </a:r>
            <a:endParaRPr lang="en-US" sz="1150" dirty="0"/>
          </a:p>
        </p:txBody>
      </p:sp>
      <p:sp>
        <p:nvSpPr>
          <p:cNvPr id="21" name="Text 16"/>
          <p:cNvSpPr/>
          <p:nvPr/>
        </p:nvSpPr>
        <p:spPr>
          <a:xfrm>
            <a:off x="6355080" y="5257800"/>
            <a:ext cx="2286000" cy="457200"/>
          </a:xfrm>
          <a:prstGeom prst="rect">
            <a:avLst/>
          </a:prstGeom>
          <a:noFill/>
          <a:ln/>
        </p:spPr>
        <p:txBody>
          <a:bodyPr wrap="square" rtlCol="0" anchor="ctr"/>
          <a:lstStyle/>
          <a:p>
            <a:pPr marL="0" indent="0" algn="ctr">
              <a:buNone/>
            </a:pPr>
            <a:r>
              <a:rPr lang="en-US" sz="1100" i="1" dirty="0">
                <a:solidFill>
                  <a:srgbClr val="028090"/>
                </a:solidFill>
                <a:latin typeface="Calibri" pitchFamily="34" charset="0"/>
                <a:ea typeface="Calibri" pitchFamily="34" charset="-122"/>
                <a:cs typeface="Calibri" pitchFamily="34" charset="-120"/>
              </a:rPr>
              <a:t>MongoDB</a:t>
            </a:r>
            <a:endParaRPr lang="en-US" sz="1100" dirty="0"/>
          </a:p>
        </p:txBody>
      </p:sp>
      <p:sp>
        <p:nvSpPr>
          <p:cNvPr id="22" name="Shape 17"/>
          <p:cNvSpPr/>
          <p:nvPr/>
        </p:nvSpPr>
        <p:spPr>
          <a:xfrm>
            <a:off x="9052560" y="1691640"/>
            <a:ext cx="2560320" cy="4206240"/>
          </a:xfrm>
          <a:prstGeom prst="roundRect">
            <a:avLst>
              <a:gd name="adj" fmla="val 3571"/>
            </a:avLst>
          </a:prstGeom>
          <a:solidFill>
            <a:srgbClr val="F4FAF9"/>
          </a:solidFill>
          <a:ln/>
          <a:effectLst>
            <a:outerShdw blurRad="76200" dist="25400" dir="2700000" algn="bl" rotWithShape="0">
              <a:srgbClr val="000000">
                <a:alpha val="8000"/>
              </a:srgbClr>
            </a:outerShdw>
          </a:effectLst>
        </p:spPr>
      </p:sp>
      <p:sp>
        <p:nvSpPr>
          <p:cNvPr id="23" name="Shape 18"/>
          <p:cNvSpPr/>
          <p:nvPr/>
        </p:nvSpPr>
        <p:spPr>
          <a:xfrm>
            <a:off x="9921240" y="2011680"/>
            <a:ext cx="822960" cy="822960"/>
          </a:xfrm>
          <a:prstGeom prst="ellipse">
            <a:avLst/>
          </a:prstGeom>
          <a:solidFill>
            <a:srgbClr val="FFFFFF"/>
          </a:solidFill>
          <a:ln/>
        </p:spPr>
      </p:sp>
      <p:pic>
        <p:nvPicPr>
          <p:cNvPr id="24" name="Image 3" descr="preencoded.png"/>
          <p:cNvPicPr>
            <a:picLocks noChangeAspect="1"/>
          </p:cNvPicPr>
          <p:nvPr/>
        </p:nvPicPr>
        <p:blipFill>
          <a:blip r:embed="rId6"/>
          <a:stretch>
            <a:fillRect/>
          </a:stretch>
        </p:blipFill>
        <p:spPr>
          <a:xfrm>
            <a:off x="10085832" y="2176272"/>
            <a:ext cx="493776" cy="493776"/>
          </a:xfrm>
          <a:prstGeom prst="rect">
            <a:avLst/>
          </a:prstGeom>
        </p:spPr>
      </p:pic>
      <p:sp>
        <p:nvSpPr>
          <p:cNvPr id="25" name="Text 19"/>
          <p:cNvSpPr/>
          <p:nvPr/>
        </p:nvSpPr>
        <p:spPr>
          <a:xfrm>
            <a:off x="9189720" y="2971800"/>
            <a:ext cx="2286000" cy="457200"/>
          </a:xfrm>
          <a:prstGeom prst="rect">
            <a:avLst/>
          </a:prstGeom>
          <a:noFill/>
          <a:ln/>
        </p:spPr>
        <p:txBody>
          <a:bodyPr wrap="square" rtlCol="0" anchor="ctr"/>
          <a:lstStyle/>
          <a:p>
            <a:pPr marL="0" indent="0" algn="ctr">
              <a:buNone/>
            </a:pPr>
            <a:r>
              <a:rPr lang="en-US" sz="1500" b="1" dirty="0">
                <a:solidFill>
                  <a:srgbClr val="0B2E33"/>
                </a:solidFill>
                <a:latin typeface="Calibri" pitchFamily="34" charset="0"/>
                <a:ea typeface="Calibri" pitchFamily="34" charset="-122"/>
                <a:cs typeface="Calibri" pitchFamily="34" charset="-120"/>
              </a:rPr>
              <a:t>Cloud DB</a:t>
            </a:r>
            <a:endParaRPr lang="en-US" sz="1500" dirty="0"/>
          </a:p>
        </p:txBody>
      </p:sp>
      <p:sp>
        <p:nvSpPr>
          <p:cNvPr id="26" name="Text 20"/>
          <p:cNvSpPr/>
          <p:nvPr/>
        </p:nvSpPr>
        <p:spPr>
          <a:xfrm>
            <a:off x="9235440" y="3474720"/>
            <a:ext cx="2194560" cy="1371600"/>
          </a:xfrm>
          <a:prstGeom prst="rect">
            <a:avLst/>
          </a:prstGeom>
          <a:noFill/>
          <a:ln/>
        </p:spPr>
        <p:txBody>
          <a:bodyPr wrap="square" rtlCol="0" anchor="t"/>
          <a:lstStyle/>
          <a:p>
            <a:pPr marL="0" indent="0" algn="ctr">
              <a:buNone/>
            </a:pPr>
            <a:r>
              <a:rPr lang="en-US" sz="1150" dirty="0">
                <a:solidFill>
                  <a:srgbClr val="1E293B"/>
                </a:solidFill>
                <a:latin typeface="Calibri" pitchFamily="34" charset="0"/>
                <a:ea typeface="Calibri" pitchFamily="34" charset="-122"/>
                <a:cs typeface="Calibri" pitchFamily="34" charset="-120"/>
              </a:rPr>
              <a:t>Database hosted and managed on the cloud.</a:t>
            </a:r>
            <a:endParaRPr lang="en-US" sz="1150" dirty="0"/>
          </a:p>
        </p:txBody>
      </p:sp>
      <p:sp>
        <p:nvSpPr>
          <p:cNvPr id="27" name="Text 21"/>
          <p:cNvSpPr/>
          <p:nvPr/>
        </p:nvSpPr>
        <p:spPr>
          <a:xfrm>
            <a:off x="9189720" y="5257800"/>
            <a:ext cx="2286000" cy="457200"/>
          </a:xfrm>
          <a:prstGeom prst="rect">
            <a:avLst/>
          </a:prstGeom>
          <a:noFill/>
          <a:ln/>
        </p:spPr>
        <p:txBody>
          <a:bodyPr wrap="square" rtlCol="0" anchor="ctr"/>
          <a:lstStyle/>
          <a:p>
            <a:pPr marL="0" indent="0" algn="ctr">
              <a:buNone/>
            </a:pPr>
            <a:r>
              <a:rPr lang="en-US" sz="1100" i="1" dirty="0">
                <a:solidFill>
                  <a:srgbClr val="028090"/>
                </a:solidFill>
                <a:latin typeface="Calibri" pitchFamily="34" charset="0"/>
                <a:ea typeface="Calibri" pitchFamily="34" charset="-122"/>
                <a:cs typeface="Calibri" pitchFamily="34" charset="-120"/>
              </a:rPr>
              <a:t>AWS, Google Cloud, OneDrive</a:t>
            </a:r>
            <a:endParaRPr lang="en-US" sz="1100" dirty="0"/>
          </a:p>
        </p:txBody>
      </p:sp>
      <p:sp>
        <p:nvSpPr>
          <p:cNvPr id="28" name="Text 22"/>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246A-F7A5-9135-5052-9C799C742464}"/>
              </a:ext>
            </a:extLst>
          </p:cNvPr>
          <p:cNvSpPr>
            <a:spLocks noGrp="1"/>
          </p:cNvSpPr>
          <p:nvPr>
            <p:ph type="title"/>
          </p:nvPr>
        </p:nvSpPr>
        <p:spPr/>
        <p:txBody>
          <a:bodyPr/>
          <a:lstStyle/>
          <a:p>
            <a:r>
              <a:rPr lang="en-US" dirty="0" smtClean="0"/>
              <a:t>                       DATABASE</a:t>
            </a:r>
            <a:endParaRPr lang="en-IN" dirty="0"/>
          </a:p>
        </p:txBody>
      </p:sp>
      <p:sp>
        <p:nvSpPr>
          <p:cNvPr id="3" name="Content Placeholder 2">
            <a:extLst>
              <a:ext uri="{FF2B5EF4-FFF2-40B4-BE49-F238E27FC236}">
                <a16:creationId xmlns:a16="http://schemas.microsoft.com/office/drawing/2014/main" id="{1086AFF8-4EB6-AB1F-32F0-425AE5B70E90}"/>
              </a:ext>
            </a:extLst>
          </p:cNvPr>
          <p:cNvSpPr>
            <a:spLocks noGrp="1"/>
          </p:cNvSpPr>
          <p:nvPr>
            <p:ph sz="quarter" idx="13"/>
          </p:nvPr>
        </p:nvSpPr>
        <p:spPr/>
        <p:txBody>
          <a:bodyPr>
            <a:normAutofit/>
          </a:bodyPr>
          <a:lstStyle/>
          <a:p>
            <a:pPr algn="just"/>
            <a:r>
              <a:rPr lang="en-US" sz="2400" b="0" i="0" cap="none" dirty="0">
                <a:solidFill>
                  <a:srgbClr val="273239"/>
                </a:solidFill>
                <a:effectLst/>
                <a:latin typeface="Times New Roman" panose="02020603050405020304" pitchFamily="18" charset="0"/>
                <a:cs typeface="Times New Roman" panose="02020603050405020304" pitchFamily="18" charset="0"/>
              </a:rPr>
              <a:t>Database is a collection of interrelated data which helps in the efficient retrieval, insertion, and deletion of data from the database and organizes the data in the form of tables, views, schemas, reports, etc. </a:t>
            </a:r>
          </a:p>
          <a:p>
            <a:pPr algn="just"/>
            <a:r>
              <a:rPr lang="en-US" sz="2400" b="0" i="0" cap="none" dirty="0">
                <a:solidFill>
                  <a:srgbClr val="273239"/>
                </a:solidFill>
                <a:effectLst/>
                <a:latin typeface="Times New Roman" panose="02020603050405020304" pitchFamily="18" charset="0"/>
                <a:cs typeface="Times New Roman" panose="02020603050405020304" pitchFamily="18" charset="0"/>
              </a:rPr>
              <a:t>For example, a university database organizes the data about students, faculty, admin staff, etc. </a:t>
            </a:r>
          </a:p>
          <a:p>
            <a:pPr algn="just"/>
            <a:r>
              <a:rPr lang="en-US" sz="2400" b="0" i="0" cap="none" dirty="0">
                <a:solidFill>
                  <a:srgbClr val="273239"/>
                </a:solidFill>
                <a:effectLst/>
                <a:latin typeface="Times New Roman" panose="02020603050405020304" pitchFamily="18" charset="0"/>
                <a:cs typeface="Times New Roman" panose="02020603050405020304" pitchFamily="18" charset="0"/>
              </a:rPr>
              <a:t>Which helps in the efficient retrieval, insertion, and deletion of data from it.</a:t>
            </a:r>
            <a:endParaRPr lang="en-IN"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0957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DBMS — Database Management System</a:t>
            </a:r>
            <a:endParaRPr lang="en-US" sz="3000" dirty="0"/>
          </a:p>
        </p:txBody>
      </p:sp>
      <p:sp>
        <p:nvSpPr>
          <p:cNvPr id="3" name="Shape 1"/>
          <p:cNvSpPr/>
          <p:nvPr/>
        </p:nvSpPr>
        <p:spPr>
          <a:xfrm>
            <a:off x="640080" y="1645920"/>
            <a:ext cx="640080" cy="640080"/>
          </a:xfrm>
          <a:prstGeom prst="ellipse">
            <a:avLst/>
          </a:prstGeom>
          <a:solidFill>
            <a:srgbClr val="FFFFFF"/>
          </a:solidFill>
          <a:ln w="19050">
            <a:solidFill>
              <a:srgbClr val="028090"/>
            </a:solidFill>
            <a:prstDash val="solid"/>
          </a:ln>
        </p:spPr>
      </p:sp>
      <p:pic>
        <p:nvPicPr>
          <p:cNvPr id="4" name="Image 0" descr="preencoded.png"/>
          <p:cNvPicPr>
            <a:picLocks noChangeAspect="1"/>
          </p:cNvPicPr>
          <p:nvPr/>
        </p:nvPicPr>
        <p:blipFill>
          <a:blip r:embed="rId3"/>
          <a:stretch>
            <a:fillRect/>
          </a:stretch>
        </p:blipFill>
        <p:spPr>
          <a:xfrm>
            <a:off x="786384" y="1792224"/>
            <a:ext cx="347472" cy="347472"/>
          </a:xfrm>
          <a:prstGeom prst="rect">
            <a:avLst/>
          </a:prstGeom>
        </p:spPr>
      </p:pic>
      <p:sp>
        <p:nvSpPr>
          <p:cNvPr id="5" name="Text 2"/>
          <p:cNvSpPr/>
          <p:nvPr/>
        </p:nvSpPr>
        <p:spPr>
          <a:xfrm>
            <a:off x="1554480" y="1600200"/>
            <a:ext cx="9875520" cy="8686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An application software that allows users to create, define, manipulate, organize, process and analyze data in the database.</a:t>
            </a:r>
            <a:endParaRPr lang="en-US" sz="1500" dirty="0"/>
          </a:p>
        </p:txBody>
      </p:sp>
      <p:sp>
        <p:nvSpPr>
          <p:cNvPr id="6" name="Shape 3"/>
          <p:cNvSpPr/>
          <p:nvPr/>
        </p:nvSpPr>
        <p:spPr>
          <a:xfrm>
            <a:off x="640080" y="2788920"/>
            <a:ext cx="640080" cy="640080"/>
          </a:xfrm>
          <a:prstGeom prst="ellipse">
            <a:avLst/>
          </a:prstGeom>
          <a:solidFill>
            <a:srgbClr val="FFFFFF"/>
          </a:solidFill>
          <a:ln w="19050">
            <a:solidFill>
              <a:srgbClr val="028090"/>
            </a:solidFill>
            <a:prstDash val="solid"/>
          </a:ln>
        </p:spPr>
      </p:sp>
      <p:pic>
        <p:nvPicPr>
          <p:cNvPr id="7" name="Image 1" descr="preencoded.png"/>
          <p:cNvPicPr>
            <a:picLocks noChangeAspect="1"/>
          </p:cNvPicPr>
          <p:nvPr/>
        </p:nvPicPr>
        <p:blipFill>
          <a:blip r:embed="rId4"/>
          <a:stretch>
            <a:fillRect/>
          </a:stretch>
        </p:blipFill>
        <p:spPr>
          <a:xfrm>
            <a:off x="786384" y="2935224"/>
            <a:ext cx="347472" cy="347472"/>
          </a:xfrm>
          <a:prstGeom prst="rect">
            <a:avLst/>
          </a:prstGeom>
        </p:spPr>
      </p:pic>
      <p:sp>
        <p:nvSpPr>
          <p:cNvPr id="8" name="Text 4"/>
          <p:cNvSpPr/>
          <p:nvPr/>
        </p:nvSpPr>
        <p:spPr>
          <a:xfrm>
            <a:off x="1554480" y="2743200"/>
            <a:ext cx="9875520" cy="8686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Provides an interface to perform operations like creating a database, storing data into it, and updating data.</a:t>
            </a:r>
            <a:endParaRPr lang="en-US" sz="1500" dirty="0"/>
          </a:p>
        </p:txBody>
      </p:sp>
      <p:sp>
        <p:nvSpPr>
          <p:cNvPr id="9" name="Shape 5"/>
          <p:cNvSpPr/>
          <p:nvPr/>
        </p:nvSpPr>
        <p:spPr>
          <a:xfrm>
            <a:off x="640080" y="3931920"/>
            <a:ext cx="640080" cy="640080"/>
          </a:xfrm>
          <a:prstGeom prst="ellipse">
            <a:avLst/>
          </a:prstGeom>
          <a:solidFill>
            <a:srgbClr val="FFFFFF"/>
          </a:solidFill>
          <a:ln w="19050">
            <a:solidFill>
              <a:srgbClr val="028090"/>
            </a:solidFill>
            <a:prstDash val="solid"/>
          </a:ln>
        </p:spPr>
      </p:sp>
      <p:pic>
        <p:nvPicPr>
          <p:cNvPr id="10" name="Image 2" descr="preencoded.png"/>
          <p:cNvPicPr>
            <a:picLocks noChangeAspect="1"/>
          </p:cNvPicPr>
          <p:nvPr/>
        </p:nvPicPr>
        <p:blipFill>
          <a:blip r:embed="rId5"/>
          <a:stretch>
            <a:fillRect/>
          </a:stretch>
        </p:blipFill>
        <p:spPr>
          <a:xfrm>
            <a:off x="786384" y="4078224"/>
            <a:ext cx="347472" cy="347472"/>
          </a:xfrm>
          <a:prstGeom prst="rect">
            <a:avLst/>
          </a:prstGeom>
        </p:spPr>
      </p:pic>
      <p:sp>
        <p:nvSpPr>
          <p:cNvPr id="11" name="Text 6"/>
          <p:cNvSpPr/>
          <p:nvPr/>
        </p:nvSpPr>
        <p:spPr>
          <a:xfrm>
            <a:off x="1554480" y="3886200"/>
            <a:ext cx="9875520" cy="8686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Maintains consistency in the database — e.g., a balance transfer between accounts always keeps totals correct.</a:t>
            </a:r>
            <a:endParaRPr lang="en-US" sz="1500" dirty="0"/>
          </a:p>
        </p:txBody>
      </p:sp>
      <p:sp>
        <p:nvSpPr>
          <p:cNvPr id="12" name="Text 7"/>
          <p:cNvSpPr/>
          <p:nvPr/>
        </p:nvSpPr>
        <p:spPr>
          <a:xfrm>
            <a:off x="640080" y="5212080"/>
            <a:ext cx="5486400" cy="365760"/>
          </a:xfrm>
          <a:prstGeom prst="rect">
            <a:avLst/>
          </a:prstGeom>
          <a:noFill/>
          <a:ln/>
        </p:spPr>
        <p:txBody>
          <a:bodyPr wrap="square" rtlCol="0" anchor="ctr"/>
          <a:lstStyle/>
          <a:p>
            <a:pPr marL="0" indent="0">
              <a:buNone/>
            </a:pPr>
            <a:r>
              <a:rPr lang="en-US" sz="1400" b="1" dirty="0">
                <a:solidFill>
                  <a:srgbClr val="0B2E33"/>
                </a:solidFill>
                <a:latin typeface="Calibri" pitchFamily="34" charset="0"/>
                <a:ea typeface="Calibri" pitchFamily="34" charset="-122"/>
                <a:cs typeface="Calibri" pitchFamily="34" charset="-120"/>
              </a:rPr>
              <a:t>Popular DBMS Examples</a:t>
            </a:r>
            <a:endParaRPr lang="en-US" sz="1400" dirty="0"/>
          </a:p>
        </p:txBody>
      </p:sp>
      <p:sp>
        <p:nvSpPr>
          <p:cNvPr id="13" name="Text 8"/>
          <p:cNvSpPr/>
          <p:nvPr/>
        </p:nvSpPr>
        <p:spPr>
          <a:xfrm>
            <a:off x="640080" y="5577840"/>
            <a:ext cx="10607040" cy="457200"/>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MySQL  •  Oracle  •  PostgreSQL  •  IBM DB2  •  SQL Server  •  Amazon SimpleDB</a:t>
            </a:r>
            <a:endParaRPr lang="en-US" sz="1300" dirty="0"/>
          </a:p>
        </p:txBody>
      </p:sp>
      <p:sp>
        <p:nvSpPr>
          <p:cNvPr id="14" name="Text 9"/>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Advantages of DBMS</a:t>
            </a:r>
            <a:endParaRPr lang="en-US" sz="3000" dirty="0"/>
          </a:p>
        </p:txBody>
      </p:sp>
      <p:sp>
        <p:nvSpPr>
          <p:cNvPr id="3" name="Shape 1"/>
          <p:cNvSpPr/>
          <p:nvPr/>
        </p:nvSpPr>
        <p:spPr>
          <a:xfrm>
            <a:off x="548640" y="1554480"/>
            <a:ext cx="5394960" cy="1341120"/>
          </a:xfrm>
          <a:prstGeom prst="roundRect">
            <a:avLst>
              <a:gd name="adj" fmla="val 5455"/>
            </a:avLst>
          </a:prstGeom>
          <a:solidFill>
            <a:srgbClr val="F4FAF9"/>
          </a:solidFill>
          <a:ln/>
        </p:spPr>
      </p:sp>
      <p:pic>
        <p:nvPicPr>
          <p:cNvPr id="4" name="Image 0" descr="preencoded.png"/>
          <p:cNvPicPr>
            <a:picLocks noChangeAspect="1"/>
          </p:cNvPicPr>
          <p:nvPr/>
        </p:nvPicPr>
        <p:blipFill>
          <a:blip r:embed="rId3"/>
          <a:stretch>
            <a:fillRect/>
          </a:stretch>
        </p:blipFill>
        <p:spPr>
          <a:xfrm>
            <a:off x="713232" y="1691640"/>
            <a:ext cx="292608" cy="292608"/>
          </a:xfrm>
          <a:prstGeom prst="rect">
            <a:avLst/>
          </a:prstGeom>
        </p:spPr>
      </p:pic>
      <p:sp>
        <p:nvSpPr>
          <p:cNvPr id="5" name="Text 2"/>
          <p:cNvSpPr/>
          <p:nvPr/>
        </p:nvSpPr>
        <p:spPr>
          <a:xfrm>
            <a:off x="1097280" y="1627632"/>
            <a:ext cx="4663440" cy="365760"/>
          </a:xfrm>
          <a:prstGeom prst="rect">
            <a:avLst/>
          </a:prstGeom>
          <a:noFill/>
          <a:ln/>
        </p:spPr>
        <p:txBody>
          <a:bodyPr wrap="square"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1. Reduction of Redundancies</a:t>
            </a:r>
            <a:endParaRPr lang="en-US" sz="1300" dirty="0"/>
          </a:p>
        </p:txBody>
      </p:sp>
      <p:sp>
        <p:nvSpPr>
          <p:cNvPr id="6" name="Text 3"/>
          <p:cNvSpPr/>
          <p:nvPr/>
        </p:nvSpPr>
        <p:spPr>
          <a:xfrm>
            <a:off x="1097280" y="1993392"/>
            <a:ext cx="4663440" cy="838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Minimizes duplication of data across the system.</a:t>
            </a:r>
            <a:endParaRPr lang="en-US" sz="1100" dirty="0"/>
          </a:p>
        </p:txBody>
      </p:sp>
      <p:sp>
        <p:nvSpPr>
          <p:cNvPr id="7" name="Shape 4"/>
          <p:cNvSpPr/>
          <p:nvPr/>
        </p:nvSpPr>
        <p:spPr>
          <a:xfrm>
            <a:off x="6217920" y="1554480"/>
            <a:ext cx="5394960" cy="1341120"/>
          </a:xfrm>
          <a:prstGeom prst="roundRect">
            <a:avLst>
              <a:gd name="adj" fmla="val 5455"/>
            </a:avLst>
          </a:prstGeom>
          <a:solidFill>
            <a:srgbClr val="F4FAF9"/>
          </a:solidFill>
          <a:ln/>
        </p:spPr>
      </p:sp>
      <p:pic>
        <p:nvPicPr>
          <p:cNvPr id="8" name="Image 1" descr="preencoded.png"/>
          <p:cNvPicPr>
            <a:picLocks noChangeAspect="1"/>
          </p:cNvPicPr>
          <p:nvPr/>
        </p:nvPicPr>
        <p:blipFill>
          <a:blip r:embed="rId3"/>
          <a:stretch>
            <a:fillRect/>
          </a:stretch>
        </p:blipFill>
        <p:spPr>
          <a:xfrm>
            <a:off x="6382512" y="1691640"/>
            <a:ext cx="292608" cy="292608"/>
          </a:xfrm>
          <a:prstGeom prst="rect">
            <a:avLst/>
          </a:prstGeom>
        </p:spPr>
      </p:pic>
      <p:sp>
        <p:nvSpPr>
          <p:cNvPr id="9" name="Text 5"/>
          <p:cNvSpPr/>
          <p:nvPr/>
        </p:nvSpPr>
        <p:spPr>
          <a:xfrm>
            <a:off x="6766560" y="1627632"/>
            <a:ext cx="4663440" cy="365760"/>
          </a:xfrm>
          <a:prstGeom prst="rect">
            <a:avLst/>
          </a:prstGeom>
          <a:noFill/>
          <a:ln/>
        </p:spPr>
        <p:txBody>
          <a:bodyPr wrap="square"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2. Data Independence &amp; Efficient Access</a:t>
            </a:r>
            <a:endParaRPr lang="en-US" sz="1300" dirty="0"/>
          </a:p>
        </p:txBody>
      </p:sp>
      <p:sp>
        <p:nvSpPr>
          <p:cNvPr id="10" name="Text 6"/>
          <p:cNvSpPr/>
          <p:nvPr/>
        </p:nvSpPr>
        <p:spPr>
          <a:xfrm>
            <a:off x="6766560" y="1993392"/>
            <a:ext cx="4663440" cy="838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Physical storage details are independent from logical storage details.</a:t>
            </a:r>
            <a:endParaRPr lang="en-US" sz="1100" dirty="0"/>
          </a:p>
        </p:txBody>
      </p:sp>
      <p:sp>
        <p:nvSpPr>
          <p:cNvPr id="11" name="Shape 7"/>
          <p:cNvSpPr/>
          <p:nvPr/>
        </p:nvSpPr>
        <p:spPr>
          <a:xfrm>
            <a:off x="548640" y="3169920"/>
            <a:ext cx="5394960" cy="1341120"/>
          </a:xfrm>
          <a:prstGeom prst="roundRect">
            <a:avLst>
              <a:gd name="adj" fmla="val 5455"/>
            </a:avLst>
          </a:prstGeom>
          <a:solidFill>
            <a:srgbClr val="F4FAF9"/>
          </a:solidFill>
          <a:ln/>
        </p:spPr>
      </p:sp>
      <p:pic>
        <p:nvPicPr>
          <p:cNvPr id="12" name="Image 2" descr="preencoded.png"/>
          <p:cNvPicPr>
            <a:picLocks noChangeAspect="1"/>
          </p:cNvPicPr>
          <p:nvPr/>
        </p:nvPicPr>
        <p:blipFill>
          <a:blip r:embed="rId3"/>
          <a:stretch>
            <a:fillRect/>
          </a:stretch>
        </p:blipFill>
        <p:spPr>
          <a:xfrm>
            <a:off x="713232" y="3307080"/>
            <a:ext cx="292608" cy="292608"/>
          </a:xfrm>
          <a:prstGeom prst="rect">
            <a:avLst/>
          </a:prstGeom>
        </p:spPr>
      </p:pic>
      <p:sp>
        <p:nvSpPr>
          <p:cNvPr id="13" name="Text 8"/>
          <p:cNvSpPr/>
          <p:nvPr/>
        </p:nvSpPr>
        <p:spPr>
          <a:xfrm>
            <a:off x="1097280" y="3243072"/>
            <a:ext cx="4663440" cy="365760"/>
          </a:xfrm>
          <a:prstGeom prst="rect">
            <a:avLst/>
          </a:prstGeom>
          <a:noFill/>
          <a:ln/>
        </p:spPr>
        <p:txBody>
          <a:bodyPr wrap="square"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3. Data Integrity</a:t>
            </a:r>
            <a:endParaRPr lang="en-US" sz="1300" dirty="0"/>
          </a:p>
        </p:txBody>
      </p:sp>
      <p:sp>
        <p:nvSpPr>
          <p:cNvPr id="14" name="Text 9"/>
          <p:cNvSpPr/>
          <p:nvPr/>
        </p:nvSpPr>
        <p:spPr>
          <a:xfrm>
            <a:off x="1097280" y="3608832"/>
            <a:ext cx="4663440" cy="838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Data values are kept within a valid range, e.g. employee age between 22–45.</a:t>
            </a:r>
            <a:endParaRPr lang="en-US" sz="1100" dirty="0"/>
          </a:p>
        </p:txBody>
      </p:sp>
      <p:sp>
        <p:nvSpPr>
          <p:cNvPr id="15" name="Shape 10"/>
          <p:cNvSpPr/>
          <p:nvPr/>
        </p:nvSpPr>
        <p:spPr>
          <a:xfrm>
            <a:off x="6217920" y="3169920"/>
            <a:ext cx="5394960" cy="1341120"/>
          </a:xfrm>
          <a:prstGeom prst="roundRect">
            <a:avLst>
              <a:gd name="adj" fmla="val 5455"/>
            </a:avLst>
          </a:prstGeom>
          <a:solidFill>
            <a:srgbClr val="F4FAF9"/>
          </a:solidFill>
          <a:ln/>
        </p:spPr>
      </p:sp>
      <p:pic>
        <p:nvPicPr>
          <p:cNvPr id="16" name="Image 3" descr="preencoded.png"/>
          <p:cNvPicPr>
            <a:picLocks noChangeAspect="1"/>
          </p:cNvPicPr>
          <p:nvPr/>
        </p:nvPicPr>
        <p:blipFill>
          <a:blip r:embed="rId3"/>
          <a:stretch>
            <a:fillRect/>
          </a:stretch>
        </p:blipFill>
        <p:spPr>
          <a:xfrm>
            <a:off x="6382512" y="3307080"/>
            <a:ext cx="292608" cy="292608"/>
          </a:xfrm>
          <a:prstGeom prst="rect">
            <a:avLst/>
          </a:prstGeom>
        </p:spPr>
      </p:pic>
      <p:sp>
        <p:nvSpPr>
          <p:cNvPr id="17" name="Text 11"/>
          <p:cNvSpPr/>
          <p:nvPr/>
        </p:nvSpPr>
        <p:spPr>
          <a:xfrm>
            <a:off x="6766560" y="3243072"/>
            <a:ext cx="4663440" cy="365760"/>
          </a:xfrm>
          <a:prstGeom prst="rect">
            <a:avLst/>
          </a:prstGeom>
          <a:noFill/>
          <a:ln/>
        </p:spPr>
        <p:txBody>
          <a:bodyPr wrap="square"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4. Data Security</a:t>
            </a:r>
            <a:endParaRPr lang="en-US" sz="1300" dirty="0"/>
          </a:p>
        </p:txBody>
      </p:sp>
      <p:sp>
        <p:nvSpPr>
          <p:cNvPr id="18" name="Text 12"/>
          <p:cNvSpPr/>
          <p:nvPr/>
        </p:nvSpPr>
        <p:spPr>
          <a:xfrm>
            <a:off x="6766560" y="3608832"/>
            <a:ext cx="4663440" cy="838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Data is kept confidential; no access to unauthorized persons.</a:t>
            </a:r>
            <a:endParaRPr lang="en-US" sz="1100" dirty="0"/>
          </a:p>
        </p:txBody>
      </p:sp>
      <p:sp>
        <p:nvSpPr>
          <p:cNvPr id="19" name="Shape 13"/>
          <p:cNvSpPr/>
          <p:nvPr/>
        </p:nvSpPr>
        <p:spPr>
          <a:xfrm>
            <a:off x="548640" y="4785360"/>
            <a:ext cx="5394960" cy="1341120"/>
          </a:xfrm>
          <a:prstGeom prst="roundRect">
            <a:avLst>
              <a:gd name="adj" fmla="val 5455"/>
            </a:avLst>
          </a:prstGeom>
          <a:solidFill>
            <a:srgbClr val="F4FAF9"/>
          </a:solidFill>
          <a:ln/>
        </p:spPr>
      </p:sp>
      <p:pic>
        <p:nvPicPr>
          <p:cNvPr id="20" name="Image 4" descr="preencoded.png"/>
          <p:cNvPicPr>
            <a:picLocks noChangeAspect="1"/>
          </p:cNvPicPr>
          <p:nvPr/>
        </p:nvPicPr>
        <p:blipFill>
          <a:blip r:embed="rId3"/>
          <a:stretch>
            <a:fillRect/>
          </a:stretch>
        </p:blipFill>
        <p:spPr>
          <a:xfrm>
            <a:off x="713232" y="4922520"/>
            <a:ext cx="292608" cy="292608"/>
          </a:xfrm>
          <a:prstGeom prst="rect">
            <a:avLst/>
          </a:prstGeom>
        </p:spPr>
      </p:pic>
      <p:sp>
        <p:nvSpPr>
          <p:cNvPr id="21" name="Text 14"/>
          <p:cNvSpPr/>
          <p:nvPr/>
        </p:nvSpPr>
        <p:spPr>
          <a:xfrm>
            <a:off x="1097280" y="4858512"/>
            <a:ext cx="4663440" cy="365760"/>
          </a:xfrm>
          <a:prstGeom prst="rect">
            <a:avLst/>
          </a:prstGeom>
          <a:noFill/>
          <a:ln/>
        </p:spPr>
        <p:txBody>
          <a:bodyPr wrap="square"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5. Reduced Application Development Time</a:t>
            </a:r>
            <a:endParaRPr lang="en-US" sz="1300" dirty="0"/>
          </a:p>
        </p:txBody>
      </p:sp>
      <p:sp>
        <p:nvSpPr>
          <p:cNvPr id="22" name="Text 15"/>
          <p:cNvSpPr/>
          <p:nvPr/>
        </p:nvSpPr>
        <p:spPr>
          <a:xfrm>
            <a:off x="1097280" y="5224272"/>
            <a:ext cx="4663440" cy="838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Ready-made functionality speeds up app development.</a:t>
            </a:r>
            <a:endParaRPr lang="en-US" sz="1100" dirty="0"/>
          </a:p>
        </p:txBody>
      </p:sp>
      <p:sp>
        <p:nvSpPr>
          <p:cNvPr id="23" name="Shape 16"/>
          <p:cNvSpPr/>
          <p:nvPr/>
        </p:nvSpPr>
        <p:spPr>
          <a:xfrm>
            <a:off x="6217920" y="4785360"/>
            <a:ext cx="5394960" cy="1341120"/>
          </a:xfrm>
          <a:prstGeom prst="roundRect">
            <a:avLst>
              <a:gd name="adj" fmla="val 5455"/>
            </a:avLst>
          </a:prstGeom>
          <a:solidFill>
            <a:srgbClr val="F4FAF9"/>
          </a:solidFill>
          <a:ln/>
        </p:spPr>
      </p:sp>
      <p:pic>
        <p:nvPicPr>
          <p:cNvPr id="24" name="Image 5" descr="preencoded.png"/>
          <p:cNvPicPr>
            <a:picLocks noChangeAspect="1"/>
          </p:cNvPicPr>
          <p:nvPr/>
        </p:nvPicPr>
        <p:blipFill>
          <a:blip r:embed="rId3"/>
          <a:stretch>
            <a:fillRect/>
          </a:stretch>
        </p:blipFill>
        <p:spPr>
          <a:xfrm>
            <a:off x="6382512" y="4922520"/>
            <a:ext cx="292608" cy="292608"/>
          </a:xfrm>
          <a:prstGeom prst="rect">
            <a:avLst/>
          </a:prstGeom>
        </p:spPr>
      </p:pic>
      <p:sp>
        <p:nvSpPr>
          <p:cNvPr id="25" name="Text 17"/>
          <p:cNvSpPr/>
          <p:nvPr/>
        </p:nvSpPr>
        <p:spPr>
          <a:xfrm>
            <a:off x="6766560" y="4858512"/>
            <a:ext cx="4663440" cy="365760"/>
          </a:xfrm>
          <a:prstGeom prst="rect">
            <a:avLst/>
          </a:prstGeom>
          <a:noFill/>
          <a:ln/>
        </p:spPr>
        <p:txBody>
          <a:bodyPr wrap="square"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6. Data Administration</a:t>
            </a:r>
            <a:endParaRPr lang="en-US" sz="1300" dirty="0"/>
          </a:p>
        </p:txBody>
      </p:sp>
      <p:sp>
        <p:nvSpPr>
          <p:cNvPr id="26" name="Text 18"/>
          <p:cNvSpPr/>
          <p:nvPr/>
        </p:nvSpPr>
        <p:spPr>
          <a:xfrm>
            <a:off x="6766560" y="5224272"/>
            <a:ext cx="4663440" cy="838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Covers maintenance, backups, access permissions, monitoring, concurrency control &amp; crash recovery.</a:t>
            </a:r>
            <a:endParaRPr lang="en-US" sz="1100" dirty="0"/>
          </a:p>
        </p:txBody>
      </p:sp>
      <p:sp>
        <p:nvSpPr>
          <p:cNvPr id="27" name="Text 19"/>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Disadvantages of DBMS</a:t>
            </a:r>
            <a:endParaRPr lang="en-US" sz="3000" dirty="0"/>
          </a:p>
        </p:txBody>
      </p:sp>
      <p:pic>
        <p:nvPicPr>
          <p:cNvPr id="3" name="Image 0" descr="preencoded.png"/>
          <p:cNvPicPr>
            <a:picLocks noChangeAspect="1"/>
          </p:cNvPicPr>
          <p:nvPr/>
        </p:nvPicPr>
        <p:blipFill>
          <a:blip r:embed="rId3"/>
          <a:stretch>
            <a:fillRect/>
          </a:stretch>
        </p:blipFill>
        <p:spPr>
          <a:xfrm>
            <a:off x="640080" y="1645920"/>
            <a:ext cx="310896" cy="310896"/>
          </a:xfrm>
          <a:prstGeom prst="rect">
            <a:avLst/>
          </a:prstGeom>
        </p:spPr>
      </p:pic>
      <p:sp>
        <p:nvSpPr>
          <p:cNvPr id="4" name="Text 1"/>
          <p:cNvSpPr/>
          <p:nvPr/>
        </p:nvSpPr>
        <p:spPr>
          <a:xfrm>
            <a:off x="1143000" y="1600200"/>
            <a:ext cx="10332720" cy="868680"/>
          </a:xfrm>
          <a:prstGeom prst="rect">
            <a:avLst/>
          </a:prstGeom>
          <a:noFill/>
          <a:ln/>
        </p:spPr>
        <p:txBody>
          <a:bodyPr wrap="square" rtlCol="0" anchor="ctr"/>
          <a:lstStyle/>
          <a:p>
            <a:pPr marL="0" indent="0">
              <a:buNone/>
            </a:pPr>
            <a:r>
              <a:rPr lang="en-US" sz="1350" b="1" dirty="0">
                <a:solidFill>
                  <a:srgbClr val="0B2E33"/>
                </a:solidFill>
                <a:latin typeface="Calibri" pitchFamily="34" charset="0"/>
                <a:ea typeface="Calibri" pitchFamily="34" charset="-122"/>
                <a:cs typeface="Calibri" pitchFamily="34" charset="-120"/>
              </a:rPr>
              <a:t>1. Conversion Costs  —  </a:t>
            </a:r>
            <a:r>
              <a:rPr lang="en-US" sz="1350" dirty="0">
                <a:solidFill>
                  <a:srgbClr val="1E293B"/>
                </a:solidFill>
                <a:latin typeface="Calibri" pitchFamily="34" charset="0"/>
                <a:ea typeface="Calibri" pitchFamily="34" charset="-122"/>
                <a:cs typeface="Calibri" pitchFamily="34" charset="-120"/>
              </a:rPr>
              <a:t>Cost of converting older systems to modern database systems (e.g. school DB upgraded from 1985 to 2026 as students grew from 500 to 5,000).</a:t>
            </a:r>
            <a:endParaRPr lang="en-US" sz="1350" dirty="0"/>
          </a:p>
        </p:txBody>
      </p:sp>
      <p:pic>
        <p:nvPicPr>
          <p:cNvPr id="5" name="Image 1" descr="preencoded.png"/>
          <p:cNvPicPr>
            <a:picLocks noChangeAspect="1"/>
          </p:cNvPicPr>
          <p:nvPr/>
        </p:nvPicPr>
        <p:blipFill>
          <a:blip r:embed="rId3"/>
          <a:stretch>
            <a:fillRect/>
          </a:stretch>
        </p:blipFill>
        <p:spPr>
          <a:xfrm>
            <a:off x="640080" y="2514600"/>
            <a:ext cx="310896" cy="310896"/>
          </a:xfrm>
          <a:prstGeom prst="rect">
            <a:avLst/>
          </a:prstGeom>
        </p:spPr>
      </p:pic>
      <p:sp>
        <p:nvSpPr>
          <p:cNvPr id="6" name="Text 2"/>
          <p:cNvSpPr/>
          <p:nvPr/>
        </p:nvSpPr>
        <p:spPr>
          <a:xfrm>
            <a:off x="1143000" y="2468880"/>
            <a:ext cx="10332720" cy="868680"/>
          </a:xfrm>
          <a:prstGeom prst="rect">
            <a:avLst/>
          </a:prstGeom>
          <a:noFill/>
          <a:ln/>
        </p:spPr>
        <p:txBody>
          <a:bodyPr wrap="square" rtlCol="0" anchor="ctr"/>
          <a:lstStyle/>
          <a:p>
            <a:pPr marL="0" indent="0">
              <a:buNone/>
            </a:pPr>
            <a:r>
              <a:rPr lang="en-US" sz="1350" b="1" dirty="0">
                <a:solidFill>
                  <a:srgbClr val="0B2E33"/>
                </a:solidFill>
                <a:latin typeface="Calibri" pitchFamily="34" charset="0"/>
                <a:ea typeface="Calibri" pitchFamily="34" charset="-122"/>
                <a:cs typeface="Calibri" pitchFamily="34" charset="-120"/>
              </a:rPr>
              <a:t>2. Installation &amp; Management Cost  —  </a:t>
            </a:r>
            <a:r>
              <a:rPr lang="en-US" sz="1350" dirty="0">
                <a:solidFill>
                  <a:srgbClr val="1E293B"/>
                </a:solidFill>
                <a:latin typeface="Calibri" pitchFamily="34" charset="0"/>
                <a:ea typeface="Calibri" pitchFamily="34" charset="-122"/>
                <a:cs typeface="Calibri" pitchFamily="34" charset="-120"/>
              </a:rPr>
              <a:t>Setting up and managing a DBMS requires ongoing investment.</a:t>
            </a:r>
            <a:endParaRPr lang="en-US" sz="1350" dirty="0"/>
          </a:p>
        </p:txBody>
      </p:sp>
      <p:pic>
        <p:nvPicPr>
          <p:cNvPr id="7" name="Image 2" descr="preencoded.png"/>
          <p:cNvPicPr>
            <a:picLocks noChangeAspect="1"/>
          </p:cNvPicPr>
          <p:nvPr/>
        </p:nvPicPr>
        <p:blipFill>
          <a:blip r:embed="rId3"/>
          <a:stretch>
            <a:fillRect/>
          </a:stretch>
        </p:blipFill>
        <p:spPr>
          <a:xfrm>
            <a:off x="640080" y="3383280"/>
            <a:ext cx="310896" cy="310896"/>
          </a:xfrm>
          <a:prstGeom prst="rect">
            <a:avLst/>
          </a:prstGeom>
        </p:spPr>
      </p:pic>
      <p:sp>
        <p:nvSpPr>
          <p:cNvPr id="8" name="Text 3"/>
          <p:cNvSpPr/>
          <p:nvPr/>
        </p:nvSpPr>
        <p:spPr>
          <a:xfrm>
            <a:off x="1143000" y="3337560"/>
            <a:ext cx="10332720" cy="868680"/>
          </a:xfrm>
          <a:prstGeom prst="rect">
            <a:avLst/>
          </a:prstGeom>
          <a:noFill/>
          <a:ln/>
        </p:spPr>
        <p:txBody>
          <a:bodyPr wrap="square" rtlCol="0" anchor="ctr"/>
          <a:lstStyle/>
          <a:p>
            <a:pPr marL="0" indent="0">
              <a:buNone/>
            </a:pPr>
            <a:r>
              <a:rPr lang="en-US" sz="1350" b="1" dirty="0">
                <a:solidFill>
                  <a:srgbClr val="0B2E33"/>
                </a:solidFill>
                <a:latin typeface="Calibri" pitchFamily="34" charset="0"/>
                <a:ea typeface="Calibri" pitchFamily="34" charset="-122"/>
                <a:cs typeface="Calibri" pitchFamily="34" charset="-120"/>
              </a:rPr>
              <a:t>3. Need for Explicit Backup &amp; Recovery  —  </a:t>
            </a:r>
            <a:r>
              <a:rPr lang="en-US" sz="1350" dirty="0">
                <a:solidFill>
                  <a:srgbClr val="1E293B"/>
                </a:solidFill>
                <a:latin typeface="Calibri" pitchFamily="34" charset="0"/>
                <a:ea typeface="Calibri" pitchFamily="34" charset="-122"/>
                <a:cs typeface="Calibri" pitchFamily="34" charset="-120"/>
              </a:rPr>
              <a:t>Requires dedicated processes to safeguard data.</a:t>
            </a:r>
            <a:endParaRPr lang="en-US" sz="1350" dirty="0"/>
          </a:p>
        </p:txBody>
      </p:sp>
      <p:pic>
        <p:nvPicPr>
          <p:cNvPr id="9" name="Image 3" descr="preencoded.png"/>
          <p:cNvPicPr>
            <a:picLocks noChangeAspect="1"/>
          </p:cNvPicPr>
          <p:nvPr/>
        </p:nvPicPr>
        <p:blipFill>
          <a:blip r:embed="rId3"/>
          <a:stretch>
            <a:fillRect/>
          </a:stretch>
        </p:blipFill>
        <p:spPr>
          <a:xfrm>
            <a:off x="640080" y="4251960"/>
            <a:ext cx="310896" cy="310896"/>
          </a:xfrm>
          <a:prstGeom prst="rect">
            <a:avLst/>
          </a:prstGeom>
        </p:spPr>
      </p:pic>
      <p:sp>
        <p:nvSpPr>
          <p:cNvPr id="10" name="Text 4"/>
          <p:cNvSpPr/>
          <p:nvPr/>
        </p:nvSpPr>
        <p:spPr>
          <a:xfrm>
            <a:off x="1143000" y="4206240"/>
            <a:ext cx="10332720" cy="868680"/>
          </a:xfrm>
          <a:prstGeom prst="rect">
            <a:avLst/>
          </a:prstGeom>
          <a:noFill/>
          <a:ln/>
        </p:spPr>
        <p:txBody>
          <a:bodyPr wrap="square" rtlCol="0" anchor="ctr"/>
          <a:lstStyle/>
          <a:p>
            <a:pPr marL="0" indent="0">
              <a:buNone/>
            </a:pPr>
            <a:r>
              <a:rPr lang="en-US" sz="1350" b="1" dirty="0">
                <a:solidFill>
                  <a:srgbClr val="0B2E33"/>
                </a:solidFill>
                <a:latin typeface="Calibri" pitchFamily="34" charset="0"/>
                <a:ea typeface="Calibri" pitchFamily="34" charset="-122"/>
                <a:cs typeface="Calibri" pitchFamily="34" charset="-120"/>
              </a:rPr>
              <a:t>4. Security Breaches  —  </a:t>
            </a:r>
            <a:r>
              <a:rPr lang="en-US" sz="1350" dirty="0">
                <a:solidFill>
                  <a:srgbClr val="1E293B"/>
                </a:solidFill>
                <a:latin typeface="Calibri" pitchFamily="34" charset="0"/>
                <a:ea typeface="Calibri" pitchFamily="34" charset="-122"/>
                <a:cs typeface="Calibri" pitchFamily="34" charset="-120"/>
              </a:rPr>
              <a:t>Centralized data can be a target for breaches.</a:t>
            </a:r>
            <a:endParaRPr lang="en-US" sz="1350" dirty="0"/>
          </a:p>
        </p:txBody>
      </p:sp>
      <p:pic>
        <p:nvPicPr>
          <p:cNvPr id="11" name="Image 4" descr="preencoded.png"/>
          <p:cNvPicPr>
            <a:picLocks noChangeAspect="1"/>
          </p:cNvPicPr>
          <p:nvPr/>
        </p:nvPicPr>
        <p:blipFill>
          <a:blip r:embed="rId3"/>
          <a:stretch>
            <a:fillRect/>
          </a:stretch>
        </p:blipFill>
        <p:spPr>
          <a:xfrm>
            <a:off x="640080" y="5120640"/>
            <a:ext cx="310896" cy="310896"/>
          </a:xfrm>
          <a:prstGeom prst="rect">
            <a:avLst/>
          </a:prstGeom>
        </p:spPr>
      </p:pic>
      <p:sp>
        <p:nvSpPr>
          <p:cNvPr id="12" name="Text 5"/>
          <p:cNvSpPr/>
          <p:nvPr/>
        </p:nvSpPr>
        <p:spPr>
          <a:xfrm>
            <a:off x="1143000" y="5074920"/>
            <a:ext cx="10332720" cy="868680"/>
          </a:xfrm>
          <a:prstGeom prst="rect">
            <a:avLst/>
          </a:prstGeom>
          <a:noFill/>
          <a:ln/>
        </p:spPr>
        <p:txBody>
          <a:bodyPr wrap="square" rtlCol="0" anchor="ctr"/>
          <a:lstStyle/>
          <a:p>
            <a:pPr marL="0" indent="0">
              <a:buNone/>
            </a:pPr>
            <a:r>
              <a:rPr lang="en-US" sz="1350" b="1" dirty="0">
                <a:solidFill>
                  <a:srgbClr val="0B2E33"/>
                </a:solidFill>
                <a:latin typeface="Calibri" pitchFamily="34" charset="0"/>
                <a:ea typeface="Calibri" pitchFamily="34" charset="-122"/>
                <a:cs typeface="Calibri" pitchFamily="34" charset="-120"/>
              </a:rPr>
              <a:t>5. Need for Specialized Personnel  —  </a:t>
            </a:r>
            <a:r>
              <a:rPr lang="en-US" sz="1350" dirty="0">
                <a:solidFill>
                  <a:srgbClr val="1E293B"/>
                </a:solidFill>
                <a:latin typeface="Calibri" pitchFamily="34" charset="0"/>
                <a:ea typeface="Calibri" pitchFamily="34" charset="-122"/>
                <a:cs typeface="Calibri" pitchFamily="34" charset="-120"/>
              </a:rPr>
              <a:t>Requires new specialized staff to maintain the database.</a:t>
            </a:r>
            <a:endParaRPr lang="en-US" sz="1350" dirty="0"/>
          </a:p>
        </p:txBody>
      </p:sp>
      <p:sp>
        <p:nvSpPr>
          <p:cNvPr id="13" name="Text 6"/>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2E33"/>
        </a:solidFill>
        <a:effectLst/>
      </p:bgPr>
    </p:bg>
    <p:spTree>
      <p:nvGrpSpPr>
        <p:cNvPr id="1" name=""/>
        <p:cNvGrpSpPr/>
        <p:nvPr/>
      </p:nvGrpSpPr>
      <p:grpSpPr>
        <a:xfrm>
          <a:off x="0" y="0"/>
          <a:ext cx="0" cy="0"/>
          <a:chOff x="0" y="0"/>
          <a:chExt cx="0" cy="0"/>
        </a:xfrm>
      </p:grpSpPr>
      <p:sp>
        <p:nvSpPr>
          <p:cNvPr id="2" name="Shape 0"/>
          <p:cNvSpPr/>
          <p:nvPr/>
        </p:nvSpPr>
        <p:spPr>
          <a:xfrm>
            <a:off x="9875520" y="5029200"/>
            <a:ext cx="3657600" cy="3657600"/>
          </a:xfrm>
          <a:prstGeom prst="ellipse">
            <a:avLst/>
          </a:prstGeom>
          <a:solidFill>
            <a:srgbClr val="028090">
              <a:alpha val="15000"/>
            </a:srgbClr>
          </a:solidFill>
          <a:ln/>
        </p:spPr>
      </p:sp>
      <p:sp>
        <p:nvSpPr>
          <p:cNvPr id="3" name="Text 1"/>
          <p:cNvSpPr/>
          <p:nvPr/>
        </p:nvSpPr>
        <p:spPr>
          <a:xfrm>
            <a:off x="548640" y="45720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Applications of DBMS</a:t>
            </a:r>
            <a:endParaRPr lang="en-US" sz="3000" dirty="0"/>
          </a:p>
        </p:txBody>
      </p:sp>
      <p:sp>
        <p:nvSpPr>
          <p:cNvPr id="4" name="Shape 2"/>
          <p:cNvSpPr/>
          <p:nvPr/>
        </p:nvSpPr>
        <p:spPr>
          <a:xfrm>
            <a:off x="548640" y="1463040"/>
            <a:ext cx="3444240" cy="2057400"/>
          </a:xfrm>
          <a:prstGeom prst="roundRect">
            <a:avLst>
              <a:gd name="adj" fmla="val 4444"/>
            </a:avLst>
          </a:prstGeom>
          <a:solidFill>
            <a:srgbClr val="0E3A40"/>
          </a:solidFill>
          <a:ln/>
        </p:spPr>
      </p:sp>
      <p:sp>
        <p:nvSpPr>
          <p:cNvPr id="5" name="Shape 3"/>
          <p:cNvSpPr/>
          <p:nvPr/>
        </p:nvSpPr>
        <p:spPr>
          <a:xfrm>
            <a:off x="777240" y="1691640"/>
            <a:ext cx="548640" cy="548640"/>
          </a:xfrm>
          <a:prstGeom prst="ellipse">
            <a:avLst/>
          </a:prstGeom>
          <a:solidFill>
            <a:srgbClr val="028090"/>
          </a:solidFill>
          <a:ln/>
        </p:spPr>
      </p:sp>
      <p:pic>
        <p:nvPicPr>
          <p:cNvPr id="6" name="Image 0" descr="preencoded.png"/>
          <p:cNvPicPr>
            <a:picLocks noChangeAspect="1"/>
          </p:cNvPicPr>
          <p:nvPr/>
        </p:nvPicPr>
        <p:blipFill>
          <a:blip r:embed="rId3"/>
          <a:stretch>
            <a:fillRect/>
          </a:stretch>
        </p:blipFill>
        <p:spPr>
          <a:xfrm>
            <a:off x="914400" y="1828800"/>
            <a:ext cx="274320" cy="274320"/>
          </a:xfrm>
          <a:prstGeom prst="rect">
            <a:avLst/>
          </a:prstGeom>
        </p:spPr>
      </p:pic>
      <p:sp>
        <p:nvSpPr>
          <p:cNvPr id="7" name="Text 4"/>
          <p:cNvSpPr/>
          <p:nvPr/>
        </p:nvSpPr>
        <p:spPr>
          <a:xfrm>
            <a:off x="1463040" y="1664208"/>
            <a:ext cx="2346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Banking</a:t>
            </a:r>
            <a:endParaRPr lang="en-US" sz="1400" dirty="0"/>
          </a:p>
        </p:txBody>
      </p:sp>
      <p:sp>
        <p:nvSpPr>
          <p:cNvPr id="8" name="Text 5"/>
          <p:cNvSpPr/>
          <p:nvPr/>
        </p:nvSpPr>
        <p:spPr>
          <a:xfrm>
            <a:off x="777240" y="2331720"/>
            <a:ext cx="2987040" cy="1143000"/>
          </a:xfrm>
          <a:prstGeom prst="rect">
            <a:avLst/>
          </a:prstGeom>
          <a:noFill/>
          <a:ln/>
        </p:spPr>
        <p:txBody>
          <a:bodyPr wrap="square" rtlCol="0" anchor="ctr"/>
          <a:lstStyle/>
          <a:p>
            <a:pPr marL="0" indent="0">
              <a:buNone/>
            </a:pPr>
            <a:r>
              <a:rPr lang="en-US" sz="1050" dirty="0">
                <a:solidFill>
                  <a:srgbClr val="B8D8D6"/>
                </a:solidFill>
                <a:latin typeface="Calibri" pitchFamily="34" charset="0"/>
                <a:ea typeface="Calibri" pitchFamily="34" charset="-122"/>
                <a:cs typeface="Calibri" pitchFamily="34" charset="-120"/>
              </a:rPr>
              <a:t>Customer info, accounts, loans, transactions.</a:t>
            </a:r>
            <a:endParaRPr lang="en-US" sz="1050" dirty="0"/>
          </a:p>
        </p:txBody>
      </p:sp>
      <p:sp>
        <p:nvSpPr>
          <p:cNvPr id="9" name="Shape 6"/>
          <p:cNvSpPr/>
          <p:nvPr/>
        </p:nvSpPr>
        <p:spPr>
          <a:xfrm>
            <a:off x="4358640" y="1463040"/>
            <a:ext cx="3444240" cy="2057400"/>
          </a:xfrm>
          <a:prstGeom prst="roundRect">
            <a:avLst>
              <a:gd name="adj" fmla="val 4444"/>
            </a:avLst>
          </a:prstGeom>
          <a:solidFill>
            <a:srgbClr val="0E3A40"/>
          </a:solidFill>
          <a:ln/>
        </p:spPr>
      </p:sp>
      <p:sp>
        <p:nvSpPr>
          <p:cNvPr id="10" name="Shape 7"/>
          <p:cNvSpPr/>
          <p:nvPr/>
        </p:nvSpPr>
        <p:spPr>
          <a:xfrm>
            <a:off x="4587240" y="1691640"/>
            <a:ext cx="548640" cy="548640"/>
          </a:xfrm>
          <a:prstGeom prst="ellipse">
            <a:avLst/>
          </a:prstGeom>
          <a:solidFill>
            <a:srgbClr val="028090"/>
          </a:solidFill>
          <a:ln/>
        </p:spPr>
      </p:sp>
      <p:pic>
        <p:nvPicPr>
          <p:cNvPr id="11" name="Image 1" descr="preencoded.png"/>
          <p:cNvPicPr>
            <a:picLocks noChangeAspect="1"/>
          </p:cNvPicPr>
          <p:nvPr/>
        </p:nvPicPr>
        <p:blipFill>
          <a:blip r:embed="rId4"/>
          <a:stretch>
            <a:fillRect/>
          </a:stretch>
        </p:blipFill>
        <p:spPr>
          <a:xfrm>
            <a:off x="4724400" y="1828800"/>
            <a:ext cx="274320" cy="274320"/>
          </a:xfrm>
          <a:prstGeom prst="rect">
            <a:avLst/>
          </a:prstGeom>
        </p:spPr>
      </p:pic>
      <p:sp>
        <p:nvSpPr>
          <p:cNvPr id="12" name="Text 8"/>
          <p:cNvSpPr/>
          <p:nvPr/>
        </p:nvSpPr>
        <p:spPr>
          <a:xfrm>
            <a:off x="5273040" y="1664208"/>
            <a:ext cx="2346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Airlines</a:t>
            </a:r>
            <a:endParaRPr lang="en-US" sz="1400" dirty="0"/>
          </a:p>
        </p:txBody>
      </p:sp>
      <p:sp>
        <p:nvSpPr>
          <p:cNvPr id="13" name="Text 9"/>
          <p:cNvSpPr/>
          <p:nvPr/>
        </p:nvSpPr>
        <p:spPr>
          <a:xfrm>
            <a:off x="4587240" y="2331720"/>
            <a:ext cx="2987040" cy="1143000"/>
          </a:xfrm>
          <a:prstGeom prst="rect">
            <a:avLst/>
          </a:prstGeom>
          <a:noFill/>
          <a:ln/>
        </p:spPr>
        <p:txBody>
          <a:bodyPr wrap="square" rtlCol="0" anchor="ctr"/>
          <a:lstStyle/>
          <a:p>
            <a:pPr marL="0" indent="0">
              <a:buNone/>
            </a:pPr>
            <a:r>
              <a:rPr lang="en-US" sz="1050" dirty="0">
                <a:solidFill>
                  <a:srgbClr val="B8D8D6"/>
                </a:solidFill>
                <a:latin typeface="Calibri" pitchFamily="34" charset="0"/>
                <a:ea typeface="Calibri" pitchFamily="34" charset="-122"/>
                <a:cs typeface="Calibri" pitchFamily="34" charset="-120"/>
              </a:rPr>
              <a:t>Reservations, schedules, cancellations.</a:t>
            </a:r>
            <a:endParaRPr lang="en-US" sz="1050" dirty="0"/>
          </a:p>
        </p:txBody>
      </p:sp>
      <p:sp>
        <p:nvSpPr>
          <p:cNvPr id="14" name="Shape 10"/>
          <p:cNvSpPr/>
          <p:nvPr/>
        </p:nvSpPr>
        <p:spPr>
          <a:xfrm>
            <a:off x="8168640" y="1463040"/>
            <a:ext cx="3444240" cy="2057400"/>
          </a:xfrm>
          <a:prstGeom prst="roundRect">
            <a:avLst>
              <a:gd name="adj" fmla="val 4444"/>
            </a:avLst>
          </a:prstGeom>
          <a:solidFill>
            <a:srgbClr val="0E3A40"/>
          </a:solidFill>
          <a:ln/>
        </p:spPr>
      </p:sp>
      <p:sp>
        <p:nvSpPr>
          <p:cNvPr id="15" name="Shape 11"/>
          <p:cNvSpPr/>
          <p:nvPr/>
        </p:nvSpPr>
        <p:spPr>
          <a:xfrm>
            <a:off x="8397240" y="1691640"/>
            <a:ext cx="548640" cy="548640"/>
          </a:xfrm>
          <a:prstGeom prst="ellipse">
            <a:avLst/>
          </a:prstGeom>
          <a:solidFill>
            <a:srgbClr val="028090"/>
          </a:solidFill>
          <a:ln/>
        </p:spPr>
      </p:sp>
      <p:pic>
        <p:nvPicPr>
          <p:cNvPr id="16" name="Image 2" descr="preencoded.png"/>
          <p:cNvPicPr>
            <a:picLocks noChangeAspect="1"/>
          </p:cNvPicPr>
          <p:nvPr/>
        </p:nvPicPr>
        <p:blipFill>
          <a:blip r:embed="rId5"/>
          <a:stretch>
            <a:fillRect/>
          </a:stretch>
        </p:blipFill>
        <p:spPr>
          <a:xfrm>
            <a:off x="8534400" y="1828800"/>
            <a:ext cx="274320" cy="274320"/>
          </a:xfrm>
          <a:prstGeom prst="rect">
            <a:avLst/>
          </a:prstGeom>
        </p:spPr>
      </p:pic>
      <p:sp>
        <p:nvSpPr>
          <p:cNvPr id="17" name="Text 12"/>
          <p:cNvSpPr/>
          <p:nvPr/>
        </p:nvSpPr>
        <p:spPr>
          <a:xfrm>
            <a:off x="9083040" y="1664208"/>
            <a:ext cx="2346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Education</a:t>
            </a:r>
            <a:endParaRPr lang="en-US" sz="1400" dirty="0"/>
          </a:p>
        </p:txBody>
      </p:sp>
      <p:sp>
        <p:nvSpPr>
          <p:cNvPr id="18" name="Text 13"/>
          <p:cNvSpPr/>
          <p:nvPr/>
        </p:nvSpPr>
        <p:spPr>
          <a:xfrm>
            <a:off x="8397240" y="2331720"/>
            <a:ext cx="2987040" cy="1143000"/>
          </a:xfrm>
          <a:prstGeom prst="rect">
            <a:avLst/>
          </a:prstGeom>
          <a:noFill/>
          <a:ln/>
        </p:spPr>
        <p:txBody>
          <a:bodyPr wrap="square" rtlCol="0" anchor="ctr"/>
          <a:lstStyle/>
          <a:p>
            <a:pPr marL="0" indent="0">
              <a:buNone/>
            </a:pPr>
            <a:r>
              <a:rPr lang="en-US" sz="1050" dirty="0">
                <a:solidFill>
                  <a:srgbClr val="B8D8D6"/>
                </a:solidFill>
                <a:latin typeface="Calibri" pitchFamily="34" charset="0"/>
                <a:ea typeface="Calibri" pitchFamily="34" charset="-122"/>
                <a:cs typeface="Calibri" pitchFamily="34" charset="-120"/>
              </a:rPr>
              <a:t>Student, faculty &amp; admin records.</a:t>
            </a:r>
            <a:endParaRPr lang="en-US" sz="1050" dirty="0"/>
          </a:p>
        </p:txBody>
      </p:sp>
      <p:sp>
        <p:nvSpPr>
          <p:cNvPr id="19" name="Shape 14"/>
          <p:cNvSpPr/>
          <p:nvPr/>
        </p:nvSpPr>
        <p:spPr>
          <a:xfrm>
            <a:off x="548640" y="3886200"/>
            <a:ext cx="3444240" cy="2057400"/>
          </a:xfrm>
          <a:prstGeom prst="roundRect">
            <a:avLst>
              <a:gd name="adj" fmla="val 4444"/>
            </a:avLst>
          </a:prstGeom>
          <a:solidFill>
            <a:srgbClr val="0E3A40"/>
          </a:solidFill>
          <a:ln/>
        </p:spPr>
      </p:sp>
      <p:sp>
        <p:nvSpPr>
          <p:cNvPr id="20" name="Shape 15"/>
          <p:cNvSpPr/>
          <p:nvPr/>
        </p:nvSpPr>
        <p:spPr>
          <a:xfrm>
            <a:off x="777240" y="4114800"/>
            <a:ext cx="548640" cy="548640"/>
          </a:xfrm>
          <a:prstGeom prst="ellipse">
            <a:avLst/>
          </a:prstGeom>
          <a:solidFill>
            <a:srgbClr val="028090"/>
          </a:solidFill>
          <a:ln/>
        </p:spPr>
      </p:sp>
      <p:pic>
        <p:nvPicPr>
          <p:cNvPr id="21" name="Image 3" descr="preencoded.png"/>
          <p:cNvPicPr>
            <a:picLocks noChangeAspect="1"/>
          </p:cNvPicPr>
          <p:nvPr/>
        </p:nvPicPr>
        <p:blipFill>
          <a:blip r:embed="rId6"/>
          <a:stretch>
            <a:fillRect/>
          </a:stretch>
        </p:blipFill>
        <p:spPr>
          <a:xfrm>
            <a:off x="914400" y="4251960"/>
            <a:ext cx="274320" cy="274320"/>
          </a:xfrm>
          <a:prstGeom prst="rect">
            <a:avLst/>
          </a:prstGeom>
        </p:spPr>
      </p:pic>
      <p:sp>
        <p:nvSpPr>
          <p:cNvPr id="22" name="Text 16"/>
          <p:cNvSpPr/>
          <p:nvPr/>
        </p:nvSpPr>
        <p:spPr>
          <a:xfrm>
            <a:off x="1463040" y="4087368"/>
            <a:ext cx="2346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Telecommunication</a:t>
            </a:r>
            <a:endParaRPr lang="en-US" sz="1400" dirty="0"/>
          </a:p>
        </p:txBody>
      </p:sp>
      <p:sp>
        <p:nvSpPr>
          <p:cNvPr id="23" name="Text 17"/>
          <p:cNvSpPr/>
          <p:nvPr/>
        </p:nvSpPr>
        <p:spPr>
          <a:xfrm>
            <a:off x="777240" y="4754880"/>
            <a:ext cx="2987040" cy="1143000"/>
          </a:xfrm>
          <a:prstGeom prst="rect">
            <a:avLst/>
          </a:prstGeom>
          <a:noFill/>
          <a:ln/>
        </p:spPr>
        <p:txBody>
          <a:bodyPr wrap="square" rtlCol="0" anchor="ctr"/>
          <a:lstStyle/>
          <a:p>
            <a:pPr marL="0" indent="0">
              <a:buNone/>
            </a:pPr>
            <a:r>
              <a:rPr lang="en-US" sz="1050" dirty="0">
                <a:solidFill>
                  <a:srgbClr val="B8D8D6"/>
                </a:solidFill>
                <a:latin typeface="Calibri" pitchFamily="34" charset="0"/>
                <a:ea typeface="Calibri" pitchFamily="34" charset="-122"/>
                <a:cs typeface="Calibri" pitchFamily="34" charset="-120"/>
              </a:rPr>
              <a:t>Call records, billing, networks.</a:t>
            </a:r>
            <a:endParaRPr lang="en-US" sz="1050" dirty="0"/>
          </a:p>
        </p:txBody>
      </p:sp>
      <p:sp>
        <p:nvSpPr>
          <p:cNvPr id="24" name="Shape 18"/>
          <p:cNvSpPr/>
          <p:nvPr/>
        </p:nvSpPr>
        <p:spPr>
          <a:xfrm>
            <a:off x="4358640" y="3886200"/>
            <a:ext cx="3444240" cy="2057400"/>
          </a:xfrm>
          <a:prstGeom prst="roundRect">
            <a:avLst>
              <a:gd name="adj" fmla="val 4444"/>
            </a:avLst>
          </a:prstGeom>
          <a:solidFill>
            <a:srgbClr val="0E3A40"/>
          </a:solidFill>
          <a:ln/>
        </p:spPr>
      </p:sp>
      <p:sp>
        <p:nvSpPr>
          <p:cNvPr id="25" name="Shape 19"/>
          <p:cNvSpPr/>
          <p:nvPr/>
        </p:nvSpPr>
        <p:spPr>
          <a:xfrm>
            <a:off x="4587240" y="4114800"/>
            <a:ext cx="548640" cy="548640"/>
          </a:xfrm>
          <a:prstGeom prst="ellipse">
            <a:avLst/>
          </a:prstGeom>
          <a:solidFill>
            <a:srgbClr val="028090"/>
          </a:solidFill>
          <a:ln/>
        </p:spPr>
      </p:sp>
      <p:pic>
        <p:nvPicPr>
          <p:cNvPr id="26" name="Image 4" descr="preencoded.png"/>
          <p:cNvPicPr>
            <a:picLocks noChangeAspect="1"/>
          </p:cNvPicPr>
          <p:nvPr/>
        </p:nvPicPr>
        <p:blipFill>
          <a:blip r:embed="rId7"/>
          <a:stretch>
            <a:fillRect/>
          </a:stretch>
        </p:blipFill>
        <p:spPr>
          <a:xfrm>
            <a:off x="4724400" y="4251960"/>
            <a:ext cx="274320" cy="274320"/>
          </a:xfrm>
          <a:prstGeom prst="rect">
            <a:avLst/>
          </a:prstGeom>
        </p:spPr>
      </p:pic>
      <p:sp>
        <p:nvSpPr>
          <p:cNvPr id="27" name="Text 20"/>
          <p:cNvSpPr/>
          <p:nvPr/>
        </p:nvSpPr>
        <p:spPr>
          <a:xfrm>
            <a:off x="5273040" y="4087368"/>
            <a:ext cx="2346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Finance</a:t>
            </a:r>
            <a:endParaRPr lang="en-US" sz="1400" dirty="0"/>
          </a:p>
        </p:txBody>
      </p:sp>
      <p:sp>
        <p:nvSpPr>
          <p:cNvPr id="28" name="Text 21"/>
          <p:cNvSpPr/>
          <p:nvPr/>
        </p:nvSpPr>
        <p:spPr>
          <a:xfrm>
            <a:off x="4587240" y="4754880"/>
            <a:ext cx="2987040" cy="1143000"/>
          </a:xfrm>
          <a:prstGeom prst="rect">
            <a:avLst/>
          </a:prstGeom>
          <a:noFill/>
          <a:ln/>
        </p:spPr>
        <p:txBody>
          <a:bodyPr wrap="square" rtlCol="0" anchor="ctr"/>
          <a:lstStyle/>
          <a:p>
            <a:pPr marL="0" indent="0">
              <a:buNone/>
            </a:pPr>
            <a:r>
              <a:rPr lang="en-US" sz="1050" dirty="0">
                <a:solidFill>
                  <a:srgbClr val="B8D8D6"/>
                </a:solidFill>
                <a:latin typeface="Calibri" pitchFamily="34" charset="0"/>
                <a:ea typeface="Calibri" pitchFamily="34" charset="-122"/>
                <a:cs typeface="Calibri" pitchFamily="34" charset="-120"/>
              </a:rPr>
              <a:t>Sales, holdings, transactions.</a:t>
            </a:r>
            <a:endParaRPr lang="en-US" sz="1050" dirty="0"/>
          </a:p>
        </p:txBody>
      </p:sp>
      <p:sp>
        <p:nvSpPr>
          <p:cNvPr id="29" name="Shape 22"/>
          <p:cNvSpPr/>
          <p:nvPr/>
        </p:nvSpPr>
        <p:spPr>
          <a:xfrm>
            <a:off x="8168640" y="3886200"/>
            <a:ext cx="3444240" cy="2057400"/>
          </a:xfrm>
          <a:prstGeom prst="roundRect">
            <a:avLst>
              <a:gd name="adj" fmla="val 4444"/>
            </a:avLst>
          </a:prstGeom>
          <a:solidFill>
            <a:srgbClr val="0E3A40"/>
          </a:solidFill>
          <a:ln/>
        </p:spPr>
      </p:sp>
      <p:sp>
        <p:nvSpPr>
          <p:cNvPr id="30" name="Shape 23"/>
          <p:cNvSpPr/>
          <p:nvPr/>
        </p:nvSpPr>
        <p:spPr>
          <a:xfrm>
            <a:off x="8397240" y="4114800"/>
            <a:ext cx="548640" cy="548640"/>
          </a:xfrm>
          <a:prstGeom prst="ellipse">
            <a:avLst/>
          </a:prstGeom>
          <a:solidFill>
            <a:srgbClr val="028090"/>
          </a:solidFill>
          <a:ln/>
        </p:spPr>
      </p:sp>
      <p:pic>
        <p:nvPicPr>
          <p:cNvPr id="31" name="Image 5" descr="preencoded.png"/>
          <p:cNvPicPr>
            <a:picLocks noChangeAspect="1"/>
          </p:cNvPicPr>
          <p:nvPr/>
        </p:nvPicPr>
        <p:blipFill>
          <a:blip r:embed="rId8"/>
          <a:stretch>
            <a:fillRect/>
          </a:stretch>
        </p:blipFill>
        <p:spPr>
          <a:xfrm>
            <a:off x="8534400" y="4251960"/>
            <a:ext cx="274320" cy="274320"/>
          </a:xfrm>
          <a:prstGeom prst="rect">
            <a:avLst/>
          </a:prstGeom>
        </p:spPr>
      </p:pic>
      <p:sp>
        <p:nvSpPr>
          <p:cNvPr id="32" name="Text 24"/>
          <p:cNvSpPr/>
          <p:nvPr/>
        </p:nvSpPr>
        <p:spPr>
          <a:xfrm>
            <a:off x="9083040" y="4087368"/>
            <a:ext cx="2346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Human Resources</a:t>
            </a:r>
            <a:endParaRPr lang="en-US" sz="1400" dirty="0"/>
          </a:p>
        </p:txBody>
      </p:sp>
      <p:sp>
        <p:nvSpPr>
          <p:cNvPr id="33" name="Text 25"/>
          <p:cNvSpPr/>
          <p:nvPr/>
        </p:nvSpPr>
        <p:spPr>
          <a:xfrm>
            <a:off x="8397240" y="4754880"/>
            <a:ext cx="2987040" cy="1143000"/>
          </a:xfrm>
          <a:prstGeom prst="rect">
            <a:avLst/>
          </a:prstGeom>
          <a:noFill/>
          <a:ln/>
        </p:spPr>
        <p:txBody>
          <a:bodyPr wrap="square" rtlCol="0" anchor="ctr"/>
          <a:lstStyle/>
          <a:p>
            <a:pPr marL="0" indent="0">
              <a:buNone/>
            </a:pPr>
            <a:r>
              <a:rPr lang="en-US" sz="1050" dirty="0">
                <a:solidFill>
                  <a:srgbClr val="B8D8D6"/>
                </a:solidFill>
                <a:latin typeface="Calibri" pitchFamily="34" charset="0"/>
                <a:ea typeface="Calibri" pitchFamily="34" charset="-122"/>
                <a:cs typeface="Calibri" pitchFamily="34" charset="-120"/>
              </a:rPr>
              <a:t>Employee records, payroll, salaries.</a:t>
            </a:r>
            <a:endParaRPr lang="en-US" sz="1050" dirty="0"/>
          </a:p>
        </p:txBody>
      </p:sp>
      <p:sp>
        <p:nvSpPr>
          <p:cNvPr id="34" name="Text 26"/>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64748B"/>
                </a:solidFill>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683</Words>
  <Application>Microsoft Office PowerPoint</Application>
  <PresentationFormat>Widescreen</PresentationFormat>
  <Paragraphs>107</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                       DATABASE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DBMS</dc:title>
  <dc:subject>PptxGenJS Presentation</dc:subject>
  <dc:creator>DBMS Notes</dc:creator>
  <cp:lastModifiedBy>Sahithi</cp:lastModifiedBy>
  <cp:revision>3</cp:revision>
  <dcterms:created xsi:type="dcterms:W3CDTF">2026-06-30T03:53:56Z</dcterms:created>
  <dcterms:modified xsi:type="dcterms:W3CDTF">2026-06-30T06:28:44Z</dcterms:modified>
</cp:coreProperties>
</file>