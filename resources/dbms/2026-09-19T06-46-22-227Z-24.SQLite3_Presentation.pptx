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 • FILE-BASED • SERVERLESS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self-contained SQL database engine that lives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application — no server, no setup.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SQLite — Concepts, Architecture &amp; Usage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SQLite3?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compact,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relational database engine. Unlike MySQL or PostgreSQL, it doesn't run as a separate background process — it's a library your program links to directly.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39242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database — tables, indexes, data — lives in one .db file on disk.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611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engine is pure C, making it embeddable in almost any language.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12978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Configuration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server process, no admin account to set up.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64592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F2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↔ File, Directly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246888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281160" y="3383280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498080" y="3429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(no network)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388620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3886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Library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81160" y="4800600"/>
            <a:ext cx="0" cy="411480"/>
          </a:xfrm>
          <a:prstGeom prst="line">
            <a:avLst/>
          </a:prstGeom>
          <a:noFill/>
          <a:ln w="2540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863840" y="52578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5257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database.db  (single file)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inside the host app; nothing to install or start.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39496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setup files, users, or ports to manage.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72600" y="1810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Compliant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are atomic, consistent, isolated &amp; durable.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 works on Windows, macOS, Linux, mobile.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9496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54880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library is roughly 600 KB in size.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1B3A3D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32520" y="4069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8732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372600" y="40965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Domain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732520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any use — commercial or personal — no license fees.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Client-Server vs. SQLite3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Database (e.g., MySQL)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2F7F7"/>
          </a:solidFill>
          <a:ln w="12700">
            <a:solidFill>
              <a:srgbClr val="D8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354580"/>
            <a:ext cx="640080" cy="0"/>
          </a:xfrm>
          <a:prstGeom prst="line">
            <a:avLst/>
          </a:prstGeom>
          <a:noFill/>
          <a:ln w="25400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697480" y="1783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8FA6A6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65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80560" y="2743200"/>
            <a:ext cx="0" cy="457200"/>
          </a:xfrm>
          <a:prstGeom prst="line">
            <a:avLst/>
          </a:prstGeom>
          <a:noFill/>
          <a:ln w="25400">
            <a:solidFill>
              <a:srgbClr val="5B6E7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32004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B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files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 running server, network round-trips, and user/connection management.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554480"/>
            <a:ext cx="0" cy="4480560"/>
          </a:xfrm>
          <a:prstGeom prst="line">
            <a:avLst/>
          </a:prstGeom>
          <a:noFill/>
          <a:ln w="19050">
            <a:solidFill>
              <a:srgbClr val="E4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SQLite library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(linked in-process)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3291840"/>
            <a:ext cx="0" cy="41148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7947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5262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just a library call — reads and writes go straight to a local file, no network hop at all.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SQLite3 Shows 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1671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&amp; iOS use SQLite as their built-in local storage engine.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8288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83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1671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and Firefox store history, bookmarks &amp; cache in SQLite files.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03920" y="160020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732520" y="182880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006840" y="17830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Software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1671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like Skype and many editors embed it for local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6616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/ IoT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904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devices with limited memory and no OS-level DB server.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F2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56616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Prototyping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0" y="3904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use it as a fast, disposable stand-in for a full DB.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03920" y="33375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AF4F3"/>
          </a:solidFill>
          <a:ln/>
        </p:spPr>
      </p:sp>
      <p:sp>
        <p:nvSpPr>
          <p:cNvPr id="25" name="Shape 23"/>
          <p:cNvSpPr/>
          <p:nvPr/>
        </p:nvSpPr>
        <p:spPr>
          <a:xfrm>
            <a:off x="8732520" y="3566160"/>
            <a:ext cx="109728" cy="64008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9006840" y="35204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06840" y="3904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apps use a .sqlite file as their native document format.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SQLite3 Commands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F2F7F7"/>
          </a:solidFill>
          <a:ln w="12700">
            <a:solidFill>
              <a:srgbClr val="E4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table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554480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students (id INTEGER PRIMARY KEY, name TEXT);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95728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4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95728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395728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students (name) VALUES ('Asha');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36976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F2F7F7"/>
          </a:solidFill>
          <a:ln w="12700">
            <a:solidFill>
              <a:srgbClr val="E4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36976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236976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students WHERE id = 1;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E4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078224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4078224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students SET name = 'Asha R.' WHERE id = 1;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19472"/>
            <a:ext cx="11064240" cy="704088"/>
          </a:xfrm>
          <a:prstGeom prst="roundRect">
            <a:avLst>
              <a:gd name="adj" fmla="val 10390"/>
            </a:avLst>
          </a:prstGeom>
          <a:solidFill>
            <a:srgbClr val="F2F7F7"/>
          </a:solidFill>
          <a:ln w="12700">
            <a:solidFill>
              <a:srgbClr val="E4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919472"/>
            <a:ext cx="2377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4919472"/>
            <a:ext cx="81381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students WHERE id = 1;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SQLite uses standard SQL syntax — most commands are the same as MySQL or PostgreSQL.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(Storage Classes)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is </a:t>
            </a:r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typed</a:t>
            </a:r>
            <a:pPr indent="0" marL="0">
              <a:buNone/>
            </a:pPr>
            <a:r>
              <a:rPr lang="en-US" sz="14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column can accept any of five storage classes, regardless of its declared 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E9EFE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1207008" cy="0"/>
          </a:xfrm>
          <a:prstGeom prst="line">
            <a:avLst/>
          </a:prstGeom>
          <a:noFill/>
          <a:ln w="12700">
            <a:solidFill>
              <a:srgbClr val="C9D6D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or unknown value.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34640" y="214884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2971800" y="24231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017520"/>
            <a:ext cx="120700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32004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number, stored using as few bytes as possible.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214884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4231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577840" y="3017520"/>
            <a:ext cx="120700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2004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floating-point (decimal)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06640" y="214884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24231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863840" y="3017520"/>
            <a:ext cx="120700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2004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string, stored using the database encoding.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692640" y="2148840"/>
            <a:ext cx="2121408" cy="2743200"/>
          </a:xfrm>
          <a:prstGeom prst="roundRect">
            <a:avLst>
              <a:gd name="adj" fmla="val 431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24231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BLOB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10149840" y="3017520"/>
            <a:ext cx="1207008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0" y="3200400"/>
            <a:ext cx="17556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binary data, stored exactly as given (e.g. images, files).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SQLite3 vs. Server-Based Databases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97680" y="15087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863840" y="1508760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8FA6A6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5087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11064240" cy="74980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just a file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46720" y="2148840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configure a server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8986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Small–medium apps, local data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0" y="2898648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Large-scale, multi-user apps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11064240" cy="74980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48456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6484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concurrent writes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0" y="3648456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concurrent read/write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398264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43982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direct file I/O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46720" y="43982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a network connection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148072"/>
            <a:ext cx="11064240" cy="749808"/>
          </a:xfrm>
          <a:prstGeom prst="rect">
            <a:avLst/>
          </a:prstGeom>
          <a:solidFill>
            <a:srgbClr val="F2F7F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148072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80560" y="51480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license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046720" y="51480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free, but ops overhead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3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108960" cy="0"/>
          </a:xfrm>
          <a:prstGeom prst="line">
            <a:avLst/>
          </a:prstGeom>
          <a:noFill/>
          <a:ln w="12700">
            <a:solidFill>
              <a:srgbClr val="E4EE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AF6F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86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for read-heavy, local workloads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4495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07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 to install, patch, or maintain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66674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5295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portable — copy the file, copy the database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28853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513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battle-tested, and widely supported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491032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7731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learning SQL and rapid prototyping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CEFEE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83680" y="2423160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28600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support for many simultaneous writers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3044952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90779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 for large, high-traffic web services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666744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52958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user accounts or network access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4288536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151376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advanced features than full server databases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910328"/>
            <a:ext cx="109728" cy="109728"/>
          </a:xfrm>
          <a:prstGeom prst="ellipse">
            <a:avLst/>
          </a:prstGeom>
          <a:solidFill>
            <a:srgbClr val="B0413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77316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file can become a single point of failure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371600"/>
            <a:ext cx="3200400" cy="32004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38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is a serverless, file-based SQL database engine.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5968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embedded directly into applications — no install, no admin.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28269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282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5526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powers mobile apps, browsers, and countless embedded systems.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94106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1363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small-to-medium, single-writer workloads 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5994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99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72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 for MySQL/PostgreSQL at large scale.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5943600"/>
            <a:ext cx="1828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footprint. Big reach.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2026-07-24T16:36:36Z</dcterms:created>
  <dcterms:modified xsi:type="dcterms:W3CDTF">2026-07-24T16:36:36Z</dcterms:modified>
</cp:coreProperties>
</file>