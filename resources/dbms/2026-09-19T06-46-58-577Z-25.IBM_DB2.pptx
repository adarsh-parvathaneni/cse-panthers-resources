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18872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118872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118872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118872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118872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118872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201168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01168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201168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78440" y="201168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0" y="201168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84280" y="201168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9680" y="283464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283464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0" y="283464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78440" y="2834640"/>
            <a:ext cx="384048" cy="566928"/>
          </a:xfrm>
          <a:prstGeom prst="rect">
            <a:avLst/>
          </a:prstGeom>
          <a:solidFill>
            <a:srgbClr val="3FBFB2"/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81360" y="283464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84280" y="283464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365760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365760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365760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78440" y="365760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81360" y="365760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84280" y="365760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0" y="448056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72600" y="448056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448056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448056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81360" y="448056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384280" y="4480560"/>
            <a:ext cx="384048" cy="566928"/>
          </a:xfrm>
          <a:prstGeom prst="rect">
            <a:avLst/>
          </a:prstGeom>
          <a:solidFill>
            <a:srgbClr val="1C7293">
              <a:alpha val="40000"/>
            </a:srgbClr>
          </a:solidFill>
          <a:ln w="9525">
            <a:solidFill>
              <a:srgbClr val="2A5A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685800"/>
            <a:ext cx="822960" cy="822960"/>
          </a:xfrm>
          <a:prstGeom prst="ellipse">
            <a:avLst/>
          </a:prstGeom>
          <a:solidFill>
            <a:srgbClr val="3FBFB2"/>
          </a:solidFill>
          <a:ln/>
        </p:spPr>
      </p:sp>
      <p:pic>
        <p:nvPicPr>
          <p:cNvPr id="33" name="Image 0" descr="/home/claude/db2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46" y="776326"/>
            <a:ext cx="641909" cy="641909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85800" y="17373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DB2</a:t>
            </a:r>
            <a:endParaRPr lang="en-US" sz="5400" dirty="0"/>
          </a:p>
        </p:txBody>
      </p:sp>
      <p:sp>
        <p:nvSpPr>
          <p:cNvPr id="35" name="Text 32"/>
          <p:cNvSpPr/>
          <p:nvPr/>
        </p:nvSpPr>
        <p:spPr>
          <a:xfrm>
            <a:off x="713232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Management System for Enterprise Data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13232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IBM  •  RELATIONAL DBMS  •  SQL &amp; NoSQL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13232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Database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IBM DB2?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database engine built by IBM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b2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18" y="204139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38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Relational DBMS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31343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is a Relational Database Management System (RDBMS) developed by IBM.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db2ppt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8" y="3412998"/>
            <a:ext cx="534924" cy="534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3101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Enterprise Data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68503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store, manage, and retrieve data efficiently in enterprise applications.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db2ppt/icon_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" y="4784598"/>
            <a:ext cx="534924" cy="5349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Decades of Development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505663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developed in the 1980s by IBM, and continuously evolved since.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Overview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Enterprise Scale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709160"/>
          </a:xfrm>
          <a:prstGeom prst="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IBM's Tool for Large-Scale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is IBM's tool for managing large volumes of structured data in businesses such as: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1188720" cy="11887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7" name="Image 0" descr="/home/claude/db2ppt/icon_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546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423160" y="2880360"/>
            <a:ext cx="1188720" cy="11887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0" name="Image 1" descr="/home/claude/db2ppt/icon_pl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1546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0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977640" y="2880360"/>
            <a:ext cx="1188720" cy="11887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3" name="Image 2" descr="/home/claude/db2ppt/icon_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1546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4114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6868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other applications where reliability and scale are critical.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09360" y="1417320"/>
            <a:ext cx="5349240" cy="4709160"/>
          </a:xfrm>
          <a:prstGeom prst="rect">
            <a:avLst>
              <a:gd name="adj" fmla="val 1553"/>
            </a:avLst>
          </a:prstGeom>
          <a:solidFill>
            <a:srgbClr val="0B3D5C"/>
          </a:solidFill>
          <a:ln/>
        </p:spPr>
      </p:sp>
      <p:sp>
        <p:nvSpPr>
          <p:cNvPr id="17" name="Text 12"/>
          <p:cNvSpPr/>
          <p:nvPr/>
        </p:nvSpPr>
        <p:spPr>
          <a:xfrm>
            <a:off x="662940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is Organized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629400" y="23774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db2ppt/icon_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80" y="2442820"/>
            <a:ext cx="463601" cy="4636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066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406640" y="2715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in the form of tables — organized into rows and columns.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629400" y="3611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/home/claude/db2ppt/icon_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780" y="3677260"/>
            <a:ext cx="463601" cy="4636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&amp; Relationships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406640" y="39502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tables are maintained using keys.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629400" y="4892040"/>
            <a:ext cx="4709160" cy="1005840"/>
          </a:xfrm>
          <a:prstGeom prst="rect">
            <a:avLst>
              <a:gd name="adj" fmla="val 5455"/>
            </a:avLst>
          </a:prstGeom>
          <a:solidFill>
            <a:srgbClr val="0B1F33"/>
          </a:solidFill>
          <a:ln/>
        </p:spPr>
      </p:sp>
      <p:sp>
        <p:nvSpPr>
          <p:cNvPr id="27" name="Text 20"/>
          <p:cNvSpPr/>
          <p:nvPr/>
        </p:nvSpPr>
        <p:spPr>
          <a:xfrm>
            <a:off x="6858000" y="49834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CUSTOMERS table linked to an ACCOUNTS table through a shared customer key.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Overview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DB2 a strong choice for enterprise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2057400"/>
          </a:xfrm>
          <a:prstGeom prst="rect">
            <a:avLst>
              <a:gd name="adj" fmla="val 3556"/>
            </a:avLst>
          </a:prstGeom>
          <a:solidFill>
            <a:srgbClr val="F5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b2ppt/icon_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2750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67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&amp; NoSQL Support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83080" y="262432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SQL and NoSQL (JSON) data formats.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349240" cy="2057400"/>
          </a:xfrm>
          <a:prstGeom prst="rect">
            <a:avLst>
              <a:gd name="adj" fmla="val 3556"/>
            </a:avLst>
          </a:prstGeom>
          <a:solidFill>
            <a:srgbClr val="F5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194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1" name="Image 1" descr="/home/claude/db2ppt/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867" y="227502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67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Performance at Scale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543800" y="262432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large-scale transactional systems, e.g. ATM and airline transactions.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2057400"/>
          </a:xfrm>
          <a:prstGeom prst="rect">
            <a:avLst>
              <a:gd name="adj" fmla="val 3556"/>
            </a:avLst>
          </a:prstGeom>
          <a:solidFill>
            <a:srgbClr val="F5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480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db2ppt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4561027"/>
            <a:ext cx="570586" cy="5705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53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Reliability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783080" y="491032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strong security and reliability for critical business data.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160520"/>
            <a:ext cx="5349240" cy="2057400"/>
          </a:xfrm>
          <a:prstGeom prst="rect">
            <a:avLst>
              <a:gd name="adj" fmla="val 3556"/>
            </a:avLst>
          </a:prstGeom>
          <a:solidFill>
            <a:srgbClr val="F5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9400" y="4480560"/>
            <a:ext cx="731520" cy="73152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1" name="Image 3" descr="/home/claude/db2ppt/icon_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867" y="4561027"/>
            <a:ext cx="570586" cy="5705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453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AI-Integrated Optimization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543800" y="491032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 features help optimize query execution automatically.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Overview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ACID Properties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that keep transactions safe and reliable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4160520"/>
          </a:xfrm>
          <a:prstGeom prst="rect">
            <a:avLst>
              <a:gd name="adj" fmla="val 2712"/>
            </a:avLst>
          </a:prstGeom>
          <a:solidFill>
            <a:srgbClr val="132B45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331720"/>
            <a:ext cx="914400" cy="914400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all-or-nothing — it fully completes or doesn't happen at 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697480" cy="4160520"/>
          </a:xfrm>
          <a:prstGeom prst="rect">
            <a:avLst>
              <a:gd name="adj" fmla="val 2712"/>
            </a:avLst>
          </a:prstGeom>
          <a:solidFill>
            <a:srgbClr val="132B45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6260" y="2331720"/>
            <a:ext cx="914400" cy="914400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57600" y="3429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03320" y="39319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brings the database from one valid state to another.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2697480" cy="4160520"/>
          </a:xfrm>
          <a:prstGeom prst="rect">
            <a:avLst>
              <a:gd name="adj" fmla="val 2712"/>
            </a:avLst>
          </a:prstGeom>
          <a:solidFill>
            <a:srgbClr val="132B45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2340" y="2331720"/>
            <a:ext cx="914400" cy="914400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16" name="Text 14"/>
          <p:cNvSpPr/>
          <p:nvPr/>
        </p:nvSpPr>
        <p:spPr>
          <a:xfrm>
            <a:off x="729234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83680" y="3429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29400" y="39319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don't interfere with one another.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26880" y="1965960"/>
            <a:ext cx="2697480" cy="4160520"/>
          </a:xfrm>
          <a:prstGeom prst="rect">
            <a:avLst>
              <a:gd name="adj" fmla="val 2712"/>
            </a:avLst>
          </a:prstGeom>
          <a:solidFill>
            <a:srgbClr val="132B45"/>
          </a:solidFill>
          <a:ln w="12700">
            <a:solidFill>
              <a:srgbClr val="234A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18420" y="2331720"/>
            <a:ext cx="914400" cy="914400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21" name="Text 19"/>
          <p:cNvSpPr/>
          <p:nvPr/>
        </p:nvSpPr>
        <p:spPr>
          <a:xfrm>
            <a:off x="1021842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509760" y="3429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55480" y="393192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a transaction's changes persist even after a failure.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Overview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5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core storage — programmability and connectivity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417320"/>
          </a:xfrm>
          <a:prstGeom prst="rect">
            <a:avLst>
              <a:gd name="adj" fmla="val 4516"/>
            </a:avLst>
          </a:prstGeom>
          <a:solidFill>
            <a:srgbClr val="F5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b2ppt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18" y="2407158"/>
            <a:ext cx="534924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30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PL/SQL Support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496312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writing stored procedures, triggers, and functions directly inside the database.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11064240" cy="1417320"/>
          </a:xfrm>
          <a:prstGeom prst="rect">
            <a:avLst>
              <a:gd name="adj" fmla="val 4516"/>
            </a:avLst>
          </a:prstGeom>
          <a:solidFill>
            <a:srgbClr val="F5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b2ppt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" y="4007358"/>
            <a:ext cx="534924" cy="534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730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/ JSON Support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4096512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handling semi-structured data alongside traditional relational tables.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166360"/>
            <a:ext cx="11064240" cy="1417320"/>
          </a:xfrm>
          <a:prstGeom prst="rect">
            <a:avLst>
              <a:gd name="adj" fmla="val 4516"/>
            </a:avLst>
          </a:prstGeom>
          <a:solidFill>
            <a:srgbClr val="F5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5532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db2ppt/icon_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5607558"/>
            <a:ext cx="534924" cy="5349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330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Connectivity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5696712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JDBC, ODBC, .NET, and Python (via the ibm-db driver) for connecting applications.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Overview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to run, manage, and tune a DB2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42062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6616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46888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7" name="Image 0" descr="/home/claude/db2ppt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0766" y="2559406"/>
            <a:ext cx="641909" cy="641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Command Line Processor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tool used to run SQL commands directly against the database.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66160" cy="42062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965960"/>
            <a:ext cx="3566160" cy="109728"/>
          </a:xfrm>
          <a:prstGeom prst="rect">
            <a:avLst/>
          </a:prstGeom>
          <a:solidFill>
            <a:srgbClr val="3FBFB2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46888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3" name="Image 1" descr="/home/claude/db2ppt/icon_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806" y="2559406"/>
            <a:ext cx="641909" cy="6419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Data Studio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0" y="43891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 tool for database design, query building, and administration.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566160" cy="4206240"/>
          </a:xfrm>
          <a:prstGeom prst="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1965960"/>
            <a:ext cx="356616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9418320" y="2468880"/>
            <a:ext cx="822960" cy="82296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9" name="Image 2" descr="/home/claude/db2ppt/icon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846" y="2559406"/>
            <a:ext cx="641909" cy="64190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DB2 Explain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21040" y="438912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used to analyze and optimize query execution plans.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Overview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3FBFB2"/>
          </a:solidFill>
          <a:ln/>
        </p:spPr>
      </p:sp>
      <p:pic>
        <p:nvPicPr>
          <p:cNvPr id="3" name="Image 0" descr="/home/claude/db2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296" y="725576"/>
            <a:ext cx="606247" cy="6062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2404872"/>
            <a:ext cx="146304" cy="146304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33172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5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is a relational DBMS developed by IBM to store, manage, and retrieve enterprise data efficiently.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3273552"/>
            <a:ext cx="146304" cy="146304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2004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5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tables (rows &amp; columns); relationships are maintained using keys.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4142232"/>
            <a:ext cx="146304" cy="146304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406908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5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SQL, NoSQL (JSON), PL/SQL, and XML — with strong security, performance, and ACID guarantees.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5010912"/>
            <a:ext cx="146304" cy="146304"/>
          </a:xfrm>
          <a:prstGeom prst="ellipse">
            <a:avLst/>
          </a:prstGeom>
          <a:solidFill>
            <a:srgbClr val="3FBFB2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9377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5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with tools like the Command Line Processor, IBM Data Studio, and DB2 Explain.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3FB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2026-07-30T02:27:05Z</dcterms:created>
  <dcterms:modified xsi:type="dcterms:W3CDTF">2026-07-30T02:27:05Z</dcterms:modified>
</cp:coreProperties>
</file>