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2743200" cy="2743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88720"/>
            <a:ext cx="15544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54480"/>
            <a:ext cx="15544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41120" y="822960"/>
            <a:ext cx="0" cy="10972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9280" y="822960"/>
            <a:ext cx="0" cy="10972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 •  QUERY LANGUAGES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Calculus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 (TRC)  &amp;  Domain Relational Calculus (DRC)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4343400"/>
            <a:ext cx="201168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 on non-procedural query languages for relational databases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 / 07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Relational Calculus?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behind a non-procedural query language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36" dirty="0"/>
          </a:p>
        </p:txBody>
      </p:sp>
      <p:sp>
        <p:nvSpPr>
          <p:cNvPr id="6" name="Text 4"/>
          <p:cNvSpPr/>
          <p:nvPr/>
        </p:nvSpPr>
        <p:spPr>
          <a:xfrm>
            <a:off x="1417320" y="1572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Non-Procedural Language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declarative query language — it does not specify a sequence of operations to run.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736" dirty="0"/>
          </a:p>
        </p:txBody>
      </p:sp>
      <p:sp>
        <p:nvSpPr>
          <p:cNvPr id="10" name="Text 8"/>
          <p:cNvSpPr/>
          <p:nvPr/>
        </p:nvSpPr>
        <p:spPr>
          <a:xfrm>
            <a:off x="1417320" y="2715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“What”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0449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what data is needed for the result, not how to retrieve it step by step.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736" dirty="0"/>
          </a:p>
        </p:txBody>
      </p:sp>
      <p:sp>
        <p:nvSpPr>
          <p:cNvPr id="14" name="Text 12"/>
          <p:cNvSpPr/>
          <p:nvPr/>
        </p:nvSpPr>
        <p:spPr>
          <a:xfrm>
            <a:off x="1417320" y="3858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Roots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1879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mathematical predicate calculus notation — conditions a result must satisfy.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736" dirty="0"/>
          </a:p>
        </p:txBody>
      </p:sp>
      <p:sp>
        <p:nvSpPr>
          <p:cNvPr id="18" name="Text 16"/>
          <p:cNvSpPr/>
          <p:nvPr/>
        </p:nvSpPr>
        <p:spPr>
          <a:xfrm>
            <a:off x="1417320" y="5001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Power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3309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descriptive information about a query's result set, without giving an execution method.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46634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783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7406640" y="2514600"/>
            <a:ext cx="3977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tells the database WHAT you want — not HOW to get it.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06640" y="4160520"/>
            <a:ext cx="12801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457200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a student: “bring me all records where marks &gt; 80” — without saying how to search for them.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— Introduction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 vs. Non-Procedural Query Languages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ask a database for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Relational Algebra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Specifies WHAT data is needed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AND specifies HOW to get it (step-by-step operations)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Query = a sequence of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425196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425196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course="DBMS" (Course)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sid (Student)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55448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NON-PROCEDURAL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Relational Calculus / 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Specifies WHAT data is needed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Does NOT specify how to get it (declarative)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Query = a description of the result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425196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5A623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95160" y="4251960"/>
            <a:ext cx="4206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Student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sid IN (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sid FROM Course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course='DBMS')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— Introduction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Relational Calculus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provides descriptive information about queries using predicate calculus notation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40" dirty="0"/>
          </a:p>
        </p:txBody>
      </p:sp>
      <p:sp>
        <p:nvSpPr>
          <p:cNvPr id="7" name="Text 5"/>
          <p:cNvSpPr/>
          <p:nvPr/>
        </p:nvSpPr>
        <p:spPr>
          <a:xfrm>
            <a:off x="19202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range over tuples (rows) of a relation.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420624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42062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P(t) }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3736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1228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40" dirty="0"/>
          </a:p>
        </p:txBody>
      </p:sp>
      <p:sp>
        <p:nvSpPr>
          <p:cNvPr id="15" name="Text 13"/>
          <p:cNvSpPr/>
          <p:nvPr/>
        </p:nvSpPr>
        <p:spPr>
          <a:xfrm>
            <a:off x="772668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2668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Relational Calculus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31546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range over domains (values / columns) of a relation.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420624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42062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&lt;x1,...,xn&gt; | P(x1,...,xn) }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non-procedural. Both describe only WHAT the query wants — not HOW to compute it.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— Overview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Relational Calculus (TRC)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notation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describes WHAT the query should return, but never HOW to compute it — there is no step-by-step method implied.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51760" y="214884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88920" y="21488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 |  P(t) 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65176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set of all tuples t such that predicate P(t) is true”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94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3776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variable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3776472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records (rows) of a relation — stands for the resulting tuples.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36008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3600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/ formula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46177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that t must satisfy for it to appear in the result.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77256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7725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∧ ∨ 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5458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connectives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5458968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P(t) may combine multiple conditions using AND (∧), OR (∨), NOT (¬).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TRC: Quantifiers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Expressing “some” and “all” conditions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Existential Quantifier  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exists” — a tuple t in relation r such that predicate P(t) is true.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when the condition is satisfied by SOME records of the 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7178040" y="1810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Quantifier  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all” — predicate P(t) is true for every tuple in relation 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only when the condition is satisfied by ALL records of the table.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Rule of Thumb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09728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0" y="4160520"/>
            <a:ext cx="182880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1605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4160520"/>
            <a:ext cx="109728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41605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71416"/>
            <a:ext cx="10972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7141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0" y="4471416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44714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4471416"/>
            <a:ext cx="10972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447141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82312"/>
            <a:ext cx="109728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823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45920" y="4782312"/>
            <a:ext cx="182880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4782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4782312"/>
            <a:ext cx="109728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78231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93208"/>
            <a:ext cx="10972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0932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0" y="5093208"/>
            <a:ext cx="1828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0" y="50932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74720" y="5093208"/>
            <a:ext cx="10972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50932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404104"/>
            <a:ext cx="109728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4041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645920" y="5404104"/>
            <a:ext cx="182880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0" y="54041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474720" y="5404104"/>
            <a:ext cx="109728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54041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41605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matches SOME rows → use ∃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must match ALL rows → use ∀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17920" y="5074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“Get students with age ≥ 18” checks each row — matches for the rows where it holds (∃ style existence per qualifying tuple).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TRC: Comparison Operators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example table for this section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used inside predicates: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63040" y="18288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288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8288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240" y="18288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8288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82880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Table: Student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146304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54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0" y="3154680"/>
            <a:ext cx="182880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154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3154680"/>
            <a:ext cx="146304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1546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3154680"/>
            <a:ext cx="1645920" cy="384048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1546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53872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387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11680" y="3538728"/>
            <a:ext cx="1828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35387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353872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5387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0" y="3538728"/>
            <a:ext cx="1645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53872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922776"/>
            <a:ext cx="146304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2277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011680" y="3922776"/>
            <a:ext cx="182880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39227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0480" y="3922776"/>
            <a:ext cx="146304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392277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303520" y="3922776"/>
            <a:ext cx="164592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392277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30682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30682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011680" y="4306824"/>
            <a:ext cx="1828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4306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40480" y="4306824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430682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03520" y="4306824"/>
            <a:ext cx="1645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43068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4690872"/>
            <a:ext cx="146304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6908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011680" y="4690872"/>
            <a:ext cx="182880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0" y="4690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840480" y="4690872"/>
            <a:ext cx="146304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0" y="46908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303520" y="4690872"/>
            <a:ext cx="1645920" cy="384048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4690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903720" y="3154680"/>
            <a:ext cx="470916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/>
        </p:spPr>
      </p:sp>
      <p:sp>
        <p:nvSpPr>
          <p:cNvPr id="59" name="Text 57"/>
          <p:cNvSpPr/>
          <p:nvPr/>
        </p:nvSpPr>
        <p:spPr>
          <a:xfrm>
            <a:off x="7223760" y="3337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used throughout the following worked examples.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22376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 form used: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P(t) }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223760" y="47091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t.marks, t.branch, t.name refer to the values within tuple t.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 Worked Examples — Part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Student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270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1: Get all students with marks greater than 80.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3000" y="1892808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8928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t∈Student ∧ t.marks &gt; 80 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97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2: Get only the names of students with marks &gt; 80.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43000" y="30632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3063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t.name | t∈Student ∧ t.marks &gt; 80 }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8679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3: Get the name of CSE students with marks &gt; 80.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43000" y="4233672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42336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t.name | t∈Student ∧ t.branch='CSE' ∧ t.marks &gt; 80 }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03834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4: Get the name of CSE students OR marks &gt; 80.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43000" y="5404104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80160" y="540410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t.name | t∈Student ∧ (t.branch='CSE' ∨ t.marks &gt; 80) 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 — 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 Worked Examples — Part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Student table (continued)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727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5: Get names of ECE students.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9659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t.name | t∈Student ∧ t.branch='ECE' 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944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6: Get all tuples with marks between 70 and 90.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33375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33375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t∈Student ∧ t.marks ≥ 70 ∧ t.marks ≤ 90 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3159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7: Get names of students NOT in the IT branch.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43000" y="47091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470916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t.name | t∈Student ∧ ¬(t.branch='IT') }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760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 (NOT) negates a condition — useful for “exclude” style queries like Ex 7.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 — Examples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 on the Loan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Projecting attributes with a helper tuple variable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554480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554480"/>
            <a:ext cx="1737360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554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1554480"/>
            <a:ext cx="1463040" cy="36576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920240"/>
            <a:ext cx="17373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192024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1554480" cy="36576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2286000"/>
            <a:ext cx="1737360" cy="36576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2860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2286000"/>
            <a:ext cx="1463040" cy="36576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2651760"/>
            <a:ext cx="17373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651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0" y="2651760"/>
            <a:ext cx="1463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017520"/>
            <a:ext cx="1554480" cy="36576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017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3017520"/>
            <a:ext cx="1737360" cy="36576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0175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3017520"/>
            <a:ext cx="1463040" cy="36576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15544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Find loan no, branch, amount of loans ≥ 10000.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760720" y="196596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97880" y="19659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t∈Loan ∧ t.amount ≥ 10000 }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60720" y="254203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tuple t is returned — all three attributes.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0632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Find only the loan no for each loan of amount ≥ 10000.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760720" y="361188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97880" y="36118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t.loanno | ∃ s∈Loan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(t.loanno = s.loanno ∧ s.amount ≥ 10000) }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760720" y="4480560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 is declared over just “loanno”, so a second tuple variable s (ranging over the full Loan relation) is introduced with ∃ to test the amount condition and link it back to t via loanno.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393192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extra variable s?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" y="448056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query projects just one attribute (like loanno), t alone can't carry the amount condition. ∃ s lets us search the full relation for a matching, qualifying tuple — then project only its loanno.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Relational Calculus — Examples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Relational Calculus (DRC)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notation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is a column along with its set of possible values. DRC variables range over these domains (individual attribute values) instead of whole tuples.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219456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74520" y="2194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&lt;x1, x2, ..., xn&gt;  |  P(x1, x2, ..., xn) 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&lt;x1..xn&gt;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3364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domain variables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06440" y="3364992"/>
            <a:ext cx="5806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values that appear in the output — one per output column.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24528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24528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P(x1..xn)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/ formula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06440" y="4206240"/>
            <a:ext cx="5806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the domain variables must satisfy, built from: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66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ops:  &gt;, &lt;, ≥, ≤, =, 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9671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9671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Connectives:  ∧ (and), ∨ (or), ¬ (not)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227064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2270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Quantifiers:  ∃ (some), ∀ (all)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Relational Calculus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TRC vs. DRC — Side by Side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query, two notations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1600200"/>
            <a:ext cx="379476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6002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09560" y="1600200"/>
            <a:ext cx="379476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0" y="160020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566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ranges over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2011680"/>
            <a:ext cx="3794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0116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tuples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09560" y="2011680"/>
            <a:ext cx="3794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01168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domain values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3566160" cy="50292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14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514600"/>
            <a:ext cx="3794760" cy="50292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5146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t | P(t) 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09560" y="2514600"/>
            <a:ext cx="3794760" cy="50292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9560" y="25146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&lt;x1..xn&gt; | P(x1..xn) 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3566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 power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3017520"/>
            <a:ext cx="3794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0175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09560" y="3017520"/>
            <a:ext cx="3794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0175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3566160" cy="50292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20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3520440"/>
            <a:ext cx="3794760" cy="50292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35204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Non-procedural — describe, don't compute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09560" y="3520440"/>
            <a:ext cx="3794760" cy="502920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9560" y="352044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Non-procedural — describe, don't compute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977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“Get all students with marks &gt; 80” on Student(RollNo r, Name n, Marks m, Branch b)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389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" y="438912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TRC =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t | t∈Student ∧ t.marks &gt; 80 }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17920" y="43891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55080" y="438912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DRC =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&lt;r,n,m,b&gt; | &lt;r,n,m,b&gt;∈Student ∧ m &gt; 80 }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statements describe exactly the same result set — they simply name the variables differently.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vs DRC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DRC Worked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Student(r, n, m, b) = (RollNo, Name, Marks, Branch)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8872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417320"/>
            <a:ext cx="155448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41732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118872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4173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1371600" cy="310896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173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28216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2821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1728216"/>
            <a:ext cx="15544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72821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728216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72821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728216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7282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039112"/>
            <a:ext cx="118872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0391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2039112"/>
            <a:ext cx="155448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0391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039112"/>
            <a:ext cx="118872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0391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2039112"/>
            <a:ext cx="137160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0391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2350008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3500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2350008"/>
            <a:ext cx="155448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3500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2350008"/>
            <a:ext cx="11887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35000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2350008"/>
            <a:ext cx="1371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3500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2660904"/>
            <a:ext cx="118872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66090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2660904"/>
            <a:ext cx="155448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0" y="26609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660904"/>
            <a:ext cx="118872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266090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0560" y="2660904"/>
            <a:ext cx="1371600" cy="310896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660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35661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1: Get all students with marks &gt; 80.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38862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5800" y="3886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&lt;r,n,m,b&gt; | &lt;r,n,m,b&gt;∈Student ∧ m&gt;80 }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44805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2: Get only names of students with marks &gt; 80.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48640" y="4800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85800" y="48006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 | ∃ r,m,b (&lt;r,n,m,b&gt;∈Student ∧ m&gt;80) }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539496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3: Get names of CSE students with marks &gt; 80.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 | ∃ r,m,b (&lt;r,n,m,b&gt;∈Student ∧ b='CSE' ∧ m&gt;80) }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8640" y="63276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r, m, b are bound by ∃ — they aren't displayed in the output, but are still needed to define the row being tested.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Relational Calculus — Examples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Practice — Sailors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writing both TRC and DRC for each question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88720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463040"/>
            <a:ext cx="1828800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4630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463040"/>
            <a:ext cx="1463040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4630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1280160" cy="329184"/>
          </a:xfrm>
          <a:prstGeom prst="rect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630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9222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922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1792224"/>
            <a:ext cx="18288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7922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1792224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7922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1792224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7922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121408"/>
            <a:ext cx="118872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214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2121408"/>
            <a:ext cx="182880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1214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2121408"/>
            <a:ext cx="146304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1214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121408"/>
            <a:ext cx="128016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245059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4505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737360" y="2450592"/>
            <a:ext cx="18288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Lubber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2450592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24505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2450592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2779776"/>
            <a:ext cx="118872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77977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2779776"/>
            <a:ext cx="182880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0" y="27797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66160" y="2779776"/>
            <a:ext cx="146304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27797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0" y="2779776"/>
            <a:ext cx="1280160" cy="329184"/>
          </a:xfrm>
          <a:prstGeom prst="rect">
            <a:avLst/>
          </a:prstGeom>
          <a:solidFill>
            <a:srgbClr val="F4F7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10896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108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737360" y="3108960"/>
            <a:ext cx="18288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108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566160" y="3108960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31089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29200" y="3108960"/>
            <a:ext cx="1280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1089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92240" y="146304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68122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It Yourself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12280" y="21488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Find sailors with rating &gt; 7.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812280" y="293522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Find names of sailors with rating &gt; 8.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812280" y="37216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Find sailors younger than 30.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12280" y="4507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Find sailors with rating between 5 and 9.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812280" y="529437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Find the name and age of sailors with rating = 8.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Practice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homework or extra in-class practice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 eid, ename, salary, dept )   —   Sailors / Boats / Reserves (classic 3-table schema)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90195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all employees with salary &gt; 50,000.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86207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names of employees in the 'Sales' department.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8221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names of employees with salary between 40,000 and 80,000.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006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478231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Find employees who are NOT in the 'HR' department.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9202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9202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190195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Find distinct department names having an employee with salary &gt; 90,000.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8803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8803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286207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Using Sailors/Boats/Reserves, find names of sailors who have reserved boat number 103.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8404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8404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38221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Find names of sailors with rating &gt; 8 OR age &lt; 30.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480060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8006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478231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Find sailors whose rating is NOT between 5 and 8.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9788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4F7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8978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 Q6, you will need an ∃ (existential) quantifier over the Reserves table to link Sailors to Boats.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Practice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754880"/>
            <a:ext cx="3657600" cy="36576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35608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35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is non-procedural / declarative — it describes WHAT you want, never HOW to get 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231136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0" name="Text 8"/>
          <p:cNvSpPr/>
          <p:nvPr/>
        </p:nvSpPr>
        <p:spPr>
          <a:xfrm>
            <a:off x="1188720" y="221284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TRC uses tuple variables ( t ) that range over whole rows: { t | P(t) }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026664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26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3" name="Text 11"/>
          <p:cNvSpPr/>
          <p:nvPr/>
        </p:nvSpPr>
        <p:spPr>
          <a:xfrm>
            <a:off x="1188720" y="300837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uses domain variables ( x1, x2, ... ) that range over individual attribute values: { &lt;x1..xn&gt; | P(x1..xn) }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6" name="Text 14"/>
          <p:cNvSpPr/>
          <p:nvPr/>
        </p:nvSpPr>
        <p:spPr>
          <a:xfrm>
            <a:off x="1188720" y="3803904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equally expressive and equivalent to safe relational algebra queries.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9" name="Text 17"/>
          <p:cNvSpPr/>
          <p:nvPr/>
        </p:nvSpPr>
        <p:spPr>
          <a:xfrm>
            <a:off x="1188720" y="459943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 combine comparison operators (=, ≠, &gt;, &lt;, ≥, ≤), connectives (∧, ∨, ¬), and quantifiers (∃ some, ∀ all).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413248"/>
            <a:ext cx="329184" cy="3291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13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2" name="Text 20"/>
          <p:cNvSpPr/>
          <p:nvPr/>
        </p:nvSpPr>
        <p:spPr>
          <a:xfrm>
            <a:off x="1188720" y="53949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projecting fewer attributes than the full tuple, introduce an extra bound variable with ∃ to carry the condition.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Calculus — Summary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2026-07-22T11:26:11Z</dcterms:created>
  <dcterms:modified xsi:type="dcterms:W3CDTF">2026-07-22T11:26:11Z</dcterms:modified>
</cp:coreProperties>
</file>