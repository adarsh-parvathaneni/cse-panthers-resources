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45352" y="5074920"/>
            <a:ext cx="5943600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4416552" y="4572000"/>
            <a:ext cx="7772400" cy="384048"/>
          </a:xfrm>
          <a:prstGeom prst="roundRect">
            <a:avLst>
              <a:gd name="adj" fmla="val 14286"/>
            </a:avLst>
          </a:prstGeom>
          <a:solidFill>
            <a:srgbClr val="065A82">
              <a:alpha val="9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587752" y="4069080"/>
            <a:ext cx="9601200" cy="384048"/>
          </a:xfrm>
          <a:prstGeom prst="roundRect">
            <a:avLst>
              <a:gd name="adj" fmla="val 14286"/>
            </a:avLst>
          </a:prstGeom>
          <a:solidFill>
            <a:srgbClr val="0E3A57">
              <a:alpha val="9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EC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9601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Abstraction, Data Independence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SQL Commands (DDL / DML)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3611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visual guide with syntax and worked Oracle SQL examples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4343400"/>
            <a:ext cx="128016" cy="128016"/>
          </a:xfrm>
          <a:prstGeom prst="ellipse">
            <a:avLst/>
          </a:prstGeom>
          <a:solidFill>
            <a:srgbClr val="5EC6C2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422452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Level  ·  Logical Level  ·  Physical Level  ·  CREATE · ALTER · DROP · SELECT · INSERT · UPDATE · DELETE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assets/lay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66928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3891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48640" y="9601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We Need Data Abstraction?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874520"/>
            <a:ext cx="6035040" cy="4160520"/>
          </a:xfrm>
          <a:prstGeom prst="roundRect">
            <a:avLst>
              <a:gd name="adj" fmla="val 2198"/>
            </a:avLst>
          </a:prstGeom>
          <a:solidFill>
            <a:srgbClr val="EAF3F7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21488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651760"/>
            <a:ext cx="5486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➔"/>
            </a:pPr>
            <a:r>
              <a:rPr lang="en-US" sz="15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databases are physically complex — files, blocks, indexes, pointers.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➔"/>
            </a:pPr>
            <a:r>
              <a:rPr lang="en-US" sz="15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users don’t need (or want) to know how data is physically stored.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➔"/>
            </a:pPr>
            <a:r>
              <a:rPr lang="en-US" sz="15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must reduce this complexity so the system stays usable.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6858000" y="1874520"/>
            <a:ext cx="4800600" cy="4160520"/>
          </a:xfrm>
          <a:prstGeom prst="roundRect">
            <a:avLst>
              <a:gd name="adj" fmla="val 2198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178040" y="21488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Solution: Abstraction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178040" y="269748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 irrelevant details from the user, and expose only what they need — this is data abstraction.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7178040" y="4069080"/>
            <a:ext cx="4206240" cy="0"/>
          </a:xfrm>
          <a:prstGeom prst="line">
            <a:avLst/>
          </a:prstGeom>
          <a:noFill/>
          <a:ln w="12700">
            <a:solidFill>
              <a:srgbClr val="5EC6C2">
                <a:alpha val="6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178040" y="4251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EC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3 levels of data abstraction: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178040" y="470916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2"/>
          <p:cNvSpPr/>
          <p:nvPr/>
        </p:nvSpPr>
        <p:spPr>
          <a:xfrm>
            <a:off x="7178040" y="4709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680960" y="4709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Level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178040" y="516636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5"/>
          <p:cNvSpPr/>
          <p:nvPr/>
        </p:nvSpPr>
        <p:spPr>
          <a:xfrm>
            <a:off x="7178040" y="5166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680960" y="5166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Level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7178040" y="562356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8"/>
          <p:cNvSpPr/>
          <p:nvPr/>
        </p:nvSpPr>
        <p:spPr>
          <a:xfrm>
            <a:off x="7178040" y="5623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680960" y="5623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Level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1457432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assets/sitema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66928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3891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48640" y="9601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Three-Level ANSI/SPARC Architecture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1463040" y="1965960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463040" y="207568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 LEVEL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45920" y="24688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view1  |  view2  |  view3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223760" y="2057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level of abstraction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2103120" y="3246120"/>
            <a:ext cx="4206240" cy="1051560"/>
          </a:xfrm>
          <a:prstGeom prst="roundRect">
            <a:avLst>
              <a:gd name="adj" fmla="val 6957"/>
            </a:avLst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103120" y="33558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LOGICAL LEVEL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286000" y="37490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data is stored — tables, columns, constraints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2743200" y="4526280"/>
            <a:ext cx="2926080" cy="1051560"/>
          </a:xfrm>
          <a:prstGeom prst="roundRect">
            <a:avLst>
              <a:gd name="adj" fmla="val 6957"/>
            </a:avLst>
          </a:prstGeom>
          <a:solidFill>
            <a:srgbClr val="0B1F3A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743200" y="46360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 LEVEL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926080" y="5029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is actually stored — blocks, memory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943600" y="4617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level of abstraction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4206240" y="3063240"/>
            <a:ext cx="0" cy="182880"/>
          </a:xfrm>
          <a:prstGeom prst="line">
            <a:avLst/>
          </a:prstGeom>
          <a:noFill/>
          <a:ln w="19050">
            <a:solidFill>
              <a:srgbClr val="5A7080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4206240" y="4343400"/>
            <a:ext cx="0" cy="182880"/>
          </a:xfrm>
          <a:prstGeom prst="line">
            <a:avLst/>
          </a:prstGeom>
          <a:noFill/>
          <a:ln w="19050">
            <a:solidFill>
              <a:srgbClr val="5A7080"/>
            </a:solidFill>
            <a:prstDash val="solid"/>
            <a:tailEnd type="triangle"/>
          </a:ln>
        </p:spPr>
      </p:sp>
      <p:sp>
        <p:nvSpPr>
          <p:cNvPr id="19" name="Text 16"/>
          <p:cNvSpPr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interact only with the View Level; each level below is hidden from the one above.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11457432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assets/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66928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3891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OF 3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48640" y="9601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 Level — How Data Is Stored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7863840" y="502920"/>
            <a:ext cx="3749040" cy="365760"/>
          </a:xfrm>
          <a:prstGeom prst="roundRect">
            <a:avLst>
              <a:gd name="adj" fmla="val 15000"/>
            </a:avLst>
          </a:prstGeom>
          <a:solidFill>
            <a:srgbClr val="0B1F3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0" y="5029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LEVEL OF ABSTRACTION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1920240"/>
            <a:ext cx="6400800" cy="4114800"/>
          </a:xfrm>
          <a:prstGeom prst="roundRect">
            <a:avLst>
              <a:gd name="adj" fmla="val 2222"/>
            </a:avLst>
          </a:prstGeom>
          <a:solidFill>
            <a:srgbClr val="EAF3F7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2194560"/>
            <a:ext cx="58521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➔"/>
            </a:pPr>
            <a:r>
              <a:rPr lang="en-US" sz="160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how data is actually stored in memory.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➔"/>
            </a:pPr>
            <a:r>
              <a:rPr lang="en-US" sz="160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Deals with storage blocks, memory capacity, and file organization.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➔"/>
            </a:pPr>
            <a:r>
              <a:rPr lang="en-US" sz="160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Completely hidden from the end user — they never see this layer.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223760" y="1920240"/>
            <a:ext cx="4434840" cy="4114800"/>
          </a:xfrm>
          <a:prstGeom prst="roundRect">
            <a:avLst>
              <a:gd name="adj" fmla="val 2222"/>
            </a:avLst>
          </a:prstGeom>
          <a:solidFill>
            <a:srgbClr val="065A82"/>
          </a:solidFill>
          <a:ln/>
        </p:spPr>
      </p:sp>
      <p:sp>
        <p:nvSpPr>
          <p:cNvPr id="11" name="Text 8"/>
          <p:cNvSpPr/>
          <p:nvPr/>
        </p:nvSpPr>
        <p:spPr>
          <a:xfrm>
            <a:off x="7498080" y="2148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Employee Table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498080" y="2606040"/>
            <a:ext cx="3931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➔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across how many disk blocks?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➔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amount of memory used (capacity)?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➔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physical location on disk?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11457432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assets/tab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66928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3891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OF 3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48640" y="9601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Logical Level — What Data Is Stored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7955280" y="502920"/>
            <a:ext cx="3657600" cy="365760"/>
          </a:xfrm>
          <a:prstGeom prst="roundRect">
            <a:avLst>
              <a:gd name="adj" fmla="val 15000"/>
            </a:avLst>
          </a:prstGeom>
          <a:solidFill>
            <a:srgbClr val="065A82"/>
          </a:solidFill>
          <a:ln/>
        </p:spPr>
      </p:sp>
      <p:sp>
        <p:nvSpPr>
          <p:cNvPr id="7" name="Text 4"/>
          <p:cNvSpPr/>
          <p:nvPr/>
        </p:nvSpPr>
        <p:spPr>
          <a:xfrm>
            <a:off x="7955280" y="502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LEVEL OF ABSTRACTION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1920240"/>
            <a:ext cx="6400800" cy="4114800"/>
          </a:xfrm>
          <a:prstGeom prst="roundRect">
            <a:avLst>
              <a:gd name="adj" fmla="val 2222"/>
            </a:avLst>
          </a:prstGeom>
          <a:solidFill>
            <a:srgbClr val="EAF3F7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2194560"/>
            <a:ext cx="58521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➔"/>
            </a:pPr>
            <a:r>
              <a:rPr lang="en-US" sz="160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the whole database in terms of a small number of simple structures (tables).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➔"/>
            </a:pPr>
            <a:r>
              <a:rPr lang="en-US" sz="160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what data is stored, not how it is physically stored.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➔"/>
            </a:pPr>
            <a:r>
              <a:rPr lang="en-US" sz="160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details from the physical level are kept hidden from users at this level.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223760" y="1920240"/>
            <a:ext cx="4434840" cy="4114800"/>
          </a:xfrm>
          <a:prstGeom prst="roundRect">
            <a:avLst>
              <a:gd name="adj" fmla="val 2222"/>
            </a:avLst>
          </a:prstGeom>
          <a:solidFill>
            <a:srgbClr val="1C7293"/>
          </a:solidFill>
          <a:ln/>
        </p:spPr>
      </p:sp>
      <p:sp>
        <p:nvSpPr>
          <p:cNvPr id="11" name="Text 8"/>
          <p:cNvSpPr/>
          <p:nvPr/>
        </p:nvSpPr>
        <p:spPr>
          <a:xfrm>
            <a:off x="7498080" y="214884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Typical Questions Answered Here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498080" y="2788920"/>
            <a:ext cx="3931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➔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tables are created?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➔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attributes (columns) does each table have?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➔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constraints are defined on the table?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11457432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assets/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66928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3891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OF 3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48640" y="9601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 Level — What the User Sees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7818120" y="502920"/>
            <a:ext cx="3794760" cy="365760"/>
          </a:xfrm>
          <a:prstGeom prst="roundRect">
            <a:avLst>
              <a:gd name="adj" fmla="val 15000"/>
            </a:avLst>
          </a:prstGeom>
          <a:solidFill>
            <a:srgbClr val="1C7293"/>
          </a:solidFill>
          <a:ln/>
        </p:spPr>
      </p:sp>
      <p:sp>
        <p:nvSpPr>
          <p:cNvPr id="7" name="Text 4"/>
          <p:cNvSpPr/>
          <p:nvPr/>
        </p:nvSpPr>
        <p:spPr>
          <a:xfrm>
            <a:off x="7818120" y="50292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LEVEL OF ABSTRACTION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1920240"/>
            <a:ext cx="6400800" cy="4114800"/>
          </a:xfrm>
          <a:prstGeom prst="roundRect">
            <a:avLst>
              <a:gd name="adj" fmla="val 2222"/>
            </a:avLst>
          </a:prstGeom>
          <a:solidFill>
            <a:srgbClr val="EAF3F7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2194560"/>
            <a:ext cx="58521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➔"/>
            </a:pPr>
            <a:r>
              <a:rPr lang="en-US" sz="15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some part of the actual database is visible to a given user.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➔"/>
            </a:pPr>
            <a:r>
              <a:rPr lang="en-US" sz="15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view and interact with data in the familiar form of rows and columns.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➔"/>
            </a:pPr>
            <a:r>
              <a:rPr lang="en-US" sz="15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interact directly with the database system through this layer.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➔"/>
            </a:pPr>
            <a:r>
              <a:rPr lang="en-US" sz="15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storage and implementation details are hidden from the user.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7223760" y="1920240"/>
            <a:ext cx="4434840" cy="4114800"/>
          </a:xfrm>
          <a:prstGeom prst="roundRect">
            <a:avLst>
              <a:gd name="adj" fmla="val 2222"/>
            </a:avLst>
          </a:prstGeom>
          <a:solidFill>
            <a:srgbClr val="0B1F3A"/>
          </a:solidFill>
          <a:ln/>
        </p:spPr>
      </p:sp>
      <p:sp>
        <p:nvSpPr>
          <p:cNvPr id="11" name="Text 8"/>
          <p:cNvSpPr/>
          <p:nvPr/>
        </p:nvSpPr>
        <p:spPr>
          <a:xfrm>
            <a:off x="7498080" y="2148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Views, One Database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7498080" y="269748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1C7293"/>
          </a:solidFill>
          <a:ln/>
        </p:spPr>
      </p:sp>
      <p:sp>
        <p:nvSpPr>
          <p:cNvPr id="13" name="Text 10"/>
          <p:cNvSpPr/>
          <p:nvPr/>
        </p:nvSpPr>
        <p:spPr>
          <a:xfrm>
            <a:off x="7498080" y="269748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1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498080" y="365760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1C7293"/>
          </a:solidFill>
          <a:ln/>
        </p:spPr>
      </p:sp>
      <p:sp>
        <p:nvSpPr>
          <p:cNvPr id="15" name="Text 12"/>
          <p:cNvSpPr/>
          <p:nvPr/>
        </p:nvSpPr>
        <p:spPr>
          <a:xfrm>
            <a:off x="7498080" y="365760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2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498080" y="461772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1C7293"/>
          </a:solidFill>
          <a:ln/>
        </p:spPr>
      </p:sp>
      <p:sp>
        <p:nvSpPr>
          <p:cNvPr id="17" name="Text 14"/>
          <p:cNvSpPr/>
          <p:nvPr/>
        </p:nvSpPr>
        <p:spPr>
          <a:xfrm>
            <a:off x="7498080" y="461772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1457432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assets/lin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66928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3891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48640" y="9601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Independence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i="1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ability to change the schema at one level of the database without having to change the schema at the next higher level.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2834640"/>
            <a:ext cx="5486400" cy="3246120"/>
          </a:xfrm>
          <a:prstGeom prst="roundRect">
            <a:avLst>
              <a:gd name="adj" fmla="val 2817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68680" y="31089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1" descr="assets/databas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3218688"/>
            <a:ext cx="329184" cy="329184"/>
          </a:xfrm>
          <a:prstGeom prst="rect">
            <a:avLst/>
          </a:prstGeom>
        </p:spPr>
      </p:pic>
      <p:pic>
        <p:nvPicPr>
          <p:cNvPr id="10" name="Image 2" descr="assets/database_accent.png">    </p:cNvPr>
          <p:cNvPicPr>
            <a:picLocks noChangeAspect="1"/>
          </p:cNvPicPr>
          <p:nvPr/>
        </p:nvPicPr>
        <p:blipFill>
          <a:blip r:embed="rId3">
            <a:alphaModFix amt="0"/>
          </a:blip>
          <a:stretch>
            <a:fillRect/>
          </a:stretch>
        </p:blipFill>
        <p:spPr>
          <a:xfrm>
            <a:off x="978408" y="3218688"/>
            <a:ext cx="329184" cy="32918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554480" y="312724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 Data Independence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914400" y="384048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storage details are independent of the logical (schema) details.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how data is stored on disk does not affect the logical level or the view level.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6309360" y="2834640"/>
            <a:ext cx="5486400" cy="3246120"/>
          </a:xfrm>
          <a:prstGeom prst="roundRect">
            <a:avLst>
              <a:gd name="adj" fmla="val 2817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6629400" y="31089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3" descr="assets/sitemap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9128" y="3218688"/>
            <a:ext cx="329184" cy="329184"/>
          </a:xfrm>
          <a:prstGeom prst="rect">
            <a:avLst/>
          </a:prstGeom>
        </p:spPr>
      </p:pic>
      <p:pic>
        <p:nvPicPr>
          <p:cNvPr id="16" name="Image 4" descr="assets/sitemap_accent.png">    </p:cNvPr>
          <p:cNvPicPr>
            <a:picLocks noChangeAspect="1"/>
          </p:cNvPicPr>
          <p:nvPr/>
        </p:nvPicPr>
        <p:blipFill>
          <a:blip r:embed="rId5">
            <a:alphaModFix amt="0"/>
          </a:blip>
          <a:stretch>
            <a:fillRect/>
          </a:stretch>
        </p:blipFill>
        <p:spPr>
          <a:xfrm>
            <a:off x="6739128" y="3218688"/>
            <a:ext cx="329184" cy="32918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315200" y="312724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Logical Data Independence</a:t>
            </a:r>
            <a:endParaRPr lang="en-US" sz="1700" dirty="0"/>
          </a:p>
        </p:txBody>
      </p:sp>
      <p:sp>
        <p:nvSpPr>
          <p:cNvPr id="18" name="Text 11"/>
          <p:cNvSpPr/>
          <p:nvPr/>
        </p:nvSpPr>
        <p:spPr>
          <a:xfrm>
            <a:off x="6675120" y="384048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change the logical level (e.g. add a table/attribute), it does not affect the view level, external schema, or application programs.</a:t>
            </a:r>
            <a:endParaRPr lang="en-US" sz="1400" dirty="0"/>
          </a:p>
        </p:txBody>
      </p:sp>
      <p:sp>
        <p:nvSpPr>
          <p:cNvPr id="19" name="Text 12"/>
          <p:cNvSpPr/>
          <p:nvPr/>
        </p:nvSpPr>
        <p:spPr>
          <a:xfrm>
            <a:off x="11457432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assets/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66928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3891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INDEPENDENCE · 1 OF 2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48640" y="9601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 Data Independence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1874520"/>
            <a:ext cx="11064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➔"/>
            </a:pPr>
            <a:r>
              <a:rPr lang="en-US" sz="160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storage details are independent of logical storage details.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➔"/>
            </a:pPr>
            <a:r>
              <a:rPr lang="en-US" sz="160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moving a table to different disk blocks, or reorganizing memory layout.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➔"/>
            </a:pPr>
            <a:r>
              <a:rPr lang="en-US" sz="160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change does NOT affect the Logical Level or the View Level above it.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22960" y="3931920"/>
            <a:ext cx="2926080" cy="1188720"/>
          </a:xfrm>
          <a:prstGeom prst="roundRect">
            <a:avLst>
              <a:gd name="adj" fmla="val 6154"/>
            </a:avLst>
          </a:prstGeom>
          <a:solidFill>
            <a:srgbClr val="0B1F3A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4069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 LEVEL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60120" y="44805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/ storage space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(can change freely)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886200" y="4526280"/>
            <a:ext cx="1463040" cy="0"/>
          </a:xfrm>
          <a:prstGeom prst="line">
            <a:avLst/>
          </a:prstGeom>
          <a:noFill/>
          <a:ln w="25400">
            <a:solidFill>
              <a:srgbClr val="5A7080"/>
            </a:solidFill>
            <a:prstDash val="dash"/>
            <a:tailEnd type="triangle"/>
          </a:ln>
        </p:spPr>
      </p:sp>
      <p:sp>
        <p:nvSpPr>
          <p:cNvPr id="11" name="Text 8"/>
          <p:cNvSpPr/>
          <p:nvPr/>
        </p:nvSpPr>
        <p:spPr>
          <a:xfrm>
            <a:off x="3977640" y="40690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impact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0" y="3931920"/>
            <a:ext cx="2926080" cy="1188720"/>
          </a:xfrm>
          <a:prstGeom prst="roundRect">
            <a:avLst>
              <a:gd name="adj" fmla="val 6154"/>
            </a:avLst>
          </a:prstGeom>
          <a:solidFill>
            <a:srgbClr val="065A82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0" y="4069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LOGICAL LEVEL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623560" y="44805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tables, attributes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(stays unchanged)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549640" y="4526280"/>
            <a:ext cx="1463040" cy="0"/>
          </a:xfrm>
          <a:prstGeom prst="line">
            <a:avLst/>
          </a:prstGeom>
          <a:noFill/>
          <a:ln w="25400">
            <a:solidFill>
              <a:srgbClr val="5A7080"/>
            </a:solidFill>
            <a:prstDash val="dash"/>
            <a:tailEnd type="triangle"/>
          </a:ln>
        </p:spPr>
      </p:sp>
      <p:sp>
        <p:nvSpPr>
          <p:cNvPr id="16" name="Text 13"/>
          <p:cNvSpPr/>
          <p:nvPr/>
        </p:nvSpPr>
        <p:spPr>
          <a:xfrm>
            <a:off x="8641080" y="40690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impact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10149840" y="3931920"/>
            <a:ext cx="1508760" cy="1188720"/>
          </a:xfrm>
          <a:prstGeom prst="roundRect">
            <a:avLst>
              <a:gd name="adj" fmla="val 6154"/>
            </a:avLst>
          </a:prstGeom>
          <a:solidFill>
            <a:srgbClr val="1C7293"/>
          </a:solidFill>
          <a:ln/>
        </p:spPr>
      </p:sp>
      <p:sp>
        <p:nvSpPr>
          <p:cNvPr id="18" name="Text 15"/>
          <p:cNvSpPr/>
          <p:nvPr/>
        </p:nvSpPr>
        <p:spPr>
          <a:xfrm>
            <a:off x="10149840" y="42519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22960" y="5349240"/>
            <a:ext cx="10835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starts here → stops here → never reaches here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11457432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assets/sitema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66928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3891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INDEPENDENCE · 2 OF 2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48640" y="9601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Logical Data Independence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187452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➔"/>
            </a:pPr>
            <a:r>
              <a:rPr lang="en-US" sz="160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make changes at the Logical Level (e.g. add a table or column), it does not affect the View Level.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➔"/>
            </a:pPr>
            <a:r>
              <a:rPr lang="en-US" sz="160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schemas and application programs continue to work unchanged.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188720" y="3749040"/>
            <a:ext cx="3108960" cy="1188720"/>
          </a:xfrm>
          <a:prstGeom prst="roundRect">
            <a:avLst>
              <a:gd name="adj" fmla="val 6154"/>
            </a:avLst>
          </a:prstGeom>
          <a:solidFill>
            <a:srgbClr val="065A82"/>
          </a:solidFill>
          <a:ln/>
        </p:spPr>
      </p:sp>
      <p:sp>
        <p:nvSpPr>
          <p:cNvPr id="8" name="Text 5"/>
          <p:cNvSpPr/>
          <p:nvPr/>
        </p:nvSpPr>
        <p:spPr>
          <a:xfrm>
            <a:off x="1188720" y="3886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LOGICAL LEVEL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325880" y="4343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tables / attributes added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434840" y="4343400"/>
            <a:ext cx="1737360" cy="0"/>
          </a:xfrm>
          <a:prstGeom prst="line">
            <a:avLst/>
          </a:prstGeom>
          <a:noFill/>
          <a:ln w="25400">
            <a:solidFill>
              <a:srgbClr val="5A7080"/>
            </a:solidFill>
            <a:prstDash val="dash"/>
            <a:tailEnd type="triangle"/>
          </a:ln>
        </p:spPr>
      </p:sp>
      <p:sp>
        <p:nvSpPr>
          <p:cNvPr id="11" name="Text 8"/>
          <p:cNvSpPr/>
          <p:nvPr/>
        </p:nvSpPr>
        <p:spPr>
          <a:xfrm>
            <a:off x="4572000" y="3886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impact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309360" y="374904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1C7293"/>
          </a:solidFill>
          <a:ln/>
        </p:spPr>
      </p:sp>
      <p:sp>
        <p:nvSpPr>
          <p:cNvPr id="13" name="Text 10"/>
          <p:cNvSpPr/>
          <p:nvPr/>
        </p:nvSpPr>
        <p:spPr>
          <a:xfrm>
            <a:off x="6309360" y="3886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 LEVEL /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 SCHEMA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915400" y="4343400"/>
            <a:ext cx="1371600" cy="0"/>
          </a:xfrm>
          <a:prstGeom prst="line">
            <a:avLst/>
          </a:prstGeom>
          <a:noFill/>
          <a:ln w="25400">
            <a:solidFill>
              <a:srgbClr val="5A7080"/>
            </a:solidFill>
            <a:prstDash val="dash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10378440" y="3749040"/>
            <a:ext cx="1325880" cy="1188720"/>
          </a:xfrm>
          <a:prstGeom prst="roundRect">
            <a:avLst>
              <a:gd name="adj" fmla="val 6154"/>
            </a:avLst>
          </a:prstGeom>
          <a:solidFill>
            <a:srgbClr val="0B1F3A"/>
          </a:solidFill>
          <a:ln/>
        </p:spPr>
      </p:sp>
      <p:sp>
        <p:nvSpPr>
          <p:cNvPr id="16" name="Text 13"/>
          <p:cNvSpPr/>
          <p:nvPr/>
        </p:nvSpPr>
        <p:spPr>
          <a:xfrm>
            <a:off x="10378440" y="406908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22960" y="5166360"/>
            <a:ext cx="10835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keep working even after the logical schema evolves.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11457432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assets/cog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66928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3891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COMMANDS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48640" y="9601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DDL vs. DML — The Two Command Families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920240"/>
            <a:ext cx="5486400" cy="4160520"/>
          </a:xfrm>
          <a:prstGeom prst="roundRect">
            <a:avLst>
              <a:gd name="adj" fmla="val 2198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14400" y="214884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DDL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914400" y="2743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EC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Definition Language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3246120"/>
            <a:ext cx="4754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➔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the database structure — create, alter, delete tables.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➔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Auto-committed: changes are saved permanently right away.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➔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Commands: CREATE, ALTER, DROP, TRUNCATE, RENAME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309360" y="1920240"/>
            <a:ext cx="5486400" cy="4160520"/>
          </a:xfrm>
          <a:prstGeom prst="roundRect">
            <a:avLst>
              <a:gd name="adj" fmla="val 2198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675120" y="214884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DML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6675120" y="2743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EC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 Language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675120" y="3246120"/>
            <a:ext cx="4754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➔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Manipulates the data stored inside a table — insert, update, delete, retrieve.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➔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auto-committed: changes can be rolled back.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➔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Commands: SELECT, INSERT, UPDATE, DELETE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1457432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assets/plu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66928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3891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COMMAND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48640" y="9601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— Defining a New Table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create a table (or database) by specifying column names and their datatypes.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48640" y="237744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1C7293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23774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834640"/>
            <a:ext cx="5394960" cy="3017520"/>
          </a:xfrm>
          <a:prstGeom prst="roundRect">
            <a:avLst>
              <a:gd name="adj" fmla="val 2424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13232" y="2980944"/>
            <a:ext cx="109728" cy="109728"/>
          </a:xfrm>
          <a:prstGeom prst="ellipse">
            <a:avLst/>
          </a:prstGeom>
          <a:solidFill>
            <a:srgbClr val="E5544D"/>
          </a:solidFill>
          <a:ln/>
        </p:spPr>
      </p:sp>
      <p:sp>
        <p:nvSpPr>
          <p:cNvPr id="11" name="Shape 8"/>
          <p:cNvSpPr/>
          <p:nvPr/>
        </p:nvSpPr>
        <p:spPr>
          <a:xfrm>
            <a:off x="914400" y="2980944"/>
            <a:ext cx="109728" cy="109728"/>
          </a:xfrm>
          <a:prstGeom prst="ellipse">
            <a:avLst/>
          </a:prstGeom>
          <a:solidFill>
            <a:srgbClr val="F2B01E"/>
          </a:solidFill>
          <a:ln/>
        </p:spPr>
      </p:sp>
      <p:sp>
        <p:nvSpPr>
          <p:cNvPr id="12" name="Shape 9"/>
          <p:cNvSpPr/>
          <p:nvPr/>
        </p:nvSpPr>
        <p:spPr>
          <a:xfrm>
            <a:off x="1115568" y="298094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0"/>
          <p:cNvSpPr/>
          <p:nvPr/>
        </p:nvSpPr>
        <p:spPr>
          <a:xfrm>
            <a:off x="804672" y="3218688"/>
            <a:ext cx="488289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table_name (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col_name1  datatype,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col_name2  datatype,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...,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col_name_n datatype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263640" y="2377440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065A82"/>
          </a:solidFill>
          <a:ln/>
        </p:spPr>
      </p:sp>
      <p:sp>
        <p:nvSpPr>
          <p:cNvPr id="15" name="Text 12"/>
          <p:cNvSpPr/>
          <p:nvPr/>
        </p:nvSpPr>
        <p:spPr>
          <a:xfrm>
            <a:off x="6263640" y="2377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263640" y="2834640"/>
            <a:ext cx="5394960" cy="3017520"/>
          </a:xfrm>
          <a:prstGeom prst="roundRect">
            <a:avLst>
              <a:gd name="adj" fmla="val 2424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428232" y="2980944"/>
            <a:ext cx="109728" cy="109728"/>
          </a:xfrm>
          <a:prstGeom prst="ellipse">
            <a:avLst/>
          </a:prstGeom>
          <a:solidFill>
            <a:srgbClr val="E5544D"/>
          </a:solidFill>
          <a:ln/>
        </p:spPr>
      </p:sp>
      <p:sp>
        <p:nvSpPr>
          <p:cNvPr id="18" name="Shape 15"/>
          <p:cNvSpPr/>
          <p:nvPr/>
        </p:nvSpPr>
        <p:spPr>
          <a:xfrm>
            <a:off x="6629400" y="2980944"/>
            <a:ext cx="109728" cy="109728"/>
          </a:xfrm>
          <a:prstGeom prst="ellipse">
            <a:avLst/>
          </a:prstGeom>
          <a:solidFill>
            <a:srgbClr val="F2B01E"/>
          </a:solidFill>
          <a:ln/>
        </p:spPr>
      </p:sp>
      <p:sp>
        <p:nvSpPr>
          <p:cNvPr id="19" name="Shape 16"/>
          <p:cNvSpPr/>
          <p:nvPr/>
        </p:nvSpPr>
        <p:spPr>
          <a:xfrm>
            <a:off x="6830568" y="298094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0" name="Text 17"/>
          <p:cNvSpPr/>
          <p:nvPr/>
        </p:nvSpPr>
        <p:spPr>
          <a:xfrm>
            <a:off x="6519672" y="3218688"/>
            <a:ext cx="488289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SQL&gt; create table employee(empid integer,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ename varchar(15), age integer);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E9E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 created.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SQL&gt; desc employee;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   Null?   Type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EMPID           NUMBER(38)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ENAME           VARCHAR2(15)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            NUMBER(38)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1457432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assets/edi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66928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3891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COMMAND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48640" y="9601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ALTER — Changing Table Structure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1783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➔"/>
            </a:pPr>
            <a:r>
              <a:rPr lang="en-US" sz="145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(i) Add a new column     (ii) Change datatype/size of a column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➔"/>
            </a:pPr>
            <a:r>
              <a:rPr lang="en-US" sz="145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(iii) Drop a column        (iv) Rename an existing column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48640" y="2514600"/>
            <a:ext cx="1920240" cy="365760"/>
          </a:xfrm>
          <a:prstGeom prst="roundRect">
            <a:avLst>
              <a:gd name="adj" fmla="val 15000"/>
            </a:avLst>
          </a:prstGeom>
          <a:solidFill>
            <a:srgbClr val="1C7293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2514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COLUMN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97180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13232" y="3118104"/>
            <a:ext cx="109728" cy="109728"/>
          </a:xfrm>
          <a:prstGeom prst="ellipse">
            <a:avLst/>
          </a:prstGeom>
          <a:solidFill>
            <a:srgbClr val="E5544D"/>
          </a:solidFill>
          <a:ln/>
        </p:spPr>
      </p:sp>
      <p:sp>
        <p:nvSpPr>
          <p:cNvPr id="11" name="Shape 8"/>
          <p:cNvSpPr/>
          <p:nvPr/>
        </p:nvSpPr>
        <p:spPr>
          <a:xfrm>
            <a:off x="914400" y="3118104"/>
            <a:ext cx="109728" cy="109728"/>
          </a:xfrm>
          <a:prstGeom prst="ellipse">
            <a:avLst/>
          </a:prstGeom>
          <a:solidFill>
            <a:srgbClr val="F2B01E"/>
          </a:solidFill>
          <a:ln/>
        </p:spPr>
      </p:sp>
      <p:sp>
        <p:nvSpPr>
          <p:cNvPr id="12" name="Shape 9"/>
          <p:cNvSpPr/>
          <p:nvPr/>
        </p:nvSpPr>
        <p:spPr>
          <a:xfrm>
            <a:off x="1115568" y="311810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0"/>
          <p:cNvSpPr/>
          <p:nvPr/>
        </p:nvSpPr>
        <p:spPr>
          <a:xfrm>
            <a:off x="804672" y="3355848"/>
            <a:ext cx="48828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SQL&gt; alter table employee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add(marks integer);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E9E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 altered.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263640" y="2514600"/>
            <a:ext cx="2194560" cy="365760"/>
          </a:xfrm>
          <a:prstGeom prst="roundRect">
            <a:avLst>
              <a:gd name="adj" fmla="val 15000"/>
            </a:avLst>
          </a:prstGeom>
          <a:solidFill>
            <a:srgbClr val="065A82"/>
          </a:solidFill>
          <a:ln/>
        </p:spPr>
      </p:sp>
      <p:sp>
        <p:nvSpPr>
          <p:cNvPr id="15" name="Text 12"/>
          <p:cNvSpPr/>
          <p:nvPr/>
        </p:nvSpPr>
        <p:spPr>
          <a:xfrm>
            <a:off x="6263640" y="2514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A COLUMN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263640" y="297180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428232" y="3118104"/>
            <a:ext cx="109728" cy="109728"/>
          </a:xfrm>
          <a:prstGeom prst="ellipse">
            <a:avLst/>
          </a:prstGeom>
          <a:solidFill>
            <a:srgbClr val="E5544D"/>
          </a:solidFill>
          <a:ln/>
        </p:spPr>
      </p:sp>
      <p:sp>
        <p:nvSpPr>
          <p:cNvPr id="18" name="Shape 15"/>
          <p:cNvSpPr/>
          <p:nvPr/>
        </p:nvSpPr>
        <p:spPr>
          <a:xfrm>
            <a:off x="6629400" y="3118104"/>
            <a:ext cx="109728" cy="109728"/>
          </a:xfrm>
          <a:prstGeom prst="ellipse">
            <a:avLst/>
          </a:prstGeom>
          <a:solidFill>
            <a:srgbClr val="F2B01E"/>
          </a:solidFill>
          <a:ln/>
        </p:spPr>
      </p:sp>
      <p:sp>
        <p:nvSpPr>
          <p:cNvPr id="19" name="Shape 16"/>
          <p:cNvSpPr/>
          <p:nvPr/>
        </p:nvSpPr>
        <p:spPr>
          <a:xfrm>
            <a:off x="6830568" y="311810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0" name="Text 17"/>
          <p:cNvSpPr/>
          <p:nvPr/>
        </p:nvSpPr>
        <p:spPr>
          <a:xfrm>
            <a:off x="6519672" y="3355848"/>
            <a:ext cx="48828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SQL&gt; alter table employee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modify(ename char(10));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E9E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 altered.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48640" y="4846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  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371600" y="48463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table_name add (col_name datatype);      alter table table_name modify (col_name datatype);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48640" y="5349240"/>
            <a:ext cx="11109960" cy="822960"/>
          </a:xfrm>
          <a:prstGeom prst="roundRect">
            <a:avLst>
              <a:gd name="adj" fmla="val 8889"/>
            </a:avLst>
          </a:prstGeom>
          <a:solidFill>
            <a:srgbClr val="EAF3F7"/>
          </a:solidFill>
          <a:ln/>
        </p:spPr>
      </p:sp>
      <p:sp>
        <p:nvSpPr>
          <p:cNvPr id="24" name="Text 21"/>
          <p:cNvSpPr/>
          <p:nvPr/>
        </p:nvSpPr>
        <p:spPr>
          <a:xfrm>
            <a:off x="822960" y="53492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operations preserve existing data — ALTER changes structure, not the rows already stored.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11457432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assets/edi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66928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3891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COMMAND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48640" y="9601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ALTER — Drop &amp; Rename a Column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874520"/>
            <a:ext cx="2011680" cy="365760"/>
          </a:xfrm>
          <a:prstGeom prst="roundRect">
            <a:avLst>
              <a:gd name="adj" fmla="val 15000"/>
            </a:avLst>
          </a:prstGeom>
          <a:solidFill>
            <a:srgbClr val="0B1F3A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874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A COLUMN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23317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table_name drop column col_name;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74320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13232" y="2889504"/>
            <a:ext cx="109728" cy="109728"/>
          </a:xfrm>
          <a:prstGeom prst="ellipse">
            <a:avLst/>
          </a:prstGeom>
          <a:solidFill>
            <a:srgbClr val="E5544D"/>
          </a:solidFill>
          <a:ln/>
        </p:spPr>
      </p:sp>
      <p:sp>
        <p:nvSpPr>
          <p:cNvPr id="11" name="Shape 8"/>
          <p:cNvSpPr/>
          <p:nvPr/>
        </p:nvSpPr>
        <p:spPr>
          <a:xfrm>
            <a:off x="914400" y="2889504"/>
            <a:ext cx="109728" cy="109728"/>
          </a:xfrm>
          <a:prstGeom prst="ellipse">
            <a:avLst/>
          </a:prstGeom>
          <a:solidFill>
            <a:srgbClr val="F2B01E"/>
          </a:solidFill>
          <a:ln/>
        </p:spPr>
      </p:sp>
      <p:sp>
        <p:nvSpPr>
          <p:cNvPr id="12" name="Shape 9"/>
          <p:cNvSpPr/>
          <p:nvPr/>
        </p:nvSpPr>
        <p:spPr>
          <a:xfrm>
            <a:off x="1115568" y="288950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0"/>
          <p:cNvSpPr/>
          <p:nvPr/>
        </p:nvSpPr>
        <p:spPr>
          <a:xfrm>
            <a:off x="804672" y="3127248"/>
            <a:ext cx="48828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SQL&gt; alter table employee drop(gender);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E9E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 altered.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263640" y="1874520"/>
            <a:ext cx="2286000" cy="365760"/>
          </a:xfrm>
          <a:prstGeom prst="roundRect">
            <a:avLst>
              <a:gd name="adj" fmla="val 15000"/>
            </a:avLst>
          </a:prstGeom>
          <a:solidFill>
            <a:srgbClr val="065A82"/>
          </a:solidFill>
          <a:ln/>
        </p:spPr>
      </p:sp>
      <p:sp>
        <p:nvSpPr>
          <p:cNvPr id="15" name="Text 12"/>
          <p:cNvSpPr/>
          <p:nvPr/>
        </p:nvSpPr>
        <p:spPr>
          <a:xfrm>
            <a:off x="6263640" y="1874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A COLUMN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263640" y="23317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table_name rename column old to new;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263640" y="274320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428232" y="2889504"/>
            <a:ext cx="109728" cy="109728"/>
          </a:xfrm>
          <a:prstGeom prst="ellipse">
            <a:avLst/>
          </a:prstGeom>
          <a:solidFill>
            <a:srgbClr val="E5544D"/>
          </a:solidFill>
          <a:ln/>
        </p:spPr>
      </p:sp>
      <p:sp>
        <p:nvSpPr>
          <p:cNvPr id="19" name="Shape 16"/>
          <p:cNvSpPr/>
          <p:nvPr/>
        </p:nvSpPr>
        <p:spPr>
          <a:xfrm>
            <a:off x="6629400" y="2889504"/>
            <a:ext cx="109728" cy="109728"/>
          </a:xfrm>
          <a:prstGeom prst="ellipse">
            <a:avLst/>
          </a:prstGeom>
          <a:solidFill>
            <a:srgbClr val="F2B01E"/>
          </a:solidFill>
          <a:ln/>
        </p:spPr>
      </p:sp>
      <p:sp>
        <p:nvSpPr>
          <p:cNvPr id="20" name="Shape 17"/>
          <p:cNvSpPr/>
          <p:nvPr/>
        </p:nvSpPr>
        <p:spPr>
          <a:xfrm>
            <a:off x="6830568" y="288950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1" name="Text 18"/>
          <p:cNvSpPr/>
          <p:nvPr/>
        </p:nvSpPr>
        <p:spPr>
          <a:xfrm>
            <a:off x="6519672" y="3127248"/>
            <a:ext cx="48828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SQL&gt; alter table employee rename column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ename to employeename;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E9E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 altered.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48640" y="4526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after both changes: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548640" y="4937760"/>
            <a:ext cx="11109960" cy="1691640"/>
          </a:xfrm>
          <a:prstGeom prst="roundRect">
            <a:avLst>
              <a:gd name="adj" fmla="val 4324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13232" y="5084064"/>
            <a:ext cx="109728" cy="109728"/>
          </a:xfrm>
          <a:prstGeom prst="ellipse">
            <a:avLst/>
          </a:prstGeom>
          <a:solidFill>
            <a:srgbClr val="E5544D"/>
          </a:solidFill>
          <a:ln/>
        </p:spPr>
      </p:sp>
      <p:sp>
        <p:nvSpPr>
          <p:cNvPr id="25" name="Shape 22"/>
          <p:cNvSpPr/>
          <p:nvPr/>
        </p:nvSpPr>
        <p:spPr>
          <a:xfrm>
            <a:off x="914400" y="5084064"/>
            <a:ext cx="109728" cy="109728"/>
          </a:xfrm>
          <a:prstGeom prst="ellipse">
            <a:avLst/>
          </a:prstGeom>
          <a:solidFill>
            <a:srgbClr val="F2B01E"/>
          </a:solidFill>
          <a:ln/>
        </p:spPr>
      </p:sp>
      <p:sp>
        <p:nvSpPr>
          <p:cNvPr id="26" name="Shape 23"/>
          <p:cNvSpPr/>
          <p:nvPr/>
        </p:nvSpPr>
        <p:spPr>
          <a:xfrm>
            <a:off x="1115568" y="508406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7" name="Text 24"/>
          <p:cNvSpPr/>
          <p:nvPr/>
        </p:nvSpPr>
        <p:spPr>
          <a:xfrm>
            <a:off x="804672" y="5321808"/>
            <a:ext cx="105978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SQL&gt; desc employee;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         Null?   Type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EID                   NUMBER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EMPLOYEENAME          CHAR(10)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DEPT                  CHAR(5)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SALARY                NUMBER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                  NUMBER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11457432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assets/tras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66928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3891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COMMANDS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48640" y="9601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TRUNCATE, RENAME &amp; DROP a Table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3566160" cy="1874520"/>
          </a:xfrm>
          <a:prstGeom prst="roundRect">
            <a:avLst>
              <a:gd name="adj" fmla="val 4878"/>
            </a:avLst>
          </a:prstGeom>
          <a:solidFill>
            <a:srgbClr val="1C7293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9659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TRUNCATE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77240" y="24231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ALL records at once, but keeps the table structure intact.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297680" y="1828800"/>
            <a:ext cx="3566160" cy="1874520"/>
          </a:xfrm>
          <a:prstGeom prst="roundRect">
            <a:avLst>
              <a:gd name="adj" fmla="val 4878"/>
            </a:avLst>
          </a:prstGeom>
          <a:solidFill>
            <a:srgbClr val="065A82"/>
          </a:solidFill>
          <a:ln/>
        </p:spPr>
      </p:sp>
      <p:sp>
        <p:nvSpPr>
          <p:cNvPr id="10" name="Text 7"/>
          <p:cNvSpPr/>
          <p:nvPr/>
        </p:nvSpPr>
        <p:spPr>
          <a:xfrm>
            <a:off x="4526280" y="19659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RENAME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526280" y="24231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a new name to an existing table.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046720" y="1828800"/>
            <a:ext cx="3566160" cy="1874520"/>
          </a:xfrm>
          <a:prstGeom prst="roundRect">
            <a:avLst>
              <a:gd name="adj" fmla="val 4878"/>
            </a:avLst>
          </a:prstGeom>
          <a:solidFill>
            <a:srgbClr val="0B1F3A"/>
          </a:solidFill>
          <a:ln/>
        </p:spPr>
      </p:sp>
      <p:sp>
        <p:nvSpPr>
          <p:cNvPr id="13" name="Text 10"/>
          <p:cNvSpPr/>
          <p:nvPr/>
        </p:nvSpPr>
        <p:spPr>
          <a:xfrm>
            <a:off x="8275320" y="19659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275320" y="24231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Completely removes the table — both structure AND data are destroyed.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48640" y="3840480"/>
            <a:ext cx="11109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truncate table employee;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rename employee to emp;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 table emp;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48640" y="4754880"/>
            <a:ext cx="11109960" cy="1828800"/>
          </a:xfrm>
          <a:prstGeom prst="roundRect">
            <a:avLst>
              <a:gd name="adj" fmla="val 4000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13232" y="4901184"/>
            <a:ext cx="109728" cy="109728"/>
          </a:xfrm>
          <a:prstGeom prst="ellipse">
            <a:avLst/>
          </a:prstGeom>
          <a:solidFill>
            <a:srgbClr val="E5544D"/>
          </a:solidFill>
          <a:ln/>
        </p:spPr>
      </p:sp>
      <p:sp>
        <p:nvSpPr>
          <p:cNvPr id="18" name="Shape 15"/>
          <p:cNvSpPr/>
          <p:nvPr/>
        </p:nvSpPr>
        <p:spPr>
          <a:xfrm>
            <a:off x="914400" y="4901184"/>
            <a:ext cx="109728" cy="109728"/>
          </a:xfrm>
          <a:prstGeom prst="ellipse">
            <a:avLst/>
          </a:prstGeom>
          <a:solidFill>
            <a:srgbClr val="F2B01E"/>
          </a:solidFill>
          <a:ln/>
        </p:spPr>
      </p:sp>
      <p:sp>
        <p:nvSpPr>
          <p:cNvPr id="19" name="Shape 16"/>
          <p:cNvSpPr/>
          <p:nvPr/>
        </p:nvSpPr>
        <p:spPr>
          <a:xfrm>
            <a:off x="1115568" y="490118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138928"/>
            <a:ext cx="1059789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SQL&gt; truncate table employee;   Table truncated.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SQL&gt; select * from employee;    no rows selected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SQL&gt; rename employee to emp;    Table renamed.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SQL&gt; drop table emp;            Table dropped.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SQL&gt; select * from emp;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0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ORA-00942: table or view does not exist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1457432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assets/sear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66928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3891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DML COMMAND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48640" y="9601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 — Retrieving Records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retrieve records from a table — either all rows/columns, or a specific subset.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48640" y="237744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1C7293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COLUMNS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834640"/>
            <a:ext cx="5394960" cy="3017520"/>
          </a:xfrm>
          <a:prstGeom prst="roundRect">
            <a:avLst>
              <a:gd name="adj" fmla="val 2424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13232" y="2980944"/>
            <a:ext cx="109728" cy="109728"/>
          </a:xfrm>
          <a:prstGeom prst="ellipse">
            <a:avLst/>
          </a:prstGeom>
          <a:solidFill>
            <a:srgbClr val="E5544D"/>
          </a:solidFill>
          <a:ln/>
        </p:spPr>
      </p:sp>
      <p:sp>
        <p:nvSpPr>
          <p:cNvPr id="11" name="Shape 8"/>
          <p:cNvSpPr/>
          <p:nvPr/>
        </p:nvSpPr>
        <p:spPr>
          <a:xfrm>
            <a:off x="914400" y="2980944"/>
            <a:ext cx="109728" cy="109728"/>
          </a:xfrm>
          <a:prstGeom prst="ellipse">
            <a:avLst/>
          </a:prstGeom>
          <a:solidFill>
            <a:srgbClr val="F2B01E"/>
          </a:solidFill>
          <a:ln/>
        </p:spPr>
      </p:sp>
      <p:sp>
        <p:nvSpPr>
          <p:cNvPr id="12" name="Shape 9"/>
          <p:cNvSpPr/>
          <p:nvPr/>
        </p:nvSpPr>
        <p:spPr>
          <a:xfrm>
            <a:off x="1115568" y="298094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0"/>
          <p:cNvSpPr/>
          <p:nvPr/>
        </p:nvSpPr>
        <p:spPr>
          <a:xfrm>
            <a:off x="804672" y="3218688"/>
            <a:ext cx="488289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SQL&gt; select * from employee;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EMPID  ENAME   AGE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    akon    25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102    bkon    24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103    ckon    23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263640" y="2377440"/>
            <a:ext cx="2468880" cy="365760"/>
          </a:xfrm>
          <a:prstGeom prst="roundRect">
            <a:avLst>
              <a:gd name="adj" fmla="val 15000"/>
            </a:avLst>
          </a:prstGeom>
          <a:solidFill>
            <a:srgbClr val="065A82"/>
          </a:solidFill>
          <a:ln/>
        </p:spPr>
      </p:sp>
      <p:sp>
        <p:nvSpPr>
          <p:cNvPr id="15" name="Text 12"/>
          <p:cNvSpPr/>
          <p:nvPr/>
        </p:nvSpPr>
        <p:spPr>
          <a:xfrm>
            <a:off x="6263640" y="2377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COLUMNS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263640" y="2834640"/>
            <a:ext cx="5394960" cy="3017520"/>
          </a:xfrm>
          <a:prstGeom prst="roundRect">
            <a:avLst>
              <a:gd name="adj" fmla="val 2424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428232" y="2980944"/>
            <a:ext cx="109728" cy="109728"/>
          </a:xfrm>
          <a:prstGeom prst="ellipse">
            <a:avLst/>
          </a:prstGeom>
          <a:solidFill>
            <a:srgbClr val="E5544D"/>
          </a:solidFill>
          <a:ln/>
        </p:spPr>
      </p:sp>
      <p:sp>
        <p:nvSpPr>
          <p:cNvPr id="18" name="Shape 15"/>
          <p:cNvSpPr/>
          <p:nvPr/>
        </p:nvSpPr>
        <p:spPr>
          <a:xfrm>
            <a:off x="6629400" y="2980944"/>
            <a:ext cx="109728" cy="109728"/>
          </a:xfrm>
          <a:prstGeom prst="ellipse">
            <a:avLst/>
          </a:prstGeom>
          <a:solidFill>
            <a:srgbClr val="F2B01E"/>
          </a:solidFill>
          <a:ln/>
        </p:spPr>
      </p:sp>
      <p:sp>
        <p:nvSpPr>
          <p:cNvPr id="19" name="Shape 16"/>
          <p:cNvSpPr/>
          <p:nvPr/>
        </p:nvSpPr>
        <p:spPr>
          <a:xfrm>
            <a:off x="6830568" y="298094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0" name="Text 17"/>
          <p:cNvSpPr/>
          <p:nvPr/>
        </p:nvSpPr>
        <p:spPr>
          <a:xfrm>
            <a:off x="6519672" y="3218688"/>
            <a:ext cx="488289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SQL&gt; select empid, ename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from employee;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EMPID  ENAME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    akon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102    bkon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103    ckon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48640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means “all attributes of a table”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1457432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assets/plu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66928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3891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DML COMMAND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48640" y="9601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INSERT — Adding New Records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insert new data (a new row) into a table.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48640" y="237744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1C7293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23774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834640"/>
            <a:ext cx="5394960" cy="1463040"/>
          </a:xfrm>
          <a:prstGeom prst="roundRect">
            <a:avLst>
              <a:gd name="adj" fmla="val 5000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13232" y="2980944"/>
            <a:ext cx="109728" cy="109728"/>
          </a:xfrm>
          <a:prstGeom prst="ellipse">
            <a:avLst/>
          </a:prstGeom>
          <a:solidFill>
            <a:srgbClr val="E5544D"/>
          </a:solidFill>
          <a:ln/>
        </p:spPr>
      </p:sp>
      <p:sp>
        <p:nvSpPr>
          <p:cNvPr id="11" name="Shape 8"/>
          <p:cNvSpPr/>
          <p:nvPr/>
        </p:nvSpPr>
        <p:spPr>
          <a:xfrm>
            <a:off x="914400" y="2980944"/>
            <a:ext cx="109728" cy="109728"/>
          </a:xfrm>
          <a:prstGeom prst="ellipse">
            <a:avLst/>
          </a:prstGeom>
          <a:solidFill>
            <a:srgbClr val="F2B01E"/>
          </a:solidFill>
          <a:ln/>
        </p:spPr>
      </p:sp>
      <p:sp>
        <p:nvSpPr>
          <p:cNvPr id="12" name="Shape 9"/>
          <p:cNvSpPr/>
          <p:nvPr/>
        </p:nvSpPr>
        <p:spPr>
          <a:xfrm>
            <a:off x="1115568" y="298094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0"/>
          <p:cNvSpPr/>
          <p:nvPr/>
        </p:nvSpPr>
        <p:spPr>
          <a:xfrm>
            <a:off x="804672" y="3218688"/>
            <a:ext cx="48828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table_name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 (data1, data2, ...);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263640" y="2377440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065A82"/>
          </a:solidFill>
          <a:ln/>
        </p:spPr>
      </p:sp>
      <p:sp>
        <p:nvSpPr>
          <p:cNvPr id="15" name="Text 12"/>
          <p:cNvSpPr/>
          <p:nvPr/>
        </p:nvSpPr>
        <p:spPr>
          <a:xfrm>
            <a:off x="6263640" y="2377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263640" y="2834640"/>
            <a:ext cx="5394960" cy="1463040"/>
          </a:xfrm>
          <a:prstGeom prst="roundRect">
            <a:avLst>
              <a:gd name="adj" fmla="val 5000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428232" y="2980944"/>
            <a:ext cx="109728" cy="109728"/>
          </a:xfrm>
          <a:prstGeom prst="ellipse">
            <a:avLst/>
          </a:prstGeom>
          <a:solidFill>
            <a:srgbClr val="E5544D"/>
          </a:solidFill>
          <a:ln/>
        </p:spPr>
      </p:sp>
      <p:sp>
        <p:nvSpPr>
          <p:cNvPr id="18" name="Shape 15"/>
          <p:cNvSpPr/>
          <p:nvPr/>
        </p:nvSpPr>
        <p:spPr>
          <a:xfrm>
            <a:off x="6629400" y="2980944"/>
            <a:ext cx="109728" cy="109728"/>
          </a:xfrm>
          <a:prstGeom prst="ellipse">
            <a:avLst/>
          </a:prstGeom>
          <a:solidFill>
            <a:srgbClr val="F2B01E"/>
          </a:solidFill>
          <a:ln/>
        </p:spPr>
      </p:sp>
      <p:sp>
        <p:nvSpPr>
          <p:cNvPr id="19" name="Shape 16"/>
          <p:cNvSpPr/>
          <p:nvPr/>
        </p:nvSpPr>
        <p:spPr>
          <a:xfrm>
            <a:off x="6830568" y="298094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0" name="Text 17"/>
          <p:cNvSpPr/>
          <p:nvPr/>
        </p:nvSpPr>
        <p:spPr>
          <a:xfrm>
            <a:off x="6519672" y="3218688"/>
            <a:ext cx="48828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SQL&gt; insert into employee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values(101,'akon',25);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E9E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row created.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48640" y="4572000"/>
            <a:ext cx="11109960" cy="1005840"/>
          </a:xfrm>
          <a:prstGeom prst="roundRect">
            <a:avLst>
              <a:gd name="adj" fmla="val 7273"/>
            </a:avLst>
          </a:prstGeom>
          <a:solidFill>
            <a:srgbClr val="EAF3F7"/>
          </a:solidFill>
          <a:ln/>
        </p:spPr>
      </p:sp>
      <p:sp>
        <p:nvSpPr>
          <p:cNvPr id="22" name="Text 19"/>
          <p:cNvSpPr/>
          <p:nvPr/>
        </p:nvSpPr>
        <p:spPr>
          <a:xfrm>
            <a:off x="868680" y="45720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values must be listed in the same order as the table’s columns, and text values are wrapped in single quotes.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1457432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assets/exchang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66928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3891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DML COMMANDS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48640" y="9601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 &amp; DELETE — Modifying Records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1C7293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8288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22860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table_name set col_name = value where condition;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74320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13232" y="2889504"/>
            <a:ext cx="109728" cy="109728"/>
          </a:xfrm>
          <a:prstGeom prst="ellipse">
            <a:avLst/>
          </a:prstGeom>
          <a:solidFill>
            <a:srgbClr val="E5544D"/>
          </a:solidFill>
          <a:ln/>
        </p:spPr>
      </p:sp>
      <p:sp>
        <p:nvSpPr>
          <p:cNvPr id="11" name="Shape 8"/>
          <p:cNvSpPr/>
          <p:nvPr/>
        </p:nvSpPr>
        <p:spPr>
          <a:xfrm>
            <a:off x="914400" y="2889504"/>
            <a:ext cx="109728" cy="109728"/>
          </a:xfrm>
          <a:prstGeom prst="ellipse">
            <a:avLst/>
          </a:prstGeom>
          <a:solidFill>
            <a:srgbClr val="F2B01E"/>
          </a:solidFill>
          <a:ln/>
        </p:spPr>
      </p:sp>
      <p:sp>
        <p:nvSpPr>
          <p:cNvPr id="12" name="Shape 9"/>
          <p:cNvSpPr/>
          <p:nvPr/>
        </p:nvSpPr>
        <p:spPr>
          <a:xfrm>
            <a:off x="1115568" y="288950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0"/>
          <p:cNvSpPr/>
          <p:nvPr/>
        </p:nvSpPr>
        <p:spPr>
          <a:xfrm>
            <a:off x="804672" y="3127248"/>
            <a:ext cx="488289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SQL&gt; update employee set age=28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where empid=103;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9E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row updated.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EMPID  ENAME   AGE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103    ckon    28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263640" y="1828800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0B1F3A"/>
          </a:solidFill>
          <a:ln/>
        </p:spPr>
      </p:sp>
      <p:sp>
        <p:nvSpPr>
          <p:cNvPr id="15" name="Text 12"/>
          <p:cNvSpPr/>
          <p:nvPr/>
        </p:nvSpPr>
        <p:spPr>
          <a:xfrm>
            <a:off x="6263640" y="18288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263640" y="22860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from table_name where condition;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263640" y="274320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428232" y="2889504"/>
            <a:ext cx="109728" cy="109728"/>
          </a:xfrm>
          <a:prstGeom prst="ellipse">
            <a:avLst/>
          </a:prstGeom>
          <a:solidFill>
            <a:srgbClr val="E5544D"/>
          </a:solidFill>
          <a:ln/>
        </p:spPr>
      </p:sp>
      <p:sp>
        <p:nvSpPr>
          <p:cNvPr id="19" name="Shape 16"/>
          <p:cNvSpPr/>
          <p:nvPr/>
        </p:nvSpPr>
        <p:spPr>
          <a:xfrm>
            <a:off x="6629400" y="2889504"/>
            <a:ext cx="109728" cy="109728"/>
          </a:xfrm>
          <a:prstGeom prst="ellipse">
            <a:avLst/>
          </a:prstGeom>
          <a:solidFill>
            <a:srgbClr val="F2B01E"/>
          </a:solidFill>
          <a:ln/>
        </p:spPr>
      </p:sp>
      <p:sp>
        <p:nvSpPr>
          <p:cNvPr id="20" name="Shape 17"/>
          <p:cNvSpPr/>
          <p:nvPr/>
        </p:nvSpPr>
        <p:spPr>
          <a:xfrm>
            <a:off x="6830568" y="288950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1" name="Text 18"/>
          <p:cNvSpPr/>
          <p:nvPr/>
        </p:nvSpPr>
        <p:spPr>
          <a:xfrm>
            <a:off x="6519672" y="3127248"/>
            <a:ext cx="488289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SQL&gt; delete from employee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where empid=102;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9E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row deleted.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EMPID  ENAME   AGE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    akon    18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103    ckon    30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11457432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EC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12294A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240280"/>
            <a:ext cx="411480" cy="411480"/>
          </a:xfrm>
          <a:prstGeom prst="ellipse">
            <a:avLst/>
          </a:prstGeom>
          <a:solidFill>
            <a:srgbClr val="5EC6C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40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08760" y="21945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Levels of Abstraction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2651760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(top) → Logical (middle) → Physical (bottom) — each hides detail from the level above.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96596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12294A"/>
          </a:solidFill>
          <a:ln/>
        </p:spPr>
      </p:sp>
      <p:sp>
        <p:nvSpPr>
          <p:cNvPr id="10" name="Shape 8"/>
          <p:cNvSpPr/>
          <p:nvPr/>
        </p:nvSpPr>
        <p:spPr>
          <a:xfrm>
            <a:off x="6492240" y="2240280"/>
            <a:ext cx="411480" cy="411480"/>
          </a:xfrm>
          <a:prstGeom prst="ellipse">
            <a:avLst/>
          </a:prstGeom>
          <a:solidFill>
            <a:srgbClr val="5EC6C2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240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86600" y="21945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Types of Independence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86600" y="2651760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independence protects the logical level; logical independence protects the view level &amp; apps.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06908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12294A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4343400"/>
            <a:ext cx="411480" cy="411480"/>
          </a:xfrm>
          <a:prstGeom prst="ellipse">
            <a:avLst/>
          </a:prstGeom>
          <a:solidFill>
            <a:srgbClr val="5EC6C2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343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4297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DDL Commands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08760" y="4754880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ALTER, DROP, TRUNCATE, RENAME — define structure, auto-committed.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406908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12294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92240" y="4343400"/>
            <a:ext cx="411480" cy="411480"/>
          </a:xfrm>
          <a:prstGeom prst="ellipse">
            <a:avLst/>
          </a:prstGeom>
          <a:solidFill>
            <a:srgbClr val="5EC6C2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4343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86600" y="4297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DML Commands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86600" y="4754880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SELECT, INSERT, UPDATE, DELETE — manipulate data, changes can be rolled back.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457432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Abstraction, Data Independence &amp; SQL Commands</dc:title>
  <dc:subject>PptxGenJS Presentation</dc:subject>
  <dc:creator>Database Fundamentals</dc:creator>
  <cp:lastModifiedBy>Database Fundamentals</cp:lastModifiedBy>
  <cp:revision>1</cp:revision>
  <dcterms:created xsi:type="dcterms:W3CDTF">2026-07-04T05:21:52Z</dcterms:created>
  <dcterms:modified xsi:type="dcterms:W3CDTF">2026-07-04T05:21:52Z</dcterms:modified>
</cp:coreProperties>
</file>