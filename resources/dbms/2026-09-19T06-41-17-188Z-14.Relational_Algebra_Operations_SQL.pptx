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12188952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Operations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SQL Commands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12 / 07 /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26880" y="914400"/>
            <a:ext cx="2011680" cy="1371600"/>
          </a:xfrm>
          <a:prstGeom prst="rect">
            <a:avLst/>
          </a:prstGeom>
          <a:solidFill>
            <a:srgbClr val="082C42"/>
          </a:solidFill>
          <a:ln w="12700">
            <a:solidFill>
              <a:srgbClr val="1B7A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64040" y="100584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B  C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1  2  4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2  2  3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3  2  3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 which uses SQL commands to perform various operations on a DBMS.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0789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procedural query language.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takes relation as input and generates relation as output.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mainly provides theoretical foundation for relational database and SQL.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AF2F5"/>
          </a:solidFill>
          <a:ln w="12700">
            <a:solidFill>
              <a:srgbClr val="1B7A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 </a:t>
            </a:r>
            <a:pPr algn="ctr" indent="0" marL="0">
              <a:buNone/>
            </a:pPr>
            <a:r>
              <a:rPr lang="en-US" sz="180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Operation  </a:t>
            </a:r>
            <a:pPr algn="ctr" indent="0" marL="0">
              <a:buNone/>
            </a:pPr>
            <a:r>
              <a:rPr lang="en-US" sz="1800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ctr" indent="0" marL="0">
              <a:buNone/>
            </a:pPr>
            <a:r>
              <a:rPr lang="en-US" sz="18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(output)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in Relational Algebra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035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Projection ( π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Selection ( σ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Union ( ∪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Set Difference ( −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Rename ( ρ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Cartesian Product ( ×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Natural Join ( ⋈ 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Conditional Join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Equi Join ( ⋈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Left Outer Join ( ⟕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Right Outer Join ( ⟖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Full Outer Join ( ⟗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Division Operator ( ÷ )</a:t>
            </a:r>
            <a:endParaRPr lang="en-US" sz="1800" dirty="0"/>
          </a:p>
          <a:p>
            <a:pPr indent="0" marL="0">
              <a:spcAft>
                <a:spcPts val="2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Intersection ( ∩ 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89320" y="1463040"/>
            <a:ext cx="0" cy="4846320"/>
          </a:xfrm>
          <a:prstGeom prst="line">
            <a:avLst/>
          </a:prstGeom>
          <a:noFill/>
          <a:ln w="12700">
            <a:solidFill>
              <a:srgbClr val="D1D9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Projection ( π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to project required column data from a relation.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R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651760"/>
          <a:ext cx="30175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31089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EAF2F5"/>
          </a:solidFill>
          <a:ln w="12700">
            <a:solidFill>
              <a:srgbClr val="1B7A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31089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B,C (R)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00400" y="3429000"/>
            <a:ext cx="137160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64008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651760"/>
          <a:ext cx="2011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852160" y="3429000"/>
            <a:ext cx="146304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Selection ( σ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to select required tuples from the relation.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select the tuple/record which have C value more than 3.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R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3017520"/>
          <a:ext cx="28803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663440" y="32461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EAF2F5"/>
          </a:solidFill>
          <a:ln w="12700">
            <a:solidFill>
              <a:srgbClr val="1B7A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 ( σ (C&gt;3) (R) 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840480" y="3566160"/>
            <a:ext cx="82296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76809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3017520"/>
          <a:ext cx="28803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040880" y="3566160"/>
            <a:ext cx="59436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Union ( ∪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to combine 2 tables, but the 2 tables should have the same set of attributes.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tuples which are in both R1 and R2 will appear only once in the result relation.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17520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7490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3017520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67512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∪ R2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381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3017520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Set Difference ( −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set of attributes should be in R1 and R2.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retrieves the tuples which are in R1 but not in R2.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EAF2F5"/>
          </a:solidFill>
          <a:ln w="12700">
            <a:solidFill>
              <a:srgbClr val="1B7A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{1, 2, 3, 4, 5}
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{3, 4, 5, 6, 7, 8}
</a:t>
            </a:r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− B = {1, 2}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49040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74904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3749040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675120" y="3840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R1 − R2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1381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3749040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Rename ( ρ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unary operation used for renaming the attributes of a relation.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ρ(a/b)(R)  →  rename the attribute 'b' of the relation by 'a'.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R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971800"/>
          <a:ext cx="28803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310896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AF2F5"/>
          </a:solidFill>
          <a:ln w="12700">
            <a:solidFill>
              <a:srgbClr val="1B7A8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3108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ρ(d/c) (R)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91840" y="3429000"/>
            <a:ext cx="123444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676656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(C renamed to d)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971800"/>
          <a:ext cx="28803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400800" y="3429000"/>
            <a:ext cx="32004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Intersection ( ∩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to give a relation with tuples which are in R1 as well as R2.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perform intersection, the same set of attributes should be available in both relations.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17520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74904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3017520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67512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∩ R2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381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3017520"/>
          <a:ext cx="26060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Division Operator ( ÷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operator A ÷ B (or A/B) can be applied if and only if attributes of R2 is a proper subset of attributes of R1.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 returned by the ÷ operator will have attributes = (All attributes of R1 − All attributes of R2).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those tuples from relation R1 which are associated with every R2 tuple.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480560"/>
          <a:ext cx="17373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1089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4480560"/>
          <a:ext cx="868680" cy="914400"/>
        </p:xfrm>
        <a:graphic>
          <a:graphicData uri="http://schemas.openxmlformats.org/drawingml/2006/table">
            <a:tbl>
              <a:tblPr/>
              <a:tblGrid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12064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÷ R2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58368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480560"/>
          <a:ext cx="868680" cy="914400"/>
        </p:xfrm>
        <a:graphic>
          <a:graphicData uri="http://schemas.openxmlformats.org/drawingml/2006/table">
            <a:tbl>
              <a:tblPr/>
              <a:tblGrid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Cartesian Product ( ×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to pair each record of table A with every record of table B.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table A has 'n' tuples and table B has 'm' tuples, then A × B will have n × m tuples.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51760"/>
          <a:ext cx="2788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772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651760"/>
          <a:ext cx="1737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× B = 3 × 2 = 6 records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343400"/>
          <a:ext cx="4800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77240"/>
                <a:gridCol w="1051560"/>
                <a:gridCol w="640080"/>
                <a:gridCol w="10515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Natural Join ( ⋈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to combine 2 or more relations. The result will be the set of all combinations of tuples where they have an equal common attribute.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51760"/>
          <a:ext cx="2651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651760"/>
          <a:ext cx="2103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 ⋈ Dept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3152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66344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Conditional Join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join works similarly to natural join.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natural join, by default the condition is equality on common attributes.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in conditional join, we can specify any condition ( &gt; , &lt; , = 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(mid-1 Marks)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2286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1089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(mid-2 Marks)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3566160"/>
          <a:ext cx="2286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338328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EAF2F5"/>
          </a:solidFill>
          <a:ln w="12700">
            <a:solidFill>
              <a:srgbClr val="1B7A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94360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⋈ S ( R.Marks &gt;= S.Marks 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54880"/>
          <a:ext cx="4242816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685800"/>
                <a:gridCol w="777240"/>
                <a:gridCol w="658368"/>
                <a:gridCol w="685800"/>
                <a:gridCol w="7772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R.Marks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S.Marks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Equi Join ( ⋈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 join is a special case of conditional join where only the equality condition holds between a pair of attributes.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condition:  Employee.dept_id = Department.dept_id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63240"/>
          <a:ext cx="26517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063240"/>
          <a:ext cx="1920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724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 ⋈ Department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937760"/>
          <a:ext cx="37033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914400"/>
                <a:gridCol w="10515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Left Outer Join ( ⟕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all the records of the left table and only the matched records of the right table.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(left)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51760"/>
          <a:ext cx="2743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377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(right)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651760"/>
          <a:ext cx="2103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 ⟕ Department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617720"/>
          <a:ext cx="3794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10515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Right Outer Join ( ⟖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all the records of the right table and only the matched records of the left table.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(left)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51760"/>
          <a:ext cx="2743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377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(right)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651760"/>
          <a:ext cx="2103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 ⟖ Department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617720"/>
          <a:ext cx="3794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10515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Full Outer Join ( ⟗ 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returns all records of the left table and all records of the right table.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(left)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651760"/>
          <a:ext cx="2743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377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(right)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651760"/>
          <a:ext cx="2103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 ⟗ Department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617720"/>
          <a:ext cx="37947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10515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>
                    <a:lnL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Selection   σ dept_id=13 (Employee2)     2) Projection   π ename,dept_id (Employee2)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846320"/>
          </a:xfrm>
          <a:prstGeom prst="roundRect">
            <a:avLst>
              <a:gd name="adj" fmla="val 1132"/>
            </a:avLst>
          </a:prstGeom>
          <a:solidFill>
            <a:srgbClr val="10151C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5157216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department;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DEPT_ID DNAME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 ----------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13 IT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14 sales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15 operations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employee2 where dept_id=13;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EMPID ENAME       DEPT_ID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 ----------- ----------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102 bkon               13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10151C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709928"/>
            <a:ext cx="506577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ename, dept_id from employee2;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ENAME       DEPT_ID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----------- ----------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akon               12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bkon               13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ckon               14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384048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EAF2F5"/>
          </a:solidFill>
          <a:ln w="12700">
            <a:solidFill>
              <a:srgbClr val="1B7A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402336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
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Selection (σ) maps to the SQL 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clause.
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Projection (π) maps to naming columns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after  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B3D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instead of using  *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Union     4) Intersect     5) Set Difference → EXCEPT  (A − B  =  A EXCEPT B)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846320"/>
          </a:xfrm>
          <a:prstGeom prst="roundRect">
            <a:avLst>
              <a:gd name="adj" fmla="val 1132"/>
            </a:avLst>
          </a:prstGeom>
          <a:solidFill>
            <a:srgbClr val="10151C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5157216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manager;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EMPID NAME       BRANCH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 ---------- ----------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104 dkon       hyd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105 ekon       wgl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106 fkon       knr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103 ckon       knr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employee;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EMPID NAME       BRANCH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 ---------- ----------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101 akon       hyd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102 bkon       wgl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103 ckon       knr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4846320"/>
          </a:xfrm>
          <a:prstGeom prst="roundRect">
            <a:avLst>
              <a:gd name="adj" fmla="val 1132"/>
            </a:avLst>
          </a:prstGeom>
          <a:solidFill>
            <a:srgbClr val="10151C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709928"/>
            <a:ext cx="5065776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union select * from manager;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 rows: akon,bkon,ckon,dkon,ekon,fkon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intersect select * from manager;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103 ckon       knr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except select * from manager;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101 akon       hyd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102 bkon       wgl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Cartesian Product     Natural / Equi Join (implicit join syntax)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846320"/>
          </a:xfrm>
          <a:prstGeom prst="roundRect">
            <a:avLst>
              <a:gd name="adj" fmla="val 1132"/>
            </a:avLst>
          </a:prstGeom>
          <a:solidFill>
            <a:srgbClr val="10151C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5157216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employee2, department;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EMPID ENAME  DEPT_ID DEPT_ID DNAME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------ ------- ------- ------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 akon      12      13   IT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 akon      12      14   sales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 akon      12      15   operations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102 bkon      13      13   IT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102 bkon      13      14   sales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102 bkon      13      15   operations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103 ckon      14      13   IT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103 ckon      14      14   sales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103 ckon      14      15   operations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rows selected.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2743200"/>
          </a:xfrm>
          <a:prstGeom prst="roundRect">
            <a:avLst>
              <a:gd name="adj" fmla="val 2000"/>
            </a:avLst>
          </a:prstGeom>
          <a:solidFill>
            <a:srgbClr val="10151C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709928"/>
            <a:ext cx="506577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Natural / equi join --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employee2 e,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department d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e.dept_id = d.dept_id;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EMPID ENAME DEPT_ID DEPT_ID DNAME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----- ------- ------- -----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102 bkon     13      13   IT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103 ckon     14      14   sales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45262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EAF2F5"/>
          </a:solidFill>
          <a:ln w="12700">
            <a:solidFill>
              <a:srgbClr val="1B7A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47091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product ( × )  →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A, B</a:t>
            </a:r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3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 ( ⋈ )  →  add a 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condition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equating the common column.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3D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JOIN syntax — INNER / LEFT / RIGHT / FULL, and Rename (AS)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846320"/>
          </a:xfrm>
          <a:prstGeom prst="roundRect">
            <a:avLst>
              <a:gd name="adj" fmla="val 1132"/>
            </a:avLst>
          </a:prstGeom>
          <a:solidFill>
            <a:srgbClr val="10151C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09928"/>
            <a:ext cx="5157216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Explicit join syntax --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employee2 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join department d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on e.dept_id = d.dept_id;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102 bkon  13  13  IT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103 ckon  14  14  sales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Left join --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employee2 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left join department d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on e.dept_id = d.dept_id;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102 bkon  13  13  IT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103 ckon  14  14  sales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101 akon  12  -   -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10151C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709928"/>
            <a:ext cx="506577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Right join / Full join --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employee2 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right join department d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on e.dept_id = d.dept_id;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102 bkon 13 13 IT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103 ckon 14 14 sales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   -   -  15 operations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* from employee2 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full join department d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on e.dept_id = d.dept_id;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(all rows from both tables)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4983480"/>
            <a:ext cx="5394960" cy="1554480"/>
          </a:xfrm>
          <a:prstGeom prst="roundRect">
            <a:avLst>
              <a:gd name="adj" fmla="val 3529"/>
            </a:avLst>
          </a:prstGeom>
          <a:solidFill>
            <a:srgbClr val="10151C"/>
          </a:solidFill>
          <a:ln w="9525">
            <a:solidFill>
              <a:srgbClr val="2A3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5093208"/>
            <a:ext cx="506577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Rename ( ρ ) using AS --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SQL&gt; select name as emp_name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from employee;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EMP_NAME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-----------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akon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bkon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ckon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07040" y="6537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2026-07-15T07:09:21Z</dcterms:created>
  <dcterms:modified xsi:type="dcterms:W3CDTF">2026-07-15T07:09:21Z</dcterms:modified>
</cp:coreProperties>
</file>