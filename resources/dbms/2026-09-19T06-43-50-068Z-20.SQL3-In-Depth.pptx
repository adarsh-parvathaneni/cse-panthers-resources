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C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SQL:1999 — THE OBJECT-RELATIONAL STANDARD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24028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SQL3 In Depth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Concepts, syntax, and commands that extended SQL into an object-relational language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023360"/>
            <a:ext cx="1280160" cy="0"/>
          </a:xfrm>
          <a:prstGeom prst="line">
            <a:avLst/>
          </a:prstGeom>
          <a:noFill/>
          <a:ln w="25400">
            <a:solidFill>
              <a:srgbClr val="8CC7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4434840"/>
            <a:ext cx="1228039" cy="384048"/>
          </a:xfrm>
          <a:prstGeom prst="roundRect">
            <a:avLst>
              <a:gd name="adj" fmla="val 50000"/>
            </a:avLst>
          </a:prstGeom>
          <a:solidFill>
            <a:srgbClr val="1B2450"/>
          </a:solidFill>
          <a:ln w="12700">
            <a:solidFill>
              <a:srgbClr val="3741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434840"/>
            <a:ext cx="122803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TYPE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33879" y="4434840"/>
            <a:ext cx="1483157" cy="384048"/>
          </a:xfrm>
          <a:prstGeom prst="roundRect">
            <a:avLst>
              <a:gd name="adj" fmla="val 50000"/>
            </a:avLst>
          </a:prstGeom>
          <a:solidFill>
            <a:srgbClr val="1B2450"/>
          </a:solidFill>
          <a:ln w="12700">
            <a:solidFill>
              <a:srgbClr val="3741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33879" y="4434840"/>
            <a:ext cx="148315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TRIGGER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99916" y="4434840"/>
            <a:ext cx="1483157" cy="384048"/>
          </a:xfrm>
          <a:prstGeom prst="roundRect">
            <a:avLst>
              <a:gd name="adj" fmla="val 50000"/>
            </a:avLst>
          </a:prstGeom>
          <a:solidFill>
            <a:srgbClr val="1B2450"/>
          </a:solidFill>
          <a:ln w="12700">
            <a:solidFill>
              <a:srgbClr val="3741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99916" y="4434840"/>
            <a:ext cx="148315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RECURSIVE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65953" y="4434840"/>
            <a:ext cx="1653235" cy="384048"/>
          </a:xfrm>
          <a:prstGeom prst="roundRect">
            <a:avLst>
              <a:gd name="adj" fmla="val 50000"/>
            </a:avLst>
          </a:prstGeom>
          <a:solidFill>
            <a:srgbClr val="1B2450"/>
          </a:solidFill>
          <a:ln w="12700">
            <a:solidFill>
              <a:srgbClr val="3741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65953" y="4434840"/>
            <a:ext cx="165323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PROCEDURE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02068" y="4434840"/>
            <a:ext cx="1908353" cy="384048"/>
          </a:xfrm>
          <a:prstGeom prst="roundRect">
            <a:avLst>
              <a:gd name="adj" fmla="val 50000"/>
            </a:avLst>
          </a:prstGeom>
          <a:solidFill>
            <a:srgbClr val="1B2450"/>
          </a:solidFill>
          <a:ln w="12700">
            <a:solidFill>
              <a:srgbClr val="3741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2068" y="4434840"/>
            <a:ext cx="190835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 / BLOB / CLOB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SQL3?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SQL:1999 — the fourth major ANSI/ISO revision, ratified after roughly a decade of drafting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9E6EA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691640"/>
            <a:ext cx="128016" cy="128016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63677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Object-Relational Model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20116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relational tables with object-oriented ideas: user-defined types, inheritance, and object references.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9E6EA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64808" y="1691640"/>
            <a:ext cx="128016" cy="128016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63677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Standard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116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parts — Framework, Foundation, CLI, PSM, Bindings — so features evolve independently.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9E6EA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" y="3246120"/>
            <a:ext cx="128016" cy="128016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19125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Extensions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" y="356616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SQL/PSM (Persistent Stored Modules) brings loops, conditionals, and variables inside the database.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063240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9E6EA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64808" y="3246120"/>
            <a:ext cx="128016" cy="128016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319125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Databases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19672" y="356616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triggers let the database react automatically to data changes.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617720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9E6EA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4800600"/>
            <a:ext cx="128016" cy="128016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474573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Queries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6112" y="51206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RECURSIVE enables hierarchical and graph traversal directly in SQL.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4617720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9E6EA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64808" y="4800600"/>
            <a:ext cx="128016" cy="128016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474573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Types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19672" y="51206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ARRAY, ROW, BOOLEAN, and large objects (BLOB/CLOB) for complex application data.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User-Defined Types — CREATE TYPE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SQL3's core building block: structured types with named attributes and methods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309360" cy="2834640"/>
          </a:xfrm>
          <a:prstGeom prst="roundRect">
            <a:avLst>
              <a:gd name="adj" fmla="val 2581"/>
            </a:avLst>
          </a:prstGeom>
          <a:solidFill>
            <a:srgbClr val="132048"/>
          </a:solidFill>
          <a:ln w="12700">
            <a:solidFill>
              <a:srgbClr val="3741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2763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F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58521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TYPE address_t AS (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street   VARCHAR(50),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city     VARCHAR(30),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zip      VARCHAR(10)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 FINAL;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TYPE person_t AS (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    VARCHAR(50),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addr     address_t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METHOD get_city() RETURNS VARCHAR(30);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223760" y="1600200"/>
            <a:ext cx="42976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a reusable structured type — like a class blueprint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FINAL allows subtypes to extend it (type inheritance)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can nest other types as attributes (addr above)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attaches behavior, not just data, to the type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declare typed columns or typed tables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Typed Tables &amp; Object References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SQL3 gives rows object identity — one row can point to another via REF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309360" cy="3017520"/>
          </a:xfrm>
          <a:prstGeom prst="roundRect">
            <a:avLst>
              <a:gd name="adj" fmla="val 2424"/>
            </a:avLst>
          </a:prstGeom>
          <a:solidFill>
            <a:srgbClr val="132048"/>
          </a:solidFill>
          <a:ln w="12700">
            <a:solidFill>
              <a:srgbClr val="3741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2763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F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58521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Table built directly from a UDT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people OF person_t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(REF IS person_id SYSTEM GENERATED);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Another table referencing a person row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orders (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order_id   INTEGER PRIMARY KEY,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buyer      REF(person_t) SCOPE people,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amount     DECIMAL(10,2)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Dereference a REF with the -&gt; operator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buyer-&gt;name FROM orders;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223760" y="1600200"/>
            <a:ext cx="42976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ties a table to a structured type — each row is a typed object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IS creates a system-generated object identifier per row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tables can store a REF instead of duplicating data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-&gt; operator dereferences: like following a pointer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Mimics object-oriented references inside a relational table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Triggers — CREATE TRIGGER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syntax for the database to react automatically to data changes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309360" cy="3017520"/>
          </a:xfrm>
          <a:prstGeom prst="roundRect">
            <a:avLst>
              <a:gd name="adj" fmla="val 2424"/>
            </a:avLst>
          </a:prstGeom>
          <a:solidFill>
            <a:srgbClr val="132048"/>
          </a:solidFill>
          <a:ln w="12700">
            <a:solidFill>
              <a:srgbClr val="3741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2763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F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58521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TRIGGER trg_audit_salary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AFTER UPDATE OF salary ON employees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REFERENCING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OLD ROW AS old_row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ROW AS new_row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EACH ROW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(new_row.salary &lt;&gt; old_row.salary)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BEGIN ATOMIC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INSERT INTO salary_log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VALUES (old_row.emp_id,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old_row.salary,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new_row.salary,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CURRENT_TIMESTAMP);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END;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223760" y="1600200"/>
            <a:ext cx="42976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 / INSTEAD OF choose the timing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INSERT, UPDATE, or DELETE selects the event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REFERENCING exposes OLD ROW / NEW ROW for comparison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ROW fires once per affected row (vs. once per statement)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adds a condition so the trigger body only runs when needed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Stored Procedures — SQL/PSM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SQL/PSM adds procedural logic: variables, conditionals, and loops inside the database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309360" cy="3017520"/>
          </a:xfrm>
          <a:prstGeom prst="roundRect">
            <a:avLst>
              <a:gd name="adj" fmla="val 2424"/>
            </a:avLst>
          </a:prstGeom>
          <a:solidFill>
            <a:srgbClr val="132048"/>
          </a:solidFill>
          <a:ln w="12700">
            <a:solidFill>
              <a:srgbClr val="3741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2763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F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58521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PROCEDURE give_raise (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  emp_id   INTEGER,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  pct      DECIMAL(5,2)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 SQL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DECLARE cur_salary DECIMAL(10,2);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salary INTO cur_salary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employees WHERE id = emp_id;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cur_salary IS NOT NULL THEN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UPDATE employees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 salary = cur_salary * (1 + pct/100)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WHERE id = emp_id;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IF;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223760" y="1600200"/>
            <a:ext cx="42976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1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PROCEDURE / CREATE FUNCTION define reusable routines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IN, OUT, INOUT parameter modes control data flow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introduces local variables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IF...THEN...END IF and loops (WHILE, LOOP, REPEAT) add control flow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invokes a procedure from SQL or an application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Recursive Queries — WITH RECURSIVE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table expression that repeats until no new rows are produced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309360" cy="3017520"/>
          </a:xfrm>
          <a:prstGeom prst="roundRect">
            <a:avLst>
              <a:gd name="adj" fmla="val 2424"/>
            </a:avLst>
          </a:prstGeom>
          <a:solidFill>
            <a:srgbClr val="132048"/>
          </a:solidFill>
          <a:ln w="12700">
            <a:solidFill>
              <a:srgbClr val="3741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2763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F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58521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RECURSIVE org_chart (emp_id, name, mgr_id, lvl) AS (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 Anchor: top-level employees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emp_id, name, mgr_id, 1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employees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mgr_id IS NULL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UNION ALL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 Recursive step: each employee's reports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e.emp_id, e.name, e.mgr_id, o.lvl + 1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employees e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JOIN org_chart o ON e.mgr_id = o.emp_id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org_chart ORDER BY lvl;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223760" y="1600200"/>
            <a:ext cx="42976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member seeds the recursion (base case)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ALL joins the anchor to the recursive member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member references the CTE's own name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repeats until a step returns zero rows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org charts, bill-of-materials, and graph paths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Data Types in SQL3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scalars: collections, composite rows, and large objects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309360" cy="3017520"/>
          </a:xfrm>
          <a:prstGeom prst="roundRect">
            <a:avLst>
              <a:gd name="adj" fmla="val 2424"/>
            </a:avLst>
          </a:prstGeom>
          <a:solidFill>
            <a:srgbClr val="132048"/>
          </a:solidFill>
          <a:ln w="12700">
            <a:solidFill>
              <a:srgbClr val="3741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2763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F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58521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product (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      INTEGER PRIMARY KEY,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    VARCHAR(60),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tags     VARCHAR(20) ARRAY[5],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photo    BLOB(2M),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manual   CLOB(10M),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active   BOOLEAN DEFAULT TRUE,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dims     ROW(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w DECIMAL(6,2),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h DECIMAL(6,2))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223760" y="1600200"/>
            <a:ext cx="4297680" cy="530352"/>
          </a:xfrm>
          <a:prstGeom prst="roundRect">
            <a:avLst>
              <a:gd name="adj" fmla="val 13793"/>
            </a:avLst>
          </a:prstGeom>
          <a:solidFill>
            <a:srgbClr val="1B2450"/>
          </a:solidFill>
          <a:ln w="12700">
            <a:solidFill>
              <a:srgbClr val="3741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60920" y="1600200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549640" y="1600200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collection of values in one column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23760" y="2221992"/>
            <a:ext cx="4297680" cy="530352"/>
          </a:xfrm>
          <a:prstGeom prst="roundRect">
            <a:avLst>
              <a:gd name="adj" fmla="val 13793"/>
            </a:avLst>
          </a:prstGeom>
          <a:solidFill>
            <a:srgbClr val="1B2450"/>
          </a:solidFill>
          <a:ln w="12700">
            <a:solidFill>
              <a:srgbClr val="3741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60920" y="2221992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549640" y="2221992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composite value grouping several fields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23760" y="2843784"/>
            <a:ext cx="4297680" cy="530352"/>
          </a:xfrm>
          <a:prstGeom prst="roundRect">
            <a:avLst>
              <a:gd name="adj" fmla="val 13793"/>
            </a:avLst>
          </a:prstGeom>
          <a:solidFill>
            <a:srgbClr val="1B2450"/>
          </a:solidFill>
          <a:ln w="12700">
            <a:solidFill>
              <a:srgbClr val="3741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60920" y="2843784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549640" y="2843784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 / UNKNOWN — finally standardized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23760" y="3465576"/>
            <a:ext cx="4297680" cy="530352"/>
          </a:xfrm>
          <a:prstGeom prst="roundRect">
            <a:avLst>
              <a:gd name="adj" fmla="val 13793"/>
            </a:avLst>
          </a:prstGeom>
          <a:solidFill>
            <a:srgbClr val="1B2450"/>
          </a:solidFill>
          <a:ln w="12700">
            <a:solidFill>
              <a:srgbClr val="3741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0920" y="3465576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BLOB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549640" y="3465576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Large Object — images, files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23760" y="4087368"/>
            <a:ext cx="4297680" cy="530352"/>
          </a:xfrm>
          <a:prstGeom prst="roundRect">
            <a:avLst>
              <a:gd name="adj" fmla="val 13793"/>
            </a:avLst>
          </a:prstGeom>
          <a:solidFill>
            <a:srgbClr val="1B2450"/>
          </a:solidFill>
          <a:ln w="12700">
            <a:solidFill>
              <a:srgbClr val="3741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4087368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CLOB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549640" y="4087368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Large Object — long text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SQL3 Command Cheat Sheet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commands introduced or extended by SQL:1999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4937760"/>
        </p:xfrm>
        <a:graphic>
          <a:graphicData uri="http://schemas.openxmlformats.org/drawingml/2006/table">
            <a:tbl>
              <a:tblPr/>
              <a:tblGrid>
                <a:gridCol w="4206240"/>
                <a:gridCol w="66751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TYPE ... AS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a user-defined structured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TABLE ... OF type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typed table bound to a UDT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REF(type) / ... -&gt; ...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and dereference an object reference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TRIGGER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logic automatically on INSERT/UPDATE/DELETE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PROCEDURE / FUNCTION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reusable procedural routines (SQL/PSM)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WITH RECURSIVE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a self-referencing recursive query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ROLE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Standardized role-based access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ARRAY / ROW / BOOLEAN / BLOB / CLOB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data types for complex values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Still Matters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RDBMS today speaks a dialect of SQL3's extensions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377440"/>
            <a:ext cx="98755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4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Oracle, and DB2 all support user-defined types and typed tables</a:t>
            </a:r>
            <a:endParaRPr lang="en-US" sz="1500" dirty="0"/>
          </a:p>
          <a:p>
            <a:pPr marL="254000" indent="-254000">
              <a:spcAft>
                <a:spcPts val="14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and stored procedures (SQL/PSM) are now baseline features everywhere</a:t>
            </a:r>
            <a:endParaRPr lang="en-US" sz="1500" dirty="0"/>
          </a:p>
          <a:p>
            <a:pPr marL="254000" indent="-254000">
              <a:spcAft>
                <a:spcPts val="14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RECURSIVE ships in virtually every modern database engine</a:t>
            </a:r>
            <a:endParaRPr lang="en-US" sz="1500" dirty="0"/>
          </a:p>
          <a:p>
            <a:pPr marL="254000" indent="-254000">
              <a:spcAft>
                <a:spcPts val="14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ARRAY, BOOLEAN, and large-object types are standard in PostgreSQL and Oracle</a:t>
            </a:r>
            <a:endParaRPr lang="en-US" sz="1500" dirty="0"/>
          </a:p>
          <a:p>
            <a:pPr marL="254000" indent="-254000">
              <a:spcAft>
                <a:spcPts val="14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standards (SQL:2003, 2008, 2016) build directly on SQL3's foundation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2026-07-25T04:21:39Z</dcterms:created>
  <dcterms:modified xsi:type="dcterms:W3CDTF">2026-07-25T04:21:39Z</dcterms:modified>
</cp:coreProperties>
</file>