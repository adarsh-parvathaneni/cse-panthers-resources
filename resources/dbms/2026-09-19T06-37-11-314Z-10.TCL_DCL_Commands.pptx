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3.png"/><Relationship Id="rId6" Type="http://schemas.openxmlformats.org/officeDocument/2006/relationships/image" Target="../media/image-10-6.png"/><Relationship Id="rId7" Type="http://schemas.openxmlformats.org/officeDocument/2006/relationships/image" Target="../media/image-10-3.png"/><Relationship Id="rId8" Type="http://schemas.openxmlformats.org/officeDocument/2006/relationships/image" Target="../media/image-10-4.png"/><Relationship Id="rId9" Type="http://schemas.openxmlformats.org/officeDocument/2006/relationships/image" Target="../media/image-10-3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3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cl_dcl/assets/grad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4" name="Image 1" descr="/home/claude/tcl_dcl/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963778"/>
            <a:ext cx="404165" cy="404165"/>
          </a:xfrm>
          <a:prstGeom prst="rect">
            <a:avLst/>
          </a:prstGeom>
        </p:spPr>
      </p:pic>
      <p:pic>
        <p:nvPicPr>
          <p:cNvPr id="5" name="Image 2" descr="/home/claude/tcl_dcl/asset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923544"/>
            <a:ext cx="484632" cy="4846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2296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7" name="Text 2"/>
          <p:cNvSpPr/>
          <p:nvPr/>
        </p:nvSpPr>
        <p:spPr>
          <a:xfrm>
            <a:off x="77724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&amp; DCL Commands</a:t>
            </a:r>
            <a:endParaRPr lang="en-US" sz="5000" dirty="0"/>
          </a:p>
        </p:txBody>
      </p:sp>
      <p:sp>
        <p:nvSpPr>
          <p:cNvPr id="8" name="Text 3"/>
          <p:cNvSpPr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Transactions and Access in SQL</a:t>
            </a:r>
            <a:endParaRPr lang="en-US" sz="1900" dirty="0"/>
          </a:p>
        </p:txBody>
      </p:sp>
      <p:sp>
        <p:nvSpPr>
          <p:cNvPr id="9" name="Shape 4"/>
          <p:cNvSpPr/>
          <p:nvPr/>
        </p:nvSpPr>
        <p:spPr>
          <a:xfrm>
            <a:off x="822960" y="46177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22960" y="461772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2002536" y="461772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002536" y="461772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392424" y="4617720"/>
            <a:ext cx="133045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392424" y="4617720"/>
            <a:ext cx="1330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887468" y="4617720"/>
            <a:ext cx="909828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87468" y="4617720"/>
            <a:ext cx="9098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61888" y="461772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4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61888" y="461772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" y="179222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tcl_dcl/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05" y="1937065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69164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Command Categories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08760" y="205740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of where TCL and DCL fit in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77356" y="150876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15100" y="179222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tcl_dcl/asset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941" y="1937065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83196" y="169164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Sample Schema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83196" y="205740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Employees table used in every example today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297180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0664" y="32552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tcl_dcl/assets/gitbran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505" y="3400105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15468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TCL: Transaction Control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08760" y="352044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ROLLBACK, SAVEPOINT with live examples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277356" y="297180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15100" y="32552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tcl_dcl/asset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941" y="3400105"/>
            <a:ext cx="313822" cy="31382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83196" y="315468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Transaction Walkthrough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83196" y="352044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commands work together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443484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0664" y="471830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5" descr="/home/claude/tcl_dcl/asset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05" y="4863145"/>
            <a:ext cx="313822" cy="31382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08760" y="461772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DCL: Data Control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508760" y="49834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and REVOKE for managing access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277356" y="4434840"/>
            <a:ext cx="5408676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15100" y="471830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/home/claude/tcl_dcl/asset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9941" y="4863145"/>
            <a:ext cx="313822" cy="31382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83196" y="4617720"/>
            <a:ext cx="42199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Takeaways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83196" y="4983480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vs DCL vs DML, and what to remember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TCL &amp; DCL FIT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Recap: Five Command Categories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2031797" cy="384048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2011680"/>
            <a:ext cx="20317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49915" y="2651760"/>
            <a:ext cx="1137806" cy="0"/>
          </a:xfrm>
          <a:prstGeom prst="line">
            <a:avLst/>
          </a:prstGeom>
          <a:noFill/>
          <a:ln w="15875">
            <a:solidFill>
              <a:srgbClr val="D8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83464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2648" y="448056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CREATE, ALTER, DROP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0749" y="1691640"/>
            <a:ext cx="2031797" cy="384048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90749" y="2011680"/>
            <a:ext cx="20317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237744" y="2651760"/>
            <a:ext cx="1137806" cy="0"/>
          </a:xfrm>
          <a:prstGeom prst="line">
            <a:avLst/>
          </a:prstGeom>
          <a:noFill/>
          <a:ln w="15875">
            <a:solidFill>
              <a:srgbClr val="D8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7909" y="283464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900477" y="448056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UPDATE, DELETE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78578" y="1691640"/>
            <a:ext cx="2031797" cy="3840480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78578" y="2011680"/>
            <a:ext cx="20317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525573" y="2651760"/>
            <a:ext cx="1137806" cy="0"/>
          </a:xfrm>
          <a:prstGeom prst="line">
            <a:avLst/>
          </a:prstGeom>
          <a:noFill/>
          <a:ln w="15875">
            <a:solidFill>
              <a:srgbClr val="D8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15738" y="283464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188306" y="448056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366406" y="1691640"/>
            <a:ext cx="2031797" cy="3840480"/>
          </a:xfrm>
          <a:prstGeom prst="roundRect">
            <a:avLst>
              <a:gd name="adj" fmla="val 40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66406" y="2011680"/>
            <a:ext cx="20317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7813402" y="2651760"/>
            <a:ext cx="1137806" cy="0"/>
          </a:xfrm>
          <a:prstGeom prst="line">
            <a:avLst/>
          </a:prstGeom>
          <a:noFill/>
          <a:ln w="1587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03566" y="283464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76134" y="448056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COMMIT, ROLLBACK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25105" y="149047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7925105" y="1490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654235" y="1691640"/>
            <a:ext cx="2031797" cy="3840480"/>
          </a:xfrm>
          <a:prstGeom prst="roundRect">
            <a:avLst>
              <a:gd name="adj" fmla="val 40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654235" y="2011680"/>
            <a:ext cx="20317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</a:t>
            </a:r>
            <a:endParaRPr lang="en-US" sz="2600" dirty="0"/>
          </a:p>
        </p:txBody>
      </p:sp>
      <p:sp>
        <p:nvSpPr>
          <p:cNvPr id="30" name="Shape 27"/>
          <p:cNvSpPr/>
          <p:nvPr/>
        </p:nvSpPr>
        <p:spPr>
          <a:xfrm>
            <a:off x="10101230" y="2651760"/>
            <a:ext cx="1137806" cy="0"/>
          </a:xfrm>
          <a:prstGeom prst="line">
            <a:avLst/>
          </a:prstGeom>
          <a:noFill/>
          <a:ln w="1587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791395" y="2834640"/>
            <a:ext cx="17574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763963" y="4480560"/>
            <a:ext cx="181234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GRANT, REVOKE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0212934" y="149047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4" name="Text 31"/>
          <p:cNvSpPr/>
          <p:nvPr/>
        </p:nvSpPr>
        <p:spPr>
          <a:xfrm>
            <a:off x="10212934" y="1490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EVERY 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Sample Database: Employees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" y="1600200"/>
            <a:ext cx="5212080" cy="502920"/>
          </a:xfrm>
          <a:prstGeom prst="roundRect">
            <a:avLst>
              <a:gd name="adj" fmla="val 16364"/>
            </a:avLst>
          </a:prstGeom>
          <a:solidFill>
            <a:srgbClr val="21295C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1874520"/>
            <a:ext cx="5212080" cy="2286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 Table Schema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331720" y="2286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0" y="22860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2852928"/>
            <a:ext cx="5029200" cy="566928"/>
          </a:xfrm>
          <a:prstGeom prst="rect">
            <a:avLst/>
          </a:prstGeom>
          <a:solidFill>
            <a:srgbClr val="E8F2F7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8529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331720" y="285292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0" y="285292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name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34198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331720" y="341985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VARCHAR(30)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40480" y="341985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Sales, HR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3986784"/>
            <a:ext cx="5029200" cy="566928"/>
          </a:xfrm>
          <a:prstGeom prst="rect">
            <a:avLst/>
          </a:prstGeom>
          <a:solidFill>
            <a:srgbClr val="E8F2F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9867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331720" y="39867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DECIMAL(10,2)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40480" y="39867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35040" y="1600200"/>
            <a:ext cx="56692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35040" y="1600200"/>
            <a:ext cx="566928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26" name="Shape 23"/>
          <p:cNvSpPr/>
          <p:nvPr/>
        </p:nvSpPr>
        <p:spPr>
          <a:xfrm>
            <a:off x="6035040" y="1874520"/>
            <a:ext cx="566928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Rows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09360" y="22585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7086600" y="2258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8641080" y="2258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0104120" y="22585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309360" y="2578608"/>
            <a:ext cx="5120640" cy="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27157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086600" y="27157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Aditi Rao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8641080" y="2715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0104120" y="2715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45,000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309360" y="31363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7086600" y="3136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Karan Mehta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8641080" y="3136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136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38,000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309360" y="35570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103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7086600" y="35570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Nair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8641080" y="3557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10104120" y="35570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52,000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309360" y="3977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08660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Rohan Iyer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864108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10104120" y="39776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60,000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630936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this exact Employees table for every TCL and DCL example ahead.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tcl_dcl/assets/git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TCL?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commands manage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sequence of one or more SQL statements executed as a single, all-or-nothing unit of work.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9260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07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every statement in a transaction succeeds, or none of them 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7673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648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904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can be undone before they become permanent.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60857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489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DML: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" y="474573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commands control DML statements like INSERT, UPDATE, DELETE.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92240" y="16002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Transaction Boundary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086600" y="2331720"/>
            <a:ext cx="402336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23760" y="233172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begins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98280" y="2752344"/>
            <a:ext cx="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86600" y="2898648"/>
            <a:ext cx="402336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0" y="2898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Employees SET ...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098280" y="3319272"/>
            <a:ext cx="0" cy="146304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86600" y="3465576"/>
            <a:ext cx="4023360" cy="420624"/>
          </a:xfrm>
          <a:prstGeom prst="roundRect">
            <a:avLst>
              <a:gd name="adj" fmla="val 1521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23760" y="3465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Employees ...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098280" y="3895344"/>
            <a:ext cx="0" cy="182880"/>
          </a:xfrm>
          <a:prstGeom prst="line">
            <a:avLst/>
          </a:prstGeom>
          <a:noFill/>
          <a:ln w="190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86600" y="4078224"/>
            <a:ext cx="190195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40782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9208008" y="4078224"/>
            <a:ext cx="1901952" cy="502920"/>
          </a:xfrm>
          <a:prstGeom prst="roundRect">
            <a:avLst>
              <a:gd name="adj" fmla="val 14545"/>
            </a:avLst>
          </a:prstGeom>
          <a:solidFill>
            <a:srgbClr val="8A4B4B"/>
          </a:solidFill>
          <a:ln/>
        </p:spPr>
      </p:sp>
      <p:sp>
        <p:nvSpPr>
          <p:cNvPr id="30" name="Text 27"/>
          <p:cNvSpPr/>
          <p:nvPr/>
        </p:nvSpPr>
        <p:spPr>
          <a:xfrm>
            <a:off x="9208008" y="407822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changes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tcl_dcl/asset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COMMANDS TO KNOW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Commands at a Glance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2555748" cy="384048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96746" y="205740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tcl_dcl/asset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089" y="2241743"/>
            <a:ext cx="399410" cy="3994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063240"/>
            <a:ext cx="2372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8952" y="3611880"/>
            <a:ext cx="20436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saves all changes made during the current transaction.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78708" y="1691640"/>
            <a:ext cx="2555748" cy="384048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72534" y="2057400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tcl_dcl/assets/rotatecc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877" y="2241743"/>
            <a:ext cx="399410" cy="3994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0148" y="3063240"/>
            <a:ext cx="2372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34740" y="3611880"/>
            <a:ext cx="20436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changes made since the last COMMIT or SAVEPOINT.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54496" y="1691640"/>
            <a:ext cx="2555748" cy="384048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48322" y="2057400"/>
            <a:ext cx="768096" cy="76809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3" descr="/home/claude/tcl_dcl/assets/book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665" y="2241743"/>
            <a:ext cx="399410" cy="3994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45936" y="3063240"/>
            <a:ext cx="2372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6510528" y="3611880"/>
            <a:ext cx="20436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checkpoint inside a transaction to roll back to later.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130284" y="1691640"/>
            <a:ext cx="2555748" cy="3840480"/>
          </a:xfrm>
          <a:prstGeom prst="roundRect">
            <a:avLst>
              <a:gd name="adj" fmla="val 3220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024110" y="2057400"/>
            <a:ext cx="768096" cy="768096"/>
          </a:xfrm>
          <a:prstGeom prst="ellipse">
            <a:avLst/>
          </a:prstGeom>
          <a:solidFill>
            <a:srgbClr val="3E5C76"/>
          </a:solidFill>
          <a:ln/>
        </p:spPr>
      </p:sp>
      <p:pic>
        <p:nvPicPr>
          <p:cNvPr id="23" name="Image 4" descr="/home/claude/tcl_dcl/asset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8453" y="2241743"/>
            <a:ext cx="399410" cy="3994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21724" y="3063240"/>
            <a:ext cx="23728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TRANSACTION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9386316" y="3611880"/>
            <a:ext cx="20436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properties for the transaction, such as isolation level.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permanently saves every change made during the current transaction. Once committed, the changes cannot be rolled back.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880360"/>
            <a:ext cx="292608" cy="292608"/>
          </a:xfrm>
          <a:prstGeom prst="ellipse">
            <a:avLst/>
          </a:prstGeom>
          <a:solidFill>
            <a:srgbClr val="ECFAF5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8" name="Image 1" descr="/home/claude/tcl_dcl/asset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95351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8254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current transaction successfully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447288"/>
            <a:ext cx="292608" cy="292608"/>
          </a:xfrm>
          <a:prstGeom prst="ellipse">
            <a:avLst/>
          </a:prstGeom>
          <a:solidFill>
            <a:srgbClr val="ECFAF5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2" descr="/home/claude/tcl_dcl/assets/chec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2044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3924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changes visible to all other users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ECFAF5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3" descr="/home/claude/tcl_dcl/assets/chec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08736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959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any locks held during the transaction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9360" y="15544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3233A"/>
          </a:solidFill>
          <a:ln/>
          <a:effectLst>
            <a:outerShdw sx="100000" sy="100000" kx="0" ky="0" algn="bl" rotWithShape="0" blurRad="101600" dist="38100" dir="5400000">
              <a:srgbClr val="0A0F1C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92240" y="17007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2"/>
          <p:cNvSpPr/>
          <p:nvPr/>
        </p:nvSpPr>
        <p:spPr>
          <a:xfrm>
            <a:off x="6693408" y="17007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3"/>
          <p:cNvSpPr/>
          <p:nvPr/>
        </p:nvSpPr>
        <p:spPr>
          <a:xfrm>
            <a:off x="6894576" y="170078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4"/>
          <p:cNvSpPr/>
          <p:nvPr/>
        </p:nvSpPr>
        <p:spPr>
          <a:xfrm>
            <a:off x="6309360" y="1682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employees_raise.sql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83680" y="1938528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'Sales';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309360" y="47548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E8F2F7"/>
          </a:solidFill>
          <a:ln w="12700">
            <a:solidFill>
              <a:srgbClr val="E8F2F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3796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and Priya's salaries are permanently increased. The change is now visible to every user.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tcl_dcl/assets/rotatec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undoes changes made during the current transaction, restoring the data to its state at the last COMMIT (or SAVEPOINT).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880360"/>
            <a:ext cx="292608" cy="292608"/>
          </a:xfrm>
          <a:prstGeom prst="ellipse">
            <a:avLst/>
          </a:prstGeom>
          <a:solidFill>
            <a:srgbClr val="E7F1F7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1" descr="/home/claude/tcl_dcl/assets/rotateccw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95351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8254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uncommitted changes safely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447288"/>
            <a:ext cx="292608" cy="292608"/>
          </a:xfrm>
          <a:prstGeom prst="ellipse">
            <a:avLst/>
          </a:prstGeom>
          <a:solidFill>
            <a:srgbClr val="E7F1F7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2" descr="/home/claude/tcl_dcl/assets/rotateccw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52044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3924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a mistake is spotted mid-transaction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4014216"/>
            <a:ext cx="292608" cy="292608"/>
          </a:xfrm>
          <a:prstGeom prst="ellipse">
            <a:avLst/>
          </a:prstGeom>
          <a:solidFill>
            <a:srgbClr val="E7F1F7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3" descr="/home/claude/tcl_dcl/assets/rotateccw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408736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9593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SAVEPOINT, undoes the whole transaction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9360" y="155448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13233A"/>
          </a:solidFill>
          <a:ln/>
          <a:effectLst>
            <a:outerShdw sx="100000" sy="100000" kx="0" ky="0" algn="bl" rotWithShape="0" blurRad="101600" dist="38100" dir="5400000">
              <a:srgbClr val="0A0F1C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92240" y="17007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2"/>
          <p:cNvSpPr/>
          <p:nvPr/>
        </p:nvSpPr>
        <p:spPr>
          <a:xfrm>
            <a:off x="6693408" y="17007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3"/>
          <p:cNvSpPr/>
          <p:nvPr/>
        </p:nvSpPr>
        <p:spPr>
          <a:xfrm>
            <a:off x="6894576" y="170078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4"/>
          <p:cNvSpPr/>
          <p:nvPr/>
        </p:nvSpPr>
        <p:spPr>
          <a:xfrm>
            <a:off x="6309360" y="1682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employees_fix.sql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83680" y="1938528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Oops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employee!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309360" y="47548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E8F2F7"/>
          </a:solidFill>
          <a:ln w="12700">
            <a:solidFill>
              <a:srgbClr val="E8F2F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37960" y="4754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Aditi's salary reverts to ₹45,000. The mistaken deduction never took effect.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tcl_dcl/assets/book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SAVEPOINT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marks a named checkpoint inside a transaction, so you can roll back part of it without losing everything.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8" name="Image 1" descr="/home/claude/tcl_dcl/assets/bookmar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1635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883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rollback point within a transaction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310128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1" name="Image 2" descr="/home/claude/tcl_dcl/assets/bookmar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38328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2552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&lt;name&gt; undoes only later changes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4" name="Image 3" descr="/home/claude/tcl_dcl/assets/bookmark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5020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822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savepoints can exist in one transaction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9360" y="15544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13233A"/>
          </a:solidFill>
          <a:ln/>
          <a:effectLst>
            <a:outerShdw sx="100000" sy="100000" kx="0" ky="0" algn="bl" rotWithShape="0" blurRad="101600" dist="38100" dir="5400000">
              <a:srgbClr val="0A0F1C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92240" y="17007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2"/>
          <p:cNvSpPr/>
          <p:nvPr/>
        </p:nvSpPr>
        <p:spPr>
          <a:xfrm>
            <a:off x="6693408" y="17007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3"/>
          <p:cNvSpPr/>
          <p:nvPr/>
        </p:nvSpPr>
        <p:spPr>
          <a:xfrm>
            <a:off x="6894576" y="170078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4"/>
          <p:cNvSpPr/>
          <p:nvPr/>
        </p:nvSpPr>
        <p:spPr>
          <a:xfrm>
            <a:off x="6309360" y="1682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employees_savepoint.sql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83680" y="1938528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SAVEPOINT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after_raise;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'HR'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EmpID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70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after_raise;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02920" y="41605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8F2F7"/>
          </a:solidFill>
          <a:ln w="12700">
            <a:solidFill>
              <a:srgbClr val="E8F2F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7724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₹2,000 raise is kept, but the department change is undone — only the part after the savepoint rolls back.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tcl_dcl/assets/refre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TRANSACTION WALKTHROUGH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76706" y="1664208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670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58418" y="2423160"/>
            <a:ext cx="585216" cy="585216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0" name="Image 1" descr="/home/claude/tcl_dcl/asset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70" y="2563612"/>
            <a:ext cx="304312" cy="304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1264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or BEGIN TRANSACTION</a:t>
            </a:r>
            <a:endParaRPr lang="en-US" sz="1050" dirty="0"/>
          </a:p>
        </p:txBody>
      </p:sp>
      <p:pic>
        <p:nvPicPr>
          <p:cNvPr id="13" name="Image 2" descr="/home/claude/tcl_dcl/asset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32" y="3374136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40030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2974086" y="1664208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97408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2955798" y="24231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/home/claude/tcl_dcl/asset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250" y="2563612"/>
            <a:ext cx="304312" cy="304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1002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salary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251002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applied for EmpID 101</a:t>
            </a:r>
            <a:endParaRPr lang="en-US" sz="1050" dirty="0"/>
          </a:p>
        </p:txBody>
      </p:sp>
      <p:pic>
        <p:nvPicPr>
          <p:cNvPr id="21" name="Image 4" descr="/home/claude/tcl_dcl/asset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3374136"/>
            <a:ext cx="201168" cy="20116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29768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871466" y="1664208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87146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18"/>
          <p:cNvSpPr/>
          <p:nvPr/>
        </p:nvSpPr>
        <p:spPr>
          <a:xfrm>
            <a:off x="4853178" y="242316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5" descr="/home/claude/tcl_dcl/assets/book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630" y="2563612"/>
            <a:ext cx="304312" cy="304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0740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set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40740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named after_raise</a:t>
            </a:r>
            <a:endParaRPr lang="en-US" sz="1050" dirty="0"/>
          </a:p>
        </p:txBody>
      </p:sp>
      <p:pic>
        <p:nvPicPr>
          <p:cNvPr id="29" name="Image 6" descr="/home/claude/tcl_dcl/asset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892" y="3374136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19506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768846" y="1664208"/>
            <a:ext cx="548640" cy="54864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676884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24"/>
          <p:cNvSpPr/>
          <p:nvPr/>
        </p:nvSpPr>
        <p:spPr>
          <a:xfrm>
            <a:off x="6750558" y="2423160"/>
            <a:ext cx="585216" cy="58521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4" name="Image 7" descr="/home/claude/tcl_dcl/asset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010" y="2563612"/>
            <a:ext cx="304312" cy="30431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30478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department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630478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we're not sure about</a:t>
            </a:r>
            <a:endParaRPr lang="en-US" sz="1050" dirty="0"/>
          </a:p>
        </p:txBody>
      </p:sp>
      <p:pic>
        <p:nvPicPr>
          <p:cNvPr id="37" name="Image 8" descr="/home/claude/tcl_dcl/assets/arrowrigh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1272" y="3374136"/>
            <a:ext cx="201168" cy="20116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09244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8666226" y="1664208"/>
            <a:ext cx="548640" cy="548640"/>
          </a:xfrm>
          <a:prstGeom prst="ellipse">
            <a:avLst/>
          </a:prstGeom>
          <a:solidFill>
            <a:srgbClr val="8A4B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866622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Shape 30"/>
          <p:cNvSpPr/>
          <p:nvPr/>
        </p:nvSpPr>
        <p:spPr>
          <a:xfrm>
            <a:off x="8647938" y="2423160"/>
            <a:ext cx="585216" cy="585216"/>
          </a:xfrm>
          <a:prstGeom prst="ellipse">
            <a:avLst/>
          </a:prstGeom>
          <a:solidFill>
            <a:srgbClr val="8A4B4B"/>
          </a:solidFill>
          <a:ln/>
        </p:spPr>
      </p:sp>
      <p:pic>
        <p:nvPicPr>
          <p:cNvPr id="42" name="Image 9" descr="/home/claude/tcl_dcl/assets/rotatecc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8390" y="2563612"/>
            <a:ext cx="304312" cy="30431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820216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TO savepoint</a:t>
            </a:r>
            <a:endParaRPr lang="en-US" sz="1250" dirty="0"/>
          </a:p>
        </p:txBody>
      </p:sp>
      <p:sp>
        <p:nvSpPr>
          <p:cNvPr id="44" name="Text 32"/>
          <p:cNvSpPr/>
          <p:nvPr/>
        </p:nvSpPr>
        <p:spPr>
          <a:xfrm>
            <a:off x="820216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just the department edit</a:t>
            </a:r>
            <a:endParaRPr lang="en-US" sz="1050" dirty="0"/>
          </a:p>
        </p:txBody>
      </p:sp>
      <p:pic>
        <p:nvPicPr>
          <p:cNvPr id="45" name="Image 10" descr="/home/claude/tcl_dcl/assets/arrowrigh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8652" y="3374136"/>
            <a:ext cx="201168" cy="20116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9989820" y="1920240"/>
            <a:ext cx="1696212" cy="3108960"/>
          </a:xfrm>
          <a:prstGeom prst="roundRect">
            <a:avLst>
              <a:gd name="adj" fmla="val 4852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7" name="Shape 34"/>
          <p:cNvSpPr/>
          <p:nvPr/>
        </p:nvSpPr>
        <p:spPr>
          <a:xfrm>
            <a:off x="10563606" y="1664208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10563606" y="1664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Shape 36"/>
          <p:cNvSpPr/>
          <p:nvPr/>
        </p:nvSpPr>
        <p:spPr>
          <a:xfrm>
            <a:off x="10545318" y="242316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11" descr="/home/claude/tcl_dcl/asset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85770" y="2563612"/>
            <a:ext cx="304312" cy="30431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10099548" y="3200400"/>
            <a:ext cx="1476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50" dirty="0"/>
          </a:p>
        </p:txBody>
      </p:sp>
      <p:sp>
        <p:nvSpPr>
          <p:cNvPr id="52" name="Text 38"/>
          <p:cNvSpPr/>
          <p:nvPr/>
        </p:nvSpPr>
        <p:spPr>
          <a:xfrm>
            <a:off x="10099548" y="3886200"/>
            <a:ext cx="14767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raise saved permanently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502920" y="534924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4" name="Text 40"/>
          <p:cNvSpPr/>
          <p:nvPr/>
        </p:nvSpPr>
        <p:spPr>
          <a:xfrm>
            <a:off x="822960" y="534924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350" dirty="0">
                <a:solidFill>
                  <a:srgbClr val="E8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lets you undo a risky change without throwing away good work already done in the same transaction.</a:t>
            </a:r>
            <a:endParaRPr lang="en-US" sz="1350" dirty="0"/>
          </a:p>
        </p:txBody>
      </p:sp>
      <p:sp>
        <p:nvSpPr>
          <p:cNvPr id="55" name="Text 41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  <p:sp>
        <p:nvSpPr>
          <p:cNvPr id="56" name="Text 4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cl_dcl/assets/grad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1" descr="/home/claude/tcl_dcl/asset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207362"/>
            <a:ext cx="523037" cy="5230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32461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457200" y="35661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DCL: Data Control Language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allowed to do what to our data?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tcl_dcl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DCL?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commands manage </a:t>
            </a:r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rights and permissions</a:t>
            </a:r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controlling which database users or roles can view or change specific data.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02920" y="2926080"/>
            <a:ext cx="128016" cy="12801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807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first: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user should see or edit every table.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3767328"/>
            <a:ext cx="128016" cy="12801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6484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users: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9044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are granted to specific accounts or roles.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4608576"/>
            <a:ext cx="128016" cy="12801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4897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commands: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7240" y="474573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gives a privilege; REVOKE takes it away.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492240" y="160020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1228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Touch Employees?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12280" y="237744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1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95160" y="24871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1" descr="/home/claude/tcl_dcl/asset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888" y="2596896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589520" y="2450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hr_manager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589520" y="2724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UPDATE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12280" y="324612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1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95160" y="335584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2" descr="/home/claude/tcl_dcl/asset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46557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589520" y="3319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payroll_clerk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589520" y="3593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812280" y="4114800"/>
            <a:ext cx="457200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1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95160" y="4224528"/>
            <a:ext cx="457200" cy="457200"/>
          </a:xfrm>
          <a:prstGeom prst="ellipse">
            <a:avLst/>
          </a:prstGeom>
          <a:solidFill>
            <a:srgbClr val="6E85A0"/>
          </a:solidFill>
          <a:ln/>
        </p:spPr>
      </p:sp>
      <p:pic>
        <p:nvPicPr>
          <p:cNvPr id="30" name="Image 3" descr="/home/claude/tcl_dcl/asset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4334256"/>
            <a:ext cx="237744" cy="23774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89520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58952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tcl_dcl/asset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COMMANDS TO KNOW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Commands at a Glance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5317236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658618" y="21945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tcl_dcl/assets/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20" y="2435962"/>
            <a:ext cx="523037" cy="5230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3474720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60120" y="4069080"/>
            <a:ext cx="44028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specific privileges (SELECT, INSERT, UPDATE, DELETE, ...) to a user or role.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68796" y="1737360"/>
            <a:ext cx="5317236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524494" y="2194560"/>
            <a:ext cx="1005840" cy="100584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/home/claude/tcl_dcl/asset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896" y="243596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60236" y="3474720"/>
            <a:ext cx="51343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825996" y="4069080"/>
            <a:ext cx="44028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privileges that were previously granted to a user or role.</a:t>
            </a:r>
            <a:endParaRPr lang="en-US" sz="1300" dirty="0"/>
          </a:p>
        </p:txBody>
      </p:sp>
      <p:pic>
        <p:nvPicPr>
          <p:cNvPr id="16" name="Image 3" descr="/home/claude/tcl_dcl/asset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316" y="34975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un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COMMAND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gives a user or role specific privileges on a table, view, or the whole database.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privileges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E8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8803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554480" y="288036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E8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28803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06040" y="288036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E8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06040" y="28803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0" y="2880360"/>
            <a:ext cx="905256" cy="384048"/>
          </a:xfrm>
          <a:prstGeom prst="roundRect">
            <a:avLst>
              <a:gd name="adj" fmla="val 50000"/>
            </a:avLst>
          </a:prstGeom>
          <a:solidFill>
            <a:srgbClr val="E8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0" y="2880360"/>
            <a:ext cx="905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2920" y="3383280"/>
            <a:ext cx="1746504" cy="384048"/>
          </a:xfrm>
          <a:prstGeom prst="roundRect">
            <a:avLst>
              <a:gd name="adj" fmla="val 50000"/>
            </a:avLst>
          </a:prstGeom>
          <a:solidFill>
            <a:srgbClr val="E8F2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38328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PRIVILEGES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1605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E8F2F7"/>
          </a:solidFill>
          <a:ln w="12700">
            <a:solidFill>
              <a:srgbClr val="E8F2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160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hr_manager can now read and update the Employees table — but not delete rows or change its structure.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30936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233A"/>
          </a:solidFill>
          <a:ln/>
          <a:effectLst>
            <a:outerShdw sx="100000" sy="100000" kx="0" ky="0" algn="bl" rotWithShape="0" blurRad="101600" dist="38100" dir="5400000">
              <a:srgbClr val="0A0F1C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92240" y="17007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2" name="Shape 19"/>
          <p:cNvSpPr/>
          <p:nvPr/>
        </p:nvSpPr>
        <p:spPr>
          <a:xfrm>
            <a:off x="6693408" y="17007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3" name="Shape 20"/>
          <p:cNvSpPr/>
          <p:nvPr/>
        </p:nvSpPr>
        <p:spPr>
          <a:xfrm>
            <a:off x="6894576" y="170078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1682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grant_access.sql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83680" y="19385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hr_manager;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/home/claude/tcl_dcl/asset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COMMAND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REVOKE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privileges that were previously granted — immediately restricting what that user or role can 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8" name="Image 1" descr="/home/claude/tcl_dcl/assets/lo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1635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883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GRANT's syntax exactly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2920" y="3310128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1" name="Image 2" descr="/home/claude/tcl_dcl/assets/lo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38328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325526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remove one privilege or all of them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02920" y="3877056"/>
            <a:ext cx="292608" cy="292608"/>
          </a:xfrm>
          <a:prstGeom prst="ellipse">
            <a:avLst/>
          </a:prstGeom>
          <a:solidFill>
            <a:srgbClr val="E8F2F7"/>
          </a:solidFill>
          <a:ln w="12700">
            <a:solidFill>
              <a:srgbClr val="21295C"/>
            </a:solidFill>
            <a:prstDash val="solid"/>
          </a:ln>
        </p:spPr>
      </p:sp>
      <p:pic>
        <p:nvPicPr>
          <p:cNvPr id="14" name="Image 3" descr="/home/claude/tcl_dcl/assets/lo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50208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120" y="3822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effect immediately for future queries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30936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3233A"/>
          </a:solidFill>
          <a:ln/>
          <a:effectLst>
            <a:outerShdw sx="100000" sy="100000" kx="0" ky="0" algn="bl" rotWithShape="0" blurRad="101600" dist="38100" dir="5400000">
              <a:srgbClr val="0A0F1C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92240" y="1700784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2"/>
          <p:cNvSpPr/>
          <p:nvPr/>
        </p:nvSpPr>
        <p:spPr>
          <a:xfrm>
            <a:off x="6693408" y="1700784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3"/>
          <p:cNvSpPr/>
          <p:nvPr/>
        </p:nvSpPr>
        <p:spPr>
          <a:xfrm>
            <a:off x="6894576" y="1700784"/>
            <a:ext cx="100584" cy="10058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4"/>
          <p:cNvSpPr/>
          <p:nvPr/>
        </p:nvSpPr>
        <p:spPr>
          <a:xfrm>
            <a:off x="6309360" y="168249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revoke_access.sql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6583680" y="19385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6FD8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2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hr_manager;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309360" y="374904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E8F2F7"/>
          </a:solidFill>
          <a:ln w="12700">
            <a:solidFill>
              <a:srgbClr val="E8F2F7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583680" y="37490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hr_manager can still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Employees, but any attempt to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will now fail.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vs TCL vs DCL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83112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97180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89788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89720" y="1691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971800" y="21945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table data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21945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the transaction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89720" y="21945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rights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2971800"/>
            <a:ext cx="11183112" cy="777240"/>
          </a:xfrm>
          <a:prstGeom prst="rect">
            <a:avLst/>
          </a:prstGeom>
          <a:solidFill>
            <a:srgbClr val="E8F2F7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971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commands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971800" y="29718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INSERT, UPDATE, DELETE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COMMIT, ROLLBACK, SAVEPOINT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89720" y="2971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GRANT, REVOKE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" y="37490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971800" y="37490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a table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7880" y="37490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transaction's outcome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89720" y="37490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role permissions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4526280"/>
            <a:ext cx="11183112" cy="777240"/>
          </a:xfrm>
          <a:prstGeom prst="rect">
            <a:avLst/>
          </a:prstGeom>
          <a:solidFill>
            <a:srgbClr val="E8F2F7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rolled back?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971800" y="45262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before COMMIT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97880" y="4526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— it is the control itself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189720" y="4526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takes effect immediately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2920" y="1691640"/>
            <a:ext cx="0" cy="361188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88920" y="1691640"/>
            <a:ext cx="0" cy="361188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15000" y="1691640"/>
            <a:ext cx="0" cy="361188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06840" y="1691640"/>
            <a:ext cx="0" cy="361188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612880" y="1691640"/>
            <a:ext cx="0" cy="3611880"/>
          </a:xfrm>
          <a:prstGeom prst="line">
            <a:avLst/>
          </a:prstGeom>
          <a:noFill/>
          <a:ln w="12700">
            <a:solidFill>
              <a:srgbClr val="D8E6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tcl_dcl/asset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38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6766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82422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tcl_dcl/asset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1" y="1969069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746504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 manages transactions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00200" y="210312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saves changes permanently, ROLLBACK undoes them, and SAVEPOINT marks a checkpoint in between.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292608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77240" y="3150108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/home/claude/tcl_dcl/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81" y="3294949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072384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 manages permissions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600200" y="342900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gives a user or role access; REVOKE takes that access away.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425196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475988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tcl_dcl/asset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81" y="4620829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398264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work together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600200" y="475488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keeps data consistent; DCL keeps it secure. Both sit alongside DDL and DML in day-to-day SQL.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02920" y="55778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77240" y="5801868"/>
            <a:ext cx="603504" cy="603504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4" descr="/home/claude/tcl_dcl/asset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81" y="5946709"/>
            <a:ext cx="313822" cy="31382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5724144"/>
            <a:ext cx="9171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safely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1600200" y="6080760"/>
            <a:ext cx="9171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transactions in a development environment — remember, COMMIT cannot be undone.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&amp; DCL Commands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cl_dcl/assets/grad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1" descr="/home/claude/tcl_dcl/assets/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958" y="2161642"/>
            <a:ext cx="523037" cy="5230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3200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keeps your data consistent. DCL keeps it secure.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2026-07-13T05:49:54Z</dcterms:created>
  <dcterms:modified xsi:type="dcterms:W3CDTF">2026-07-13T05:49:54Z</dcterms:modified>
</cp:coreProperties>
</file>