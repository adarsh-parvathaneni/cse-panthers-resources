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12064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•  QUERY LANGUAGES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Calculus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41248" y="4343400"/>
            <a:ext cx="201168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TRC and DRC solutions for the in-class Sailors exercise and the additional practice questions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22 / 07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Sailors Table — Answers (1 of 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( sid, sname, rating, age 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sailors with rating &gt; 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t∈Sailors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t.rating&gt;7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&lt;i,n,r,a&gt; |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&lt;i,n,r,a&gt;∈Sailors ∧ r&gt;7 }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 of sailors with rating &gt; 8.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t.sname | t∈Sailors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t.rating&gt;8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i,r,a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(&lt;i,n,r,a&gt;∈Sailors ∧ r&gt;8) }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37083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sailors younger than 30.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3000" y="477316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77316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83080" y="477316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77316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t∈Sailors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t.age&lt;30 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477316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77316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477316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477316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&lt;i,n,r,a&gt; |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&lt;i,n,r,a&gt;∈Sailors ∧ a&lt;30 }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Sailors Practice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Sailors Table — Answers (2 of 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( sid, sname, rating, age 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1907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sailors with rating between 5 and 9.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21214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214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1214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214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t∈Sailors ∧ t.rating≥5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t.rating≤9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21214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214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1214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1214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&lt;i,n,r,a&gt; | &lt;i,n,r,a&gt;∈Sailors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r≥5 ∧ r≤9 }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1927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 and age of sailors with rating = 8.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37216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7216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7216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7216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t.sname, t.age | t∈Sailors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t.rating=8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7216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7216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7216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7216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&lt;n,a&gt; | ∃ i,r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(&lt;i,n,r,a&gt;∈Sailors ∧ r=8) }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206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tip: since both n (name) and a (age) are displayed, only i and r are bound with ∃ — a stays free because it appears in the output.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Sailors Practice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Practice — Answers (1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 eid, ename, salary, dept 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employees with salary &gt; 50,000.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t∈Employee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t.salary&gt;50000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&lt;e,n,s,d&gt; | &lt;e,n,s,d&gt;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∈Employee ∧ s&gt;50000 }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 of employees in the 'Sales' department.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t.ename | t∈Employee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t.dept='Sales'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e,s,d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(&lt;e,n,s,d&gt;∈Employee ∧ d='Sales') }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37083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 of employees with salary between 40,000 and 80,000.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3000" y="477316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77316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83080" y="477316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77316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t.ename | t∈Employee ∧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t.salary≥40000 ∧ t.salary≤80000 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477316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77316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477316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477316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e,s,d (&lt;e,n,s,d&gt;∈Employee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s≥40000 ∧ s≤80000) }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Additional Practice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Practice — Answers (2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 eid, ename, salary, dept )  &amp;  Sailors / Boats / Reserves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employees who are NOT in the 'HR' department.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t∈Employee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¬(t.dept='HR')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193852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3852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93852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3852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&lt;e,n,s,d&gt; | &lt;e,n,s,d&gt;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∈Employee ∧ ¬(d='HR') }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distinct department names having an employee with salary &gt; 90,000.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t.dept | t∈Employee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t.salary&gt;90000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355848"/>
            <a:ext cx="566928" cy="96012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355848"/>
            <a:ext cx="566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355848"/>
            <a:ext cx="4690872" cy="960120"/>
          </a:xfrm>
          <a:prstGeom prst="roundRect">
            <a:avLst>
              <a:gd name="adj" fmla="val 5714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3558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 | ∃ e,n,s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(&lt;e,n,s,d&gt;∈Employee ∧ s&gt;90000) }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37083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 of sailors who have reserved boat number 103.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3000" y="4773168"/>
            <a:ext cx="566928" cy="105156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773168"/>
            <a:ext cx="566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83080" y="4773168"/>
            <a:ext cx="4690872" cy="1051560"/>
          </a:xfrm>
          <a:prstGeom prst="roundRect">
            <a:avLst>
              <a:gd name="adj" fmla="val 5217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773168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t.sname | t∈Sailors ∧ ∃ r∈Reserves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(r.sid=t.sid ∧ r.bid=103) 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4773168"/>
            <a:ext cx="566928" cy="105156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773168"/>
            <a:ext cx="566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4773168"/>
            <a:ext cx="4690872" cy="1051560"/>
          </a:xfrm>
          <a:prstGeom prst="roundRect">
            <a:avLst>
              <a:gd name="adj" fmla="val 5217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4773168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i,rt,a,bid,day (&lt;i,n,rt,a&gt;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∈Sailors ∧ &lt;i,bid,day&gt;∈Reserves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bid=103) }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( sid, bid, day )  —  the extra tuple/domain variable over Reserves is what links a sailor to a specific boat.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Additional Practice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Practice — Answers (3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( sid, sname, rating, age 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1907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names of sailors with rating &gt; 8 OR age &lt; 30.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21214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214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1214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214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t.sname | t∈Sailors ∧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(t.rating&gt;8 ∨ t.age&lt;30)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21214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214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1214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1214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i,rt,a (&lt;i,n,rt,a&gt;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∈Sailors ∧ (rt&gt;8 ∨ a&lt;30)) }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19272"/>
            <a:ext cx="10469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sailors whose rating is NOT between 5 and 8.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37216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7216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37216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7216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t∈Sailors ∧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¬(t.rating≥5 ∧ t.rating≤8)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721608"/>
            <a:ext cx="566928" cy="1143000"/>
          </a:xfrm>
          <a:prstGeom prst="roundRect">
            <a:avLst>
              <a:gd name="adj" fmla="val 9677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721608"/>
            <a:ext cx="566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721608"/>
            <a:ext cx="4690872" cy="1143000"/>
          </a:xfrm>
          <a:prstGeom prst="roundRect">
            <a:avLst>
              <a:gd name="adj" fmla="val 48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721608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&lt;i,n,rt,a&gt; | &lt;i,n,rt,a&gt;∈Sailors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¬(rt≥5 ∧ rt≤8) }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66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tip: ¬(A ∧ B) is the negation of the whole “between” range — equivalent to (rating&lt;5 ∨ rating&gt;8) by De Morgan's law.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Additional Practice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2026-07-22T11:46:28Z</dcterms:created>
  <dcterms:modified xsi:type="dcterms:W3CDTF">2026-07-22T11:46:28Z</dcterms:modified>
</cp:coreProperties>
</file>