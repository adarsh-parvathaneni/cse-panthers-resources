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C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STANDARDS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SQL to SQL3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query language evolved: SQL-86, SQL-92 (SQL2), and SQL:1999 (SQL3)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280160" cy="0"/>
          </a:xfrm>
          <a:prstGeom prst="line">
            <a:avLst/>
          </a:prstGeom>
          <a:noFill/>
          <a:ln w="25400">
            <a:solidFill>
              <a:srgbClr val="8CC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has been revised by ANSI/ISO roughly every few years since 1986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3017520"/>
            <a:ext cx="10149840" cy="0"/>
          </a:xfrm>
          <a:prstGeom prst="line">
            <a:avLst/>
          </a:prstGeom>
          <a:noFill/>
          <a:ln w="38100">
            <a:solidFill>
              <a:srgbClr val="D9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2898648"/>
            <a:ext cx="237744" cy="23774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1986/89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-18288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SQL-86 / SQL-89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18288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ANSI standard.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relational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0248" y="2898648"/>
            <a:ext cx="237744" cy="23774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SQL-92 (SQL2)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rewrite.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constraints,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schema.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53528" y="2898648"/>
            <a:ext cx="237744" cy="23774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(SQL3)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Object-relational.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recursion,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types.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036808" y="2898648"/>
            <a:ext cx="237744" cy="23774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2003+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6696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SQL:2003 …2016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66960" y="37947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XML, JSON, window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further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65A82">
              <a:alpha val="8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revision added capability the previous one lacked — SQL2 formalized the relational core, SQL3 extended it toward objects and procedural logic.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(SQL-86/89) → SQL2 (SQL-92)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SQL2 was a near-total rewrite that turned a basic query language into a full relational standard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074920" cy="594360"/>
          </a:xfrm>
          <a:prstGeom prst="roundRect">
            <a:avLst>
              <a:gd name="adj" fmla="val 15385"/>
            </a:avLst>
          </a:prstGeom>
          <a:solidFill>
            <a:srgbClr val="6E8A9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0240"/>
            <a:ext cx="5074920" cy="274320"/>
          </a:xfrm>
          <a:prstGeom prst="rect">
            <a:avLst/>
          </a:prstGeom>
          <a:solidFill>
            <a:srgbClr val="6E8A9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434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Single-table–centric queries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inconsistent JOIN support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integrity constraints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error handling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types (char, number)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schema/catalog concept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E6EA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00200"/>
            <a:ext cx="507492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920240"/>
            <a:ext cx="507492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0020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SQL2 (SQL-92)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2468880"/>
            <a:ext cx="4434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INNER / OUTER / CROSS joins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CHECK constraints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SQLSTATE standardized error codes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TIMESTAMP, INTERVAL types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INFORMATION_SCHEMA catalog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SQL &amp; connection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SQL3 — SQL:1999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object-relational leap: SQL3 merged relational tables with object-oriented concepts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20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types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types with attributes and methods, akin to classes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920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identity &amp; references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5152" y="24688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types let rows reference other rows like object pointers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9202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94192" y="24688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BEFORE/AFTER triggers for automatic actions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44805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RECURSIVE for hierarchical &amp; graph-style 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70332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types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45152" y="44805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BLOB, CLOB, ARRAY, and user-defined types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0332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1B2450"/>
          </a:solidFill>
          <a:ln w="12700">
            <a:solidFill>
              <a:srgbClr val="3741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696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94192" y="44805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SQL/PSM: procedural logic (loops, conditionals) inside the DB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vs SQL2 vs SQL3 — Side by Side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881360" cy="512064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834640"/>
                <a:gridCol w="28346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(1986/89)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SQL2 / SQL-92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SQL3 / SQL:1999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relational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relational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Object-relational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join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join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(char, num)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Date/time,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UDTs, ARRAY, BLOB/CLOB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standardized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PK/FK/CHECK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plus assertions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Triggers, stored procedures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RECURSIVE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~2000+ pages, modular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SQL3 Evolved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SQL3 didn't appear in a vacuum — it responded to real limitations exposed by application demands of the 1990s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0" cy="347472"/>
          </a:xfrm>
          <a:prstGeom prst="line">
            <a:avLst/>
          </a:prstGeom>
          <a:noFill/>
          <a:ln w="25400">
            <a:solidFill>
              <a:srgbClr val="D9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642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rose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74920" y="1664208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languages (C++, Java) needed databases that could store complex, structured objects — not just flat rows.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3230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798064"/>
            <a:ext cx="0" cy="347472"/>
          </a:xfrm>
          <a:prstGeom prst="line">
            <a:avLst/>
          </a:prstGeom>
          <a:noFill/>
          <a:ln w="25400">
            <a:solidFill>
              <a:srgbClr val="D9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77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DBMS vendors competed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2377440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object databases threatened to fragment the market, pushing the relational camp to add object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511296"/>
            <a:ext cx="0" cy="347472"/>
          </a:xfrm>
          <a:prstGeom prst="line">
            <a:avLst/>
          </a:prstGeom>
          <a:noFill/>
          <a:ln w="25400">
            <a:solidFill>
              <a:srgbClr val="D9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0906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got more complex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74920" y="3090672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CAD, multimedia, and GIS systems needed arrays, large binary objects, and custom types SQL2 couldn't express.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224528"/>
            <a:ext cx="0" cy="347472"/>
          </a:xfrm>
          <a:prstGeom prst="line">
            <a:avLst/>
          </a:prstGeom>
          <a:noFill/>
          <a:ln w="25400">
            <a:solidFill>
              <a:srgbClr val="D9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80390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SQL2 lacked procedural power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74920" y="3803904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still lived in application code; there was no standard way to run logic inside the database.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4937760"/>
            <a:ext cx="0" cy="347472"/>
          </a:xfrm>
          <a:prstGeom prst="line">
            <a:avLst/>
          </a:prstGeom>
          <a:noFill/>
          <a:ln w="25400">
            <a:solidFill>
              <a:srgbClr val="D9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5171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ANSI/ISO committees modularized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74920" y="4517136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split into parts (Foundation, CLI, PSM, Bindings...) so features could be standardized independently.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28523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85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52303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was ratified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74920" y="5230368"/>
            <a:ext cx="6446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folded object-relational features, triggers, recursion, and SQL/PSM into one formal standard.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SQL3's Legacy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SQL:1999 set the template every later standard has built 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modular ANSI/ISO structure (Foundation, PSM, CLI…) still used today</a:t>
            </a:r>
            <a:endParaRPr lang="en-US" sz="15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features paved the way for JSON, XML, and ARRAY support in SQL:2003+</a:t>
            </a:r>
            <a:endParaRPr lang="en-US" sz="15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stored procedures became standard in virtually every major RDBMS</a:t>
            </a:r>
            <a:endParaRPr lang="en-US" sz="1500" dirty="0"/>
          </a:p>
          <a:p>
            <a:pPr marL="254000" indent="-2540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queries (WITH RECURSIVE) remain essential for hierarchical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2026-07-25T04:19:06Z</dcterms:created>
  <dcterms:modified xsi:type="dcterms:W3CDTF">2026-07-25T04:19:06Z</dcterms:modified>
</cp:coreProperties>
</file>