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374904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920240"/>
            <a:ext cx="374904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926080"/>
            <a:ext cx="374904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931920"/>
            <a:ext cx="374904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4937760"/>
            <a:ext cx="374904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914400"/>
            <a:ext cx="0" cy="402336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23960" y="914400"/>
            <a:ext cx="0" cy="402336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0" y="914400"/>
            <a:ext cx="0" cy="402336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44200" y="914400"/>
            <a:ext cx="0" cy="402336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0515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784080" y="10515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27889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⋈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784080" y="27889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18288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SQL through its formal query operations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24304F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0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 ·  Projection  ·  Join  ·  Union  ·  Division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Lecture Guide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Relational Algebra?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procedural query language: a set of operations that take one or two relations (tables) as input and produce a new relation as output.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60904"/>
            <a:ext cx="54864" cy="502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06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8986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theoretical backbone that SQL query engines are built 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21024"/>
            <a:ext cx="54864" cy="502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5661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on relations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38587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input is a table, and every output is also a table — this lets operations be chained.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81144"/>
            <a:ext cx="54864" cy="502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45262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48188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specify the sequence of steps (how), unlike SQL which is largely declarative (what).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1B2740"/>
          </a:solidFill>
          <a:ln/>
          <a:effectLst>
            <a:outerShdw sx="100000" sy="100000" kx="0" ky="0" algn="bl" rotWithShape="0" blurRad="101600" dist="38100" dir="5400000">
              <a:srgbClr val="0F183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OPERATION WORKS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240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4304F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0" y="33375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4304F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(optional)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23960" y="3108960"/>
            <a:ext cx="77724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92640" y="2788920"/>
            <a:ext cx="1005840" cy="10058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0" y="2788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698480" y="3291840"/>
            <a:ext cx="4572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448056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18C3A6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44805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→ a brand-new Relation (table)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 Database We'll Use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operator in this deck is demonstrated on the same three tables — so you can see exactly how each one transforms the 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914400"/>
                <a:gridCol w="731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Aarav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Diya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286000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Systems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Structures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50392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13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920" y="2286000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93776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F1830">
                <a:alpha val="18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822960" y="50749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three?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22960" y="53492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and COURSE let us demonstrate Selection, Projection, Union, Intersection and Set Difference. Adding ENROLLMENT — which links the two — lets us demonstrate Cartesian Product, Join, and Division.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OPERATOR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960120" cy="960120"/>
          </a:xfrm>
          <a:prstGeom prst="ellipse">
            <a:avLst/>
          </a:prstGeom>
          <a:solidFill>
            <a:srgbClr val="24304F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91640" y="11704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276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rows — picks tuples that satisfy a condition.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806440" cy="777240"/>
          </a:xfrm>
          <a:prstGeom prst="roundRect">
            <a:avLst>
              <a:gd name="adj" fmla="val 9412"/>
            </a:avLst>
          </a:prstGeom>
          <a:solidFill>
            <a:srgbClr val="2430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&lt;condition&gt; (Relation)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806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row-wise: keeps only the rows matching the condition.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columns never changes — only the row count can shrink.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can use =, &lt;, &gt;, AND, OR, NOT.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806440" cy="594360"/>
          </a:xfrm>
          <a:prstGeom prst="roundRect">
            <a:avLst>
              <a:gd name="adj" fmla="val 12308"/>
            </a:avLst>
          </a:prstGeom>
          <a:solidFill>
            <a:srgbClr val="F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3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Dept = 'CSE' (STUDENT)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481328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F183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1627632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27632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162763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8928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Dept = 'CSE';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2944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264408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914400"/>
                <a:gridCol w="731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Aarav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OPERATOR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960120" cy="960120"/>
          </a:xfrm>
          <a:prstGeom prst="ellipse">
            <a:avLst/>
          </a:prstGeom>
          <a:solidFill>
            <a:srgbClr val="24304F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91640" y="11704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276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columns — picks specific attributes.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806440" cy="777240"/>
          </a:xfrm>
          <a:prstGeom prst="roundRect">
            <a:avLst>
              <a:gd name="adj" fmla="val 9412"/>
            </a:avLst>
          </a:prstGeom>
          <a:solidFill>
            <a:srgbClr val="2430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&lt;attr1, attr2,...&gt; (Relation)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806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column-wise: keeps only the listed attributes.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result rows are automatically removed (set semantics).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rows can shrink; the row count never grows.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806440" cy="594360"/>
          </a:xfrm>
          <a:prstGeom prst="roundRect">
            <a:avLst>
              <a:gd name="adj" fmla="val 12308"/>
            </a:avLst>
          </a:prstGeom>
          <a:solidFill>
            <a:srgbClr val="F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3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Name, Dept (STUDENT)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481328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F183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1627632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27632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162763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8928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Name, Dept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2715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035808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Aarav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Diya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44068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40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SQL's SELECT does NOT remove duplicates by default — add DISTINCT to match true relational-algebra projection.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OPERATOR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960120" cy="960120"/>
          </a:xfrm>
          <a:prstGeom prst="ellipse">
            <a:avLst/>
          </a:prstGeom>
          <a:solidFill>
            <a:srgbClr val="24304F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91640" y="11704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276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Renames a relation (or its attributes) without changing the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806440" cy="777240"/>
          </a:xfrm>
          <a:prstGeom prst="roundRect">
            <a:avLst>
              <a:gd name="adj" fmla="val 9412"/>
            </a:avLst>
          </a:prstGeom>
          <a:solidFill>
            <a:srgbClr val="2430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NewName (Relation)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806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filter rows or columns — purely relabels.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when a query needs to refer to the same relation twice (e.g. self-joins).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rename just the relation, or the relation and its attributes together.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806440" cy="594360"/>
          </a:xfrm>
          <a:prstGeom prst="roundRect">
            <a:avLst>
              <a:gd name="adj" fmla="val 12308"/>
            </a:avLst>
          </a:prstGeom>
          <a:solidFill>
            <a:srgbClr val="F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3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S (STUDENT)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481328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F183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1627632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27632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162763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8928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 AS S;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2715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(same data, new name)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035808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914400"/>
                <a:gridCol w="731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Aarav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Diya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44068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40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SQL, AS (or just a space before the alias) plays the role of ρ — giving a table or column a temporary name.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OPERATOR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960120" cy="960120"/>
          </a:xfrm>
          <a:prstGeom prst="ellipse">
            <a:avLst/>
          </a:prstGeom>
          <a:solidFill>
            <a:srgbClr val="24304F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∪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91640" y="11704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276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the tuples of two union-compatible relations.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806440" cy="777240"/>
          </a:xfrm>
          <a:prstGeom prst="roundRect">
            <a:avLst>
              <a:gd name="adj" fmla="val 9412"/>
            </a:avLst>
          </a:prstGeom>
          <a:solidFill>
            <a:srgbClr val="2430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Relation1 ∪ Relation2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806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relations must have the same number of attributes with matching domains.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 appearing in both inputs are kept only once.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students enrolled in C1 unioned with students enrolled in C2.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806440" cy="594360"/>
          </a:xfrm>
          <a:prstGeom prst="roundRect">
            <a:avLst>
              <a:gd name="adj" fmla="val 12308"/>
            </a:avLst>
          </a:prstGeom>
          <a:solidFill>
            <a:srgbClr val="F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3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RollNo(σ CourseID='C1'(ENROLLMENT)) ∪ π RollNo(σ CourseID='C2'(ENROLLMENT))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481328"/>
            <a:ext cx="4937760" cy="1783080"/>
          </a:xfrm>
          <a:prstGeom prst="roundRect">
            <a:avLst>
              <a:gd name="adj" fmla="val 4103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F183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1627632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27632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162763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892808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RollNo FROM ENROLLMENT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CourseID = 'C1'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RollNo FROM ENROLLMENT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CourseID = 'C2';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3493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(RollNo)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813048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44068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40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SQL's UNION already removes duplicates, matching set semantics. Use UNION ALL only if you deliberately want duplicates kept.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OPERATOR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960120" cy="960120"/>
          </a:xfrm>
          <a:prstGeom prst="ellipse">
            <a:avLst/>
          </a:prstGeom>
          <a:solidFill>
            <a:srgbClr val="24304F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91640" y="11704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Difference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276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Tuples in the first relation that are NOT in the second.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806440" cy="777240"/>
          </a:xfrm>
          <a:prstGeom prst="roundRect">
            <a:avLst>
              <a:gd name="adj" fmla="val 9412"/>
            </a:avLst>
          </a:prstGeom>
          <a:solidFill>
            <a:srgbClr val="2430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Relation1 − Relation2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806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matters: A − B is not the same as B − 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relations must be union-compatible, just like Union.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use: 'find X that never did Y'.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806440" cy="594360"/>
          </a:xfrm>
          <a:prstGeom prst="roundRect">
            <a:avLst>
              <a:gd name="adj" fmla="val 12308"/>
            </a:avLst>
          </a:prstGeom>
          <a:solidFill>
            <a:srgbClr val="F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3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RollNo(STUDENT) − π RollNo(σ CourseID='C3'(ENROLLMENT))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481328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F183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1627632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27632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162763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89280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RollNo FROM STUDENT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RollNo FROM ENROLLMENT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CourseID = 'C3';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3218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students NOT in C3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538728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44068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40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uses EXCEPT (8.0+) or NOT IN / NOT EXISTS as a workaround; Oracle historically used MINUS instead of EXCEPT.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OPERATOR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960120" cy="960120"/>
          </a:xfrm>
          <a:prstGeom prst="ellipse">
            <a:avLst/>
          </a:prstGeom>
          <a:solidFill>
            <a:srgbClr val="24304F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∩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91640" y="11704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276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Tuples that appear in BOTH relations.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806440" cy="777240"/>
          </a:xfrm>
          <a:prstGeom prst="roundRect">
            <a:avLst>
              <a:gd name="adj" fmla="val 9412"/>
            </a:avLst>
          </a:prstGeom>
          <a:solidFill>
            <a:srgbClr val="2430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Relation1 ∩ Relation2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806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requires union-compatible relations.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expressed using two Set Difference operations: A ∩ B = A − (A − B).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finding common elements across two result sets.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806440" cy="594360"/>
          </a:xfrm>
          <a:prstGeom prst="roundRect">
            <a:avLst>
              <a:gd name="adj" fmla="val 12308"/>
            </a:avLst>
          </a:prstGeom>
          <a:solidFill>
            <a:srgbClr val="F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3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RollNo(σ CourseID='C1'(ENROLLMENT)) ∩ π RollNo(σ CourseID='C2'(ENROLLMENT))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481328"/>
            <a:ext cx="4937760" cy="1783080"/>
          </a:xfrm>
          <a:prstGeom prst="roundRect">
            <a:avLst>
              <a:gd name="adj" fmla="val 4103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F183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1627632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27632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162763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892808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RollNo FROM ENROLLMENT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CourseID = 'C1'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INTERSECT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RollNo FROM ENROLLMENT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CourseID = 'C2';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3493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(RollNo)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813048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44068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40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enrolled in both C1 and C2 — here, only RollNo 101 qualifies.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OPERATOR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960120" cy="960120"/>
          </a:xfrm>
          <a:prstGeom prst="ellipse">
            <a:avLst/>
          </a:prstGeom>
          <a:solidFill>
            <a:srgbClr val="24304F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91640" y="11704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Cartesian Product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276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every tuple of one relation with every tuple of the other.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806440" cy="777240"/>
          </a:xfrm>
          <a:prstGeom prst="roundRect">
            <a:avLst>
              <a:gd name="adj" fmla="val 9412"/>
            </a:avLst>
          </a:prstGeom>
          <a:solidFill>
            <a:srgbClr val="2430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Relation1 × Relation2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806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has (rows1 × rows2) tuples and (cols1 + cols2) attributes.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used alone — usually followed by a Selection to keep only meaningful pairs.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what a Join builds on internally.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806440" cy="594360"/>
          </a:xfrm>
          <a:prstGeom prst="roundRect">
            <a:avLst>
              <a:gd name="adj" fmla="val 12308"/>
            </a:avLst>
          </a:prstGeom>
          <a:solidFill>
            <a:srgbClr val="F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3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× ENROLLMENT   (2 rows × 6 rows = 24 result rows)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481328"/>
            <a:ext cx="4937760" cy="1965960"/>
          </a:xfrm>
          <a:prstGeom prst="roundRect">
            <a:avLst>
              <a:gd name="adj" fmla="val 3721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F183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1627632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27632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162763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892808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STUDENT, ENROLLMENT;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equivalent to: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JOIN ENROLLMENT;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3675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ROW OF RESULT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995928"/>
          <a:ext cx="9144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685800"/>
                <a:gridCol w="548640"/>
                <a:gridCol w="731520"/>
                <a:gridCol w="868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Aarav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44068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40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Cartesian product with no filter usually isn't meaningful data — it pairs unrelated rows together, so it's almost always followed by σ (Selection).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OPERATOR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960120" cy="960120"/>
          </a:xfrm>
          <a:prstGeom prst="ellipse">
            <a:avLst/>
          </a:prstGeom>
          <a:solidFill>
            <a:srgbClr val="24304F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91640" y="11704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276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related rows from two relations based on a condition.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806440" cy="777240"/>
          </a:xfrm>
          <a:prstGeom prst="roundRect">
            <a:avLst>
              <a:gd name="adj" fmla="val 9412"/>
            </a:avLst>
          </a:prstGeom>
          <a:solidFill>
            <a:srgbClr val="2430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Relation1 ⋈ &lt;condition&gt; Relation2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806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to a Cartesian Product followed by a Selection.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Join automatically matches on columns with the same name (e.g. RollNo).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 Join uses an explicit condition, which can be any comparison — not just equality.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806440" cy="594360"/>
          </a:xfrm>
          <a:prstGeom prst="roundRect">
            <a:avLst>
              <a:gd name="adj" fmla="val 12308"/>
            </a:avLst>
          </a:prstGeom>
          <a:solidFill>
            <a:srgbClr val="F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3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⋈ ENROLLMENT   (Natural Join on RollNo)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481328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F183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1627632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27632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162763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8928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JOIN ENROLLMENT;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2990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(first 3 rows)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310128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914400"/>
                <a:gridCol w="73152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Aarav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Aarav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Diya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44068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40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 Join equivalent: SELECT * FROM STUDENT JOIN ENROLLMENT ON STUDENT.RollNo = ENROLLMENT.RollNo;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OPERATOR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960120" cy="960120"/>
          </a:xfrm>
          <a:prstGeom prst="ellipse">
            <a:avLst/>
          </a:prstGeom>
          <a:solidFill>
            <a:srgbClr val="24304F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91640" y="11704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276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tuples associated with ALL values of another relation.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806440" cy="777240"/>
          </a:xfrm>
          <a:prstGeom prst="roundRect">
            <a:avLst>
              <a:gd name="adj" fmla="val 9412"/>
            </a:avLst>
          </a:prstGeom>
          <a:solidFill>
            <a:srgbClr val="2430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Relation1 ÷ Relation2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806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phrasing: 'find X that are related to every Y'.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SQL keyword exists for it — it's built using double negation with NOT EXISTS.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Here: find students enrolled in every course listed in COURSE.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806440" cy="594360"/>
          </a:xfrm>
          <a:prstGeom prst="roundRect">
            <a:avLst>
              <a:gd name="adj" fmla="val 12308"/>
            </a:avLst>
          </a:prstGeom>
          <a:solidFill>
            <a:srgbClr val="F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3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RollNo, CourseID(ENROLLMENT)  ÷  π CourseID(COURSE)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481328"/>
            <a:ext cx="4937760" cy="2606040"/>
          </a:xfrm>
          <a:prstGeom prst="roundRect">
            <a:avLst>
              <a:gd name="adj" fmla="val 2807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F183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1627632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27632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1627632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892808"/>
            <a:ext cx="4480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e1.RollNo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ENROLLMENT e1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EXISTS 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CourseID FROM COURSE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EXCEPT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CourseID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ENROLLMENT e2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e2.RollNo = e1.RollNo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315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enrolled in ALL courses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4636008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44068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40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course exists that this student hasn't taken" — the double-negative pattern behind every Division query.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↔ SQL Cheat Sheet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3017520"/>
                <a:gridCol w="47548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Equivalent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 rows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 columns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(DISTINCT)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Rename relation/attribute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Combine, remove duplicates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Difference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 in A not in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EXCEPT / MINUS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Intersection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 common to both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INTERSECT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Cartesian Product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 every row with every row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CROSS JOIN / FROM A, 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 on a condition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 ... ON / NATURAL JOIN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Related to ALL values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EXISTS (double negation)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STUDENT, COURSE and ENROLLMENT — write the relational algebra expression, then translate it to SQL.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24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names of all students in the 'CSE' department.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+ 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24304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courses that have 4 credits.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84080" y="31546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24304F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206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students who are enrolled in course 'C1' but not 'C2'.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0" y="4206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(Set Difference)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24304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4864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5257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names of students along with the courses they've enrolled in.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0" y="5257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⋈ (Join)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64008" cy="10058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099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is procedural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describes the sequence of operations, giving SQL engines a formal way to represent and optimize any query.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43200"/>
            <a:ext cx="64008" cy="10058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529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operator: relations in, one relation out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closure property is what allows operators to be nested and combined freely.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86200"/>
            <a:ext cx="64008" cy="10058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959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operator families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3251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Unary (σ, π, ρ — one input) and Binary (∪, −, ∩, ×, ⋈, ÷ — two inputs).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029200"/>
            <a:ext cx="64008" cy="10058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1389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SQL query is really algebra in disguise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681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WHERE, SELECT, JOIN, UNION and friends are just SQL's syntax for these same underlying operations.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834640" y="3657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212080" y="3657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589520" y="3657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∪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966960" y="3657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∩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834640" y="3474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212080" y="3474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⋈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589520" y="3474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2194560" y="2286000"/>
            <a:ext cx="7772400" cy="2377440"/>
          </a:xfrm>
          <a:prstGeom prst="roundRect">
            <a:avLst>
              <a:gd name="adj" fmla="val 3077"/>
            </a:avLst>
          </a:prstGeom>
          <a:solidFill>
            <a:srgbClr val="24304F"/>
          </a:solidFill>
          <a:ln/>
          <a:effectLst>
            <a:outerShdw sx="100000" sy="100000" kx="0" ky="0" algn="bl" rotWithShape="0" blurRad="101600" dist="38100" dir="5400000">
              <a:srgbClr val="0F18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94560" y="2606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19456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2026-07-13T06:43:49Z</dcterms:created>
  <dcterms:modified xsi:type="dcterms:W3CDTF">2026-07-13T06:43:49Z</dcterms:modified>
</cp:coreProperties>
</file>