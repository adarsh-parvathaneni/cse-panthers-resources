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7"/>
    <p:sldId id="267" r:id="rId18"/>
    <p:sldId id="268" r:id="rId19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  <Relationship Id="rId17" Type="http://schemas.openxmlformats.org/officeDocument/2006/relationships/slide" Target="slides/slide11.xml"/>
  <Relationship Id="rId18" Type="http://schemas.openxmlformats.org/officeDocument/2006/relationships/slide" Target="slides/slide12.xml"/>
  <Relationship Id="rId19" Type="http://schemas.openxmlformats.org/officeDocument/2006/relationships/slide" Target="slides/slide13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114800" cy="41148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00A896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188720" y="5120640"/>
            <a:ext cx="3108960" cy="3108960"/>
          </a:xfrm>
          <a:prstGeom prst="ellipse">
            <a:avLst/>
          </a:prstGeom>
          <a:solidFill>
            <a:srgbClr val="02C39A">
              <a:alpha val="3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Dependency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attributes determine one another inside a relation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29768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297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1737360" y="4690872"/>
            <a:ext cx="91440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743200" y="429768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0" y="4297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749040" y="42976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→  Y   (X determines Y)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6126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Functional Dependency?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66928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FA9AB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691640"/>
            <a:ext cx="50292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2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functional dependency is a 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2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specifies the relationship between two sets of attributes, where one set can </a:t>
            </a:r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accurately determine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2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value of the other set.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68680" y="3703320"/>
            <a:ext cx="50292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93192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dependencies are used to mathematically represent relations among entities.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92240" y="1371600"/>
            <a:ext cx="5120640" cy="4206240"/>
          </a:xfrm>
          <a:prstGeom prst="rect">
            <a:avLst/>
          </a:prstGeom>
          <a:solidFill>
            <a:srgbClr val="0B2E33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0" y="1600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0" y="2148840"/>
            <a:ext cx="1371600" cy="13716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0" y="21488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Emp_id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0" y="2834640"/>
            <a:ext cx="100584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235440" y="2148840"/>
            <a:ext cx="2011680" cy="13716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9235440" y="214884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Ename, Salary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20840" y="36118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281160" y="3611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0" y="416052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Emp_id uniquely determines an employee's name and salary — knowing the id tells you exactly those values.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Dependency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functional dependency is denoted as: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1371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</a:t>
            </a:r>
            <a:pPr algn="ctr"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Y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1188720" y="370332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3703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920240" y="3520440"/>
            <a:ext cx="4206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Determinant
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2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of attributes that is capable of determining the value of 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675120" y="370332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03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406640" y="3520440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
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2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of attributes whose value is determined by X.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5212080"/>
            <a:ext cx="11064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521208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as:  </a:t>
            </a:r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“X functionally determines Y”</a:t>
            </a:r>
            <a:pPr indent="0" marL="0">
              <a:buNone/>
            </a:pPr>
            <a:r>
              <a:rPr lang="en-US" sz="1500" dirty="0">
                <a:solidFill>
                  <a:srgbClr val="22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every value of X is associated with exactly one value of Y.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Dependency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Example: Student Table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use this relation to test which functional dependencies actually hold.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08760" y="1828800"/>
          <a:ext cx="9144000" cy="352044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2286000"/>
                <a:gridCol w="22860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roll_no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dept_name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dept_building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3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3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3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3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3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3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pqr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3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3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3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3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xyz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3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3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3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3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xyz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3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3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3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3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3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3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3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3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jkl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3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34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22960" y="55778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roll_no 44 and 45 share the same name “xyz” but belong to different departments — a detail that matters when we test dependencies.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Dependency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 Functional Dependencies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hold for every row in the student table: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FA9AB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92224"/>
            <a:ext cx="347472" cy="347472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922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6002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roll_no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11880" y="1965960"/>
            <a:ext cx="4572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160520" y="16002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{name, dept_name, dept_building}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223760" y="160020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roll number belongs to exactly one student, so it fixes all their details.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441448"/>
            <a:ext cx="110642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FA9AB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633472"/>
            <a:ext cx="347472" cy="347472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6334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2441448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roll_no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11880" y="2807208"/>
            <a:ext cx="4572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4160520" y="2441448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dept_name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223760" y="2441448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student is enrolled in exactly one department.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282696"/>
            <a:ext cx="110642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FA9AB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3474720"/>
            <a:ext cx="347472" cy="347472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4747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3282696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dept_name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11880" y="3648456"/>
            <a:ext cx="4572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4160520" y="3282696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dept_building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223760" y="3282696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department is housed in exactly one building.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123944"/>
            <a:ext cx="110642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FA9AB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" y="4315968"/>
            <a:ext cx="347472" cy="347472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43159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80160" y="4123944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roll_no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611880" y="4489704"/>
            <a:ext cx="4572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4160520" y="4123944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223760" y="4123944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roll number maps to exactly one name.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48640" y="4965192"/>
            <a:ext cx="110642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FA9AB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31520" y="5157216"/>
            <a:ext cx="347472" cy="347472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51572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280160" y="4965192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{roll_no, name}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11880" y="5330952"/>
            <a:ext cx="4572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4160520" y="4965192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{dept_name, dept_building}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223760" y="4965192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superset of a determinant, like roll_no, still determines the rest.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Dependency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Invalid Functional Dependencies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look plausible but break on at least one row: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FA9AB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92224"/>
            <a:ext cx="347472" cy="3474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922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6002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11880" y="1965960"/>
            <a:ext cx="457200" cy="0"/>
          </a:xfrm>
          <a:prstGeom prst="line">
            <a:avLst/>
          </a:prstGeom>
          <a:noFill/>
          <a:ln w="25400">
            <a:solidFill>
              <a:srgbClr val="E0A0A0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160520" y="16002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dept_name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223760" y="160020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with the same name can belong to different departments.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441448"/>
            <a:ext cx="110642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FA9AB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633472"/>
            <a:ext cx="347472" cy="3474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6334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2441448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dept_building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11880" y="2807208"/>
            <a:ext cx="457200" cy="0"/>
          </a:xfrm>
          <a:prstGeom prst="line">
            <a:avLst/>
          </a:prstGeom>
          <a:noFill/>
          <a:ln w="25400">
            <a:solidFill>
              <a:srgbClr val="E0A0A0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4160520" y="2441448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dept_name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223760" y="2441448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departments can share the same building.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282696"/>
            <a:ext cx="110642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FA9AB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3474720"/>
            <a:ext cx="347472" cy="3474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4747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3282696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11880" y="3648456"/>
            <a:ext cx="457200" cy="0"/>
          </a:xfrm>
          <a:prstGeom prst="line">
            <a:avLst/>
          </a:prstGeom>
          <a:noFill/>
          <a:ln w="25400">
            <a:solidFill>
              <a:srgbClr val="E0A0A0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4160520" y="3282696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roll_no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223760" y="3282696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students can have the same name.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123944"/>
            <a:ext cx="110642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FA9AB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" y="4315968"/>
            <a:ext cx="347472" cy="3474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43159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80160" y="4123944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{name, dept_name}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611880" y="4489704"/>
            <a:ext cx="457200" cy="0"/>
          </a:xfrm>
          <a:prstGeom prst="line">
            <a:avLst/>
          </a:prstGeom>
          <a:noFill/>
          <a:ln w="25400">
            <a:solidFill>
              <a:srgbClr val="E0A0A0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4160520" y="4123944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roll_no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223760" y="4123944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pair still doesn't identify a single, unique student.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48640" y="4965192"/>
            <a:ext cx="110642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8FA9AB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31520" y="5157216"/>
            <a:ext cx="347472" cy="3474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51572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✗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280160" y="4965192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dept_building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11880" y="5330952"/>
            <a:ext cx="457200" cy="0"/>
          </a:xfrm>
          <a:prstGeom prst="line">
            <a:avLst/>
          </a:prstGeom>
          <a:noFill/>
          <a:ln w="25400">
            <a:solidFill>
              <a:srgbClr val="E0A0A0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4160520" y="4965192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roll_no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223760" y="4965192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building houses students from many roll numbers.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Dependency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Armstrong's Axioms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of inference rules describing the properties of functional dependencies. We start with the three primary axioms.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47872" cy="4114800"/>
          </a:xfrm>
          <a:prstGeom prst="rect">
            <a:avLst/>
          </a:prstGeom>
          <a:solidFill>
            <a:srgbClr val="0F3B41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65960"/>
            <a:ext cx="3547872" cy="1097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240280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Reflexivity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313639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 ⊆ X, then X → 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4023360"/>
            <a:ext cx="3090672" cy="0"/>
          </a:xfrm>
          <a:prstGeom prst="line">
            <a:avLst/>
          </a:prstGeom>
          <a:noFill/>
          <a:ln w="9525">
            <a:solidFill>
              <a:srgbClr val="028090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777240" y="4160520"/>
            <a:ext cx="3136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4434840"/>
            <a:ext cx="313639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{roll_no, name} → name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33672" y="1965960"/>
            <a:ext cx="3547872" cy="4114800"/>
          </a:xfrm>
          <a:prstGeom prst="rect">
            <a:avLst/>
          </a:prstGeom>
          <a:solidFill>
            <a:srgbClr val="0F3B41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33672" y="1965960"/>
            <a:ext cx="3547872" cy="10972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4462272" y="2240280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Augmentation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462272" y="2834640"/>
            <a:ext cx="313639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X → Y, then XZ → YZ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462272" y="4023360"/>
            <a:ext cx="3090672" cy="0"/>
          </a:xfrm>
          <a:prstGeom prst="line">
            <a:avLst/>
          </a:prstGeom>
          <a:noFill/>
          <a:ln w="9525">
            <a:solidFill>
              <a:srgbClr val="00A896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4462272" y="4160520"/>
            <a:ext cx="3136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62272" y="4434840"/>
            <a:ext cx="313639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roll_no → name  ⇒  {roll_no, dept_name} → {name, dept_name}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918704" y="1965960"/>
            <a:ext cx="3547872" cy="4114800"/>
          </a:xfrm>
          <a:prstGeom prst="rect">
            <a:avLst/>
          </a:prstGeom>
          <a:solidFill>
            <a:srgbClr val="0F3B41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18704" y="1965960"/>
            <a:ext cx="3547872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8147304" y="2240280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Transitivity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147304" y="2834640"/>
            <a:ext cx="313639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X → Y and Y → Z, then X → Z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147304" y="4023360"/>
            <a:ext cx="3090672" cy="0"/>
          </a:xfrm>
          <a:prstGeom prst="line">
            <a:avLst/>
          </a:prstGeom>
          <a:noFill/>
          <a:ln w="9525">
            <a:solidFill>
              <a:srgbClr val="02C39A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8147304" y="4160520"/>
            <a:ext cx="3136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147304" y="4434840"/>
            <a:ext cx="313639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roll_no → dept_name, dept_name → dept_building  ⇒  roll_no → dept_building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Dependency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Armstrong's Axioms — Derived Rules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three follow from the primary axioms, but are useful shortcuts on their own.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47872" cy="4114800"/>
          </a:xfrm>
          <a:prstGeom prst="rect">
            <a:avLst/>
          </a:prstGeom>
          <a:solidFill>
            <a:srgbClr val="0F3B41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65960"/>
            <a:ext cx="3547872" cy="1097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240280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Union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313639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X → Y and X → Z, then X → YZ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4023360"/>
            <a:ext cx="3090672" cy="0"/>
          </a:xfrm>
          <a:prstGeom prst="line">
            <a:avLst/>
          </a:prstGeom>
          <a:noFill/>
          <a:ln w="9525">
            <a:solidFill>
              <a:srgbClr val="028090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777240" y="4160520"/>
            <a:ext cx="3136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4434840"/>
            <a:ext cx="313639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roll_no → name, roll_no → age  ⇒  roll_no → {name, age}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33672" y="1965960"/>
            <a:ext cx="3547872" cy="4114800"/>
          </a:xfrm>
          <a:prstGeom prst="rect">
            <a:avLst/>
          </a:prstGeom>
          <a:solidFill>
            <a:srgbClr val="0F3B41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33672" y="1965960"/>
            <a:ext cx="3547872" cy="10972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4462272" y="2240280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Decomposition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462272" y="2834640"/>
            <a:ext cx="313639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X → YZ, then X → Y and X → Z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462272" y="4023360"/>
            <a:ext cx="3090672" cy="0"/>
          </a:xfrm>
          <a:prstGeom prst="line">
            <a:avLst/>
          </a:prstGeom>
          <a:noFill/>
          <a:ln w="9525">
            <a:solidFill>
              <a:srgbClr val="00A896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4462272" y="4160520"/>
            <a:ext cx="3136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62272" y="4434840"/>
            <a:ext cx="313639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roll_no → {name, age}  ⇒  roll_no → name  and  roll_no → age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18704" y="1965960"/>
            <a:ext cx="3547872" cy="4114800"/>
          </a:xfrm>
          <a:prstGeom prst="rect">
            <a:avLst/>
          </a:prstGeom>
          <a:solidFill>
            <a:srgbClr val="0F3B41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18704" y="1965960"/>
            <a:ext cx="3547872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8147304" y="2240280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Pseudo-transitivity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147304" y="2834640"/>
            <a:ext cx="313639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X → Y and YZ → W, then XZ → W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147304" y="4023360"/>
            <a:ext cx="3090672" cy="0"/>
          </a:xfrm>
          <a:prstGeom prst="line">
            <a:avLst/>
          </a:prstGeom>
          <a:noFill/>
          <a:ln w="9525">
            <a:solidFill>
              <a:srgbClr val="02C39A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8147304" y="4160520"/>
            <a:ext cx="3136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147304" y="4434840"/>
            <a:ext cx="313639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transitivity with an extra attribute Z on the middle step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Dependency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Functional Dependencies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440680" cy="2240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8FA9AB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755648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>
                    <a:alpha val="7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920240" y="182880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Trivial FD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920240" y="2331720"/>
            <a:ext cx="3794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2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→ Y where Y is a subset of X. Always true by definition (reflexivity).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91440" cy="2240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Shape 6"/>
          <p:cNvSpPr/>
          <p:nvPr/>
        </p:nvSpPr>
        <p:spPr>
          <a:xfrm>
            <a:off x="6172200" y="1554480"/>
            <a:ext cx="5440680" cy="2240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8FA9AB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46520" y="1755648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A896">
                    <a:alpha val="7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7543800" y="182880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Non-Trivial FD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543800" y="2331720"/>
            <a:ext cx="3794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2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→ Y where Y is not a subset of X — the dependency adds real information.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1554480"/>
            <a:ext cx="91440" cy="22402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977640"/>
            <a:ext cx="5440680" cy="2240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8FA9AB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4178808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>
                    <a:alpha val="7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1920240" y="425196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Multivalued FD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920240" y="4754880"/>
            <a:ext cx="3794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2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determines a set of values of Y, independent of other attributes (denoted X ↠↠ Y).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91440" cy="22402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Shape 16"/>
          <p:cNvSpPr/>
          <p:nvPr/>
        </p:nvSpPr>
        <p:spPr>
          <a:xfrm>
            <a:off x="6172200" y="3977640"/>
            <a:ext cx="5440680" cy="2240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8FA9AB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46520" y="4178808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45C64">
                    <a:alpha val="7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7543800" y="425196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Transitive FD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543800" y="4754880"/>
            <a:ext cx="3794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2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→ Y and Y → Z together imply X → Z, through an intermediate attribute.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72200" y="3977640"/>
            <a:ext cx="91440" cy="2240280"/>
          </a:xfrm>
          <a:prstGeom prst="rect">
            <a:avLst/>
          </a:prstGeom>
          <a:solidFill>
            <a:srgbClr val="045C64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Dependency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3657600" cy="36576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-1371600"/>
            <a:ext cx="3200400" cy="320040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46304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→ Y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 X (determinant) fixes the value of Y (dependent).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6060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17320" y="251460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real data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dependency is invalid the moment one counter-example appears.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36576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356616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Armstrong's Axioms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reflexivity, augmentation, and transitivity generate every other valid rule.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470916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709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17320" y="461772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 types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trivial, non-trivial, multivalued, and transitive describe how dependencies behave.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Dependency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Trivial vs Non-Trivial FD — A Closer Look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distinction: does the dependency actually say anything new?</a:t>
            </a:r>
            <a:endParaRPr lang="en-US" sz="1400" dirty="0"/>
          </a:p>
        </p:txBody>
      </p:sp>
      <p:sp>
        <p:nvSpPr>
          <p:cNvPr id="10" name="Shape 10"/>
          <p:cNvSpPr/>
          <p:nvPr/>
        </p:nvSpPr>
        <p:spPr>
          <a:xfrm>
            <a:off x="548640" y="1554480"/>
            <a:ext cx="5440680" cy="4663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8FA9AB">
                <a:alpha val="30000"/>
              </a:srgbClr>
            </a:outerShdw>
          </a:effectLst>
        </p:spPr>
      </p:sp>
      <p:sp>
        <p:nvSpPr>
          <p:cNvPr id="11" name="Shape 11"/>
          <p:cNvSpPr/>
          <p:nvPr/>
        </p:nvSpPr>
        <p:spPr>
          <a:xfrm>
            <a:off x="548640" y="1554480"/>
            <a:ext cx="91440" cy="4663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2"/>
          <p:cNvSpPr/>
          <p:nvPr/>
        </p:nvSpPr>
        <p:spPr>
          <a:xfrm>
            <a:off x="822960" y="1755648"/>
            <a:ext cx="4886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Trivial FD</a:t>
            </a:r>
            <a:endParaRPr lang="en-US" sz="2000" dirty="0"/>
          </a:p>
        </p:txBody>
      </p:sp>
      <p:sp>
        <p:nvSpPr>
          <p:cNvPr id="13" name="Text 13"/>
          <p:cNvSpPr/>
          <p:nvPr/>
        </p:nvSpPr>
        <p:spPr>
          <a:xfrm>
            <a:off x="822960" y="2377440"/>
            <a:ext cx="488676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</a:t>
            </a:r>
            <a:r>
              <a:rPr lang="en-US" sz="1200" dirty="0">
                <a:solidFill>
                  <a:srgbClr val="22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→ Y holds trivially whenever Y is a subset of X. It's true by definition — a direct case of the reflexivity axiom.</a:t>
            </a:r>
          </a:p>
          <a:p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200" dirty="0">
                <a:solidFill>
                  <a:srgbClr val="22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{roll_no, name} → name always holds, since name is already part of the left-hand side.</a:t>
            </a:r>
          </a:p>
          <a:p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r>
              <a:rPr lang="en-US" sz="1200" dirty="0">
                <a:solidFill>
                  <a:srgbClr val="22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trivial FD carries no new information about the relation, so it never needs to be tested against the data.</a:t>
            </a:r>
          </a:p>
        </p:txBody>
      </p:sp>
      <p:sp>
        <p:nvSpPr>
          <p:cNvPr id="30" name="Shape 30"/>
          <p:cNvSpPr/>
          <p:nvPr/>
        </p:nvSpPr>
        <p:spPr>
          <a:xfrm>
            <a:off x="6172200" y="1554480"/>
            <a:ext cx="5440680" cy="4663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8FA9AB">
                <a:alpha val="30000"/>
              </a:srgbClr>
            </a:outerShdw>
          </a:effectLst>
        </p:spPr>
      </p:sp>
      <p:sp>
        <p:nvSpPr>
          <p:cNvPr id="31" name="Shape 31"/>
          <p:cNvSpPr/>
          <p:nvPr/>
        </p:nvSpPr>
        <p:spPr>
          <a:xfrm>
            <a:off x="6172200" y="1554480"/>
            <a:ext cx="91440" cy="46634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2" name="Text 32"/>
          <p:cNvSpPr/>
          <p:nvPr/>
        </p:nvSpPr>
        <p:spPr>
          <a:xfrm>
            <a:off x="6446520" y="1755648"/>
            <a:ext cx="4886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Non-Trivial FD</a:t>
            </a:r>
            <a:endParaRPr lang="en-US" sz="2000" dirty="0"/>
          </a:p>
        </p:txBody>
      </p:sp>
      <p:sp>
        <p:nvSpPr>
          <p:cNvPr id="33" name="Text 33"/>
          <p:cNvSpPr/>
          <p:nvPr/>
        </p:nvSpPr>
        <p:spPr>
          <a:xfrm>
            <a:off x="6446520" y="2377440"/>
            <a:ext cx="488676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</a:t>
            </a:r>
            <a:r>
              <a:rPr lang="en-US" sz="1200" dirty="0">
                <a:solidFill>
                  <a:srgbClr val="22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→ Y is non-trivial when Y is not a subset of X. The dependency states a real constraint that must hold across every row.</a:t>
            </a:r>
          </a:p>
          <a:p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200" dirty="0">
                <a:solidFill>
                  <a:srgbClr val="22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roll_no → dept_name holds, but dept_name is not part of {roll_no} — this is genuine information about students.</a:t>
            </a:r>
          </a:p>
          <a:p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r>
              <a:rPr lang="en-US" sz="1200" dirty="0">
                <a:solidFill>
                  <a:srgbClr val="22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and key analysis are only concerned with non-trivial dependencies — they're the ones that shape table design.</a:t>
            </a:r>
          </a:p>
        </p:txBody>
      </p:sp>
      <p:sp>
        <p:nvSpPr>
          <p:cNvPr id="50" name="Text 50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Dependency</a:t>
            </a:r>
            <a:endParaRPr lang="en-US" sz="1000" dirty="0"/>
          </a:p>
        </p:txBody>
      </p:sp>
      <p:sp>
        <p:nvSpPr>
          <p:cNvPr id="51" name="Text 5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Partial vs Full Functional Dependency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more types, defined against a composite key (illustrated with an Enrollment table).</a:t>
            </a:r>
            <a:endParaRPr lang="en-US" sz="1400" dirty="0"/>
          </a:p>
        </p:txBody>
      </p:sp>
      <p:sp>
        <p:nvSpPr>
          <p:cNvPr id="10" name="Shape 10"/>
          <p:cNvSpPr/>
          <p:nvPr/>
        </p:nvSpPr>
        <p:spPr>
          <a:xfrm>
            <a:off x="548640" y="1554480"/>
            <a:ext cx="5440680" cy="4663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8FA9AB">
                <a:alpha val="30000"/>
              </a:srgbClr>
            </a:outerShdw>
          </a:effectLst>
        </p:spPr>
      </p:sp>
      <p:sp>
        <p:nvSpPr>
          <p:cNvPr id="11" name="Shape 11"/>
          <p:cNvSpPr/>
          <p:nvPr/>
        </p:nvSpPr>
        <p:spPr>
          <a:xfrm>
            <a:off x="548640" y="1554480"/>
            <a:ext cx="91440" cy="4663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2"/>
          <p:cNvSpPr/>
          <p:nvPr/>
        </p:nvSpPr>
        <p:spPr>
          <a:xfrm>
            <a:off x="822960" y="1755648"/>
            <a:ext cx="4886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Partial FD</a:t>
            </a:r>
            <a:endParaRPr lang="en-US" sz="2000" dirty="0"/>
          </a:p>
        </p:txBody>
      </p:sp>
      <p:sp>
        <p:nvSpPr>
          <p:cNvPr id="13" name="Text 13"/>
          <p:cNvSpPr/>
          <p:nvPr/>
        </p:nvSpPr>
        <p:spPr>
          <a:xfrm>
            <a:off x="822960" y="2377440"/>
            <a:ext cx="488676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</a:t>
            </a:r>
            <a:r>
              <a:rPr lang="en-US" sz="1200" dirty="0">
                <a:solidFill>
                  <a:srgbClr val="22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composite key X, Y is partially dependent if some proper subset of X alone already determines Y.</a:t>
            </a:r>
          </a:p>
          <a:p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200" dirty="0">
                <a:solidFill>
                  <a:srgbClr val="22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Enrollment(student_id, course_id, student_name, grade), student_name depends only on student_id — a proper subset of the key {student_id, course_id}.</a:t>
            </a:r>
          </a:p>
          <a:p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r>
              <a:rPr lang="en-US" sz="1200" dirty="0">
                <a:solidFill>
                  <a:srgbClr val="22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dependencies on a composite key violate Second Normal Form (2NF) and are removed by splitting the table.</a:t>
            </a:r>
          </a:p>
        </p:txBody>
      </p:sp>
      <p:sp>
        <p:nvSpPr>
          <p:cNvPr id="30" name="Shape 30"/>
          <p:cNvSpPr/>
          <p:nvPr/>
        </p:nvSpPr>
        <p:spPr>
          <a:xfrm>
            <a:off x="6172200" y="1554480"/>
            <a:ext cx="5440680" cy="4663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8FA9AB">
                <a:alpha val="30000"/>
              </a:srgbClr>
            </a:outerShdw>
          </a:effectLst>
        </p:spPr>
      </p:sp>
      <p:sp>
        <p:nvSpPr>
          <p:cNvPr id="31" name="Shape 31"/>
          <p:cNvSpPr/>
          <p:nvPr/>
        </p:nvSpPr>
        <p:spPr>
          <a:xfrm>
            <a:off x="6172200" y="1554480"/>
            <a:ext cx="91440" cy="46634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2" name="Text 32"/>
          <p:cNvSpPr/>
          <p:nvPr/>
        </p:nvSpPr>
        <p:spPr>
          <a:xfrm>
            <a:off x="6446520" y="1755648"/>
            <a:ext cx="4886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FD</a:t>
            </a:r>
            <a:endParaRPr lang="en-US" sz="2000" dirty="0"/>
          </a:p>
        </p:txBody>
      </p:sp>
      <p:sp>
        <p:nvSpPr>
          <p:cNvPr id="33" name="Text 33"/>
          <p:cNvSpPr/>
          <p:nvPr/>
        </p:nvSpPr>
        <p:spPr>
          <a:xfrm>
            <a:off x="6446520" y="2377440"/>
            <a:ext cx="488676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</a:t>
            </a:r>
            <a:r>
              <a:rPr lang="en-US" sz="1200" dirty="0">
                <a:solidFill>
                  <a:srgbClr val="22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is fully dependent on X when it depends on the entire composite key X, and on no proper subset of it.</a:t>
            </a:r>
          </a:p>
          <a:p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200" dirty="0">
                <a:solidFill>
                  <a:srgbClr val="22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same table, grade depends on the whole pair {student_id, course_id} — no single attribute determines it alone.</a:t>
            </a:r>
          </a:p>
          <a:p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r>
              <a:rPr lang="en-US" sz="1200" dirty="0">
                <a:solidFill>
                  <a:srgbClr val="22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 requires every non-key attribute to be fully dependent on the whole key, not just part of it.</a:t>
            </a:r>
          </a:p>
        </p:txBody>
      </p:sp>
      <p:sp>
        <p:nvSpPr>
          <p:cNvPr id="50" name="Text 50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Dependency</a:t>
            </a:r>
            <a:endParaRPr lang="en-US" sz="1000" dirty="0"/>
          </a:p>
        </p:txBody>
      </p:sp>
      <p:sp>
        <p:nvSpPr>
          <p:cNvPr id="51" name="Text 5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Multivalued vs Transitive FD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Rounding out the picture, back on the familiar student table.</a:t>
            </a:r>
            <a:endParaRPr lang="en-US" sz="1400" dirty="0"/>
          </a:p>
        </p:txBody>
      </p:sp>
      <p:sp>
        <p:nvSpPr>
          <p:cNvPr id="10" name="Shape 10"/>
          <p:cNvSpPr/>
          <p:nvPr/>
        </p:nvSpPr>
        <p:spPr>
          <a:xfrm>
            <a:off x="548640" y="1554480"/>
            <a:ext cx="5440680" cy="4663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8FA9AB">
                <a:alpha val="30000"/>
              </a:srgbClr>
            </a:outerShdw>
          </a:effectLst>
        </p:spPr>
      </p:sp>
      <p:sp>
        <p:nvSpPr>
          <p:cNvPr id="11" name="Shape 11"/>
          <p:cNvSpPr/>
          <p:nvPr/>
        </p:nvSpPr>
        <p:spPr>
          <a:xfrm>
            <a:off x="548640" y="1554480"/>
            <a:ext cx="91440" cy="46634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12"/>
          <p:cNvSpPr/>
          <p:nvPr/>
        </p:nvSpPr>
        <p:spPr>
          <a:xfrm>
            <a:off x="822960" y="1755648"/>
            <a:ext cx="4886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Multivalued FD</a:t>
            </a:r>
            <a:endParaRPr lang="en-US" sz="2000" dirty="0"/>
          </a:p>
        </p:txBody>
      </p:sp>
      <p:sp>
        <p:nvSpPr>
          <p:cNvPr id="13" name="Text 13"/>
          <p:cNvSpPr/>
          <p:nvPr/>
        </p:nvSpPr>
        <p:spPr>
          <a:xfrm>
            <a:off x="822960" y="2377440"/>
            <a:ext cx="488676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</a:t>
            </a:r>
            <a:r>
              <a:rPr lang="en-US" sz="1200" dirty="0">
                <a:solidFill>
                  <a:srgbClr val="22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↠ Y means each value of X is associated with a set of Y values, independent of every other attribute in the relation.</a:t>
            </a:r>
          </a:p>
          <a:p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200" dirty="0">
                <a:solidFill>
                  <a:srgbClr val="22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student table also stored phone numbers, roll_no ↠ phone_number: each student's set of phones has nothing to do with their department.</a:t>
            </a:r>
          </a:p>
          <a:p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r>
              <a:rPr lang="en-US" sz="1200" dirty="0">
                <a:solidFill>
                  <a:srgbClr val="22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Multivalued dependencies cause redundant rows and are resolved by moving to Fourth Normal Form (4NF).</a:t>
            </a:r>
          </a:p>
        </p:txBody>
      </p:sp>
      <p:sp>
        <p:nvSpPr>
          <p:cNvPr id="30" name="Shape 30"/>
          <p:cNvSpPr/>
          <p:nvPr/>
        </p:nvSpPr>
        <p:spPr>
          <a:xfrm>
            <a:off x="6172200" y="1554480"/>
            <a:ext cx="5440680" cy="4663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8FA9AB">
                <a:alpha val="30000"/>
              </a:srgbClr>
            </a:outerShdw>
          </a:effectLst>
        </p:spPr>
      </p:sp>
      <p:sp>
        <p:nvSpPr>
          <p:cNvPr id="31" name="Shape 31"/>
          <p:cNvSpPr/>
          <p:nvPr/>
        </p:nvSpPr>
        <p:spPr>
          <a:xfrm>
            <a:off x="6172200" y="1554480"/>
            <a:ext cx="91440" cy="4663440"/>
          </a:xfrm>
          <a:prstGeom prst="rect">
            <a:avLst/>
          </a:prstGeom>
          <a:solidFill>
            <a:srgbClr val="045C64"/>
          </a:solidFill>
          <a:ln/>
        </p:spPr>
      </p:sp>
      <p:sp>
        <p:nvSpPr>
          <p:cNvPr id="32" name="Text 32"/>
          <p:cNvSpPr/>
          <p:nvPr/>
        </p:nvSpPr>
        <p:spPr>
          <a:xfrm>
            <a:off x="6446520" y="1755648"/>
            <a:ext cx="4886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45C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Transitive FD</a:t>
            </a:r>
            <a:endParaRPr lang="en-US" sz="2000" dirty="0"/>
          </a:p>
        </p:txBody>
      </p:sp>
      <p:sp>
        <p:nvSpPr>
          <p:cNvPr id="33" name="Text 33"/>
          <p:cNvSpPr/>
          <p:nvPr/>
        </p:nvSpPr>
        <p:spPr>
          <a:xfrm>
            <a:off x="6446520" y="2377440"/>
            <a:ext cx="488676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</a:t>
            </a:r>
            <a:r>
              <a:rPr lang="en-US" sz="1200" dirty="0">
                <a:solidFill>
                  <a:srgbClr val="22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X → Y and Y → Z, then X → Z — Y is a non-key attribute sitting between X and Z.</a:t>
            </a:r>
          </a:p>
          <a:p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r>
              <a:rPr lang="en-US" sz="1200" dirty="0">
                <a:solidFill>
                  <a:srgbClr val="22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roll_no → dept_name and dept_name → dept_building together give roll_no → dept_building.</a:t>
            </a:r>
          </a:p>
          <a:p>
            <a:pPr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r>
              <a:rPr lang="en-US" sz="1200" dirty="0">
                <a:solidFill>
                  <a:srgbClr val="223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Transitive dependencies on non-key attributes violate Third Normal Form (3NF) and motivate decomposing the table.</a:t>
            </a:r>
          </a:p>
        </p:txBody>
      </p:sp>
      <p:sp>
        <p:nvSpPr>
          <p:cNvPr id="50" name="Text 50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Dependency</a:t>
            </a:r>
            <a:endParaRPr lang="en-US" sz="1000" dirty="0"/>
          </a:p>
        </p:txBody>
      </p:sp>
      <p:sp>
        <p:nvSpPr>
          <p:cNvPr id="51" name="Text 5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2026-07-14T15:33:23Z</dcterms:created>
  <dcterms:modified xsi:type="dcterms:W3CDTF">2026-07-14T15:33:23Z</dcterms:modified>
</cp:coreProperties>
</file>