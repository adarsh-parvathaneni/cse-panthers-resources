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307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930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828800"/>
            <a:ext cx="5486400" cy="54864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50" y="10369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  ·  DATABASE MANAGEMENT SYSTEMS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228600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Languages, Relational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 &amp; Data Models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4251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 ·  ER, Network, Relational &amp; Object-Oriented Models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5166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0418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78308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Languages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874520" y="221284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DQL, DCL and TCL — the command sets that build and run a database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1318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875" y="33220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74520" y="30632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Databases (RDBs)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1874520" y="34930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tuples, attributes, keys — and how relations connect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42062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411980"/>
            <a:ext cx="731520" cy="73152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875" y="46021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3434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Process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874520" y="477316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 analysis to a working, tested database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54864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56921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" y="588233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56235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1874520" y="605332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Model, Network Model, Relational Model, Object-Oriented Model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LANGUAGES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Command Sets That Run a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79576" y="214884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546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089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40080" y="3584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8368" y="3977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structure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4480560"/>
            <a:ext cx="1444752" cy="9144"/>
          </a:xfrm>
          <a:prstGeom prst="rect">
            <a:avLst/>
          </a:prstGeom>
          <a:solidFill>
            <a:srgbClr val="D5E3E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461772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ALTER, DROP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98064" y="18288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970" y="2362810"/>
            <a:ext cx="395021" cy="39502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9504" y="31089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2889504" y="3584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907792" y="3977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data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118104" y="4480560"/>
            <a:ext cx="1444752" cy="9144"/>
          </a:xfrm>
          <a:prstGeom prst="rect">
            <a:avLst/>
          </a:prstGeom>
          <a:solidFill>
            <a:srgbClr val="D5E3EA"/>
          </a:solidFill>
          <a:ln/>
        </p:spPr>
      </p:sp>
      <p:sp>
        <p:nvSpPr>
          <p:cNvPr id="19" name="Text 15"/>
          <p:cNvSpPr/>
          <p:nvPr/>
        </p:nvSpPr>
        <p:spPr>
          <a:xfrm>
            <a:off x="2889504" y="461772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UPDATE, DELETE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47488" y="18288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678424" y="214884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394" y="2362810"/>
            <a:ext cx="395021" cy="395021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38928" y="31089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DQL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5138928" y="3584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157216" y="3977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data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367528" y="4480560"/>
            <a:ext cx="1444752" cy="9144"/>
          </a:xfrm>
          <a:prstGeom prst="rect">
            <a:avLst/>
          </a:prstGeom>
          <a:solidFill>
            <a:srgbClr val="D5E3EA"/>
          </a:solidFill>
          <a:ln/>
        </p:spPr>
      </p:sp>
      <p:sp>
        <p:nvSpPr>
          <p:cNvPr id="27" name="Text 22"/>
          <p:cNvSpPr/>
          <p:nvPr/>
        </p:nvSpPr>
        <p:spPr>
          <a:xfrm>
            <a:off x="5138928" y="461772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7296912" y="18288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927848" y="21488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1818" y="2362810"/>
            <a:ext cx="395021" cy="395021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88352" y="31089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DCL</a:t>
            </a:r>
            <a:endParaRPr lang="en-US" sz="2400" dirty="0"/>
          </a:p>
        </p:txBody>
      </p:sp>
      <p:sp>
        <p:nvSpPr>
          <p:cNvPr id="32" name="Text 26"/>
          <p:cNvSpPr/>
          <p:nvPr/>
        </p:nvSpPr>
        <p:spPr>
          <a:xfrm>
            <a:off x="7388352" y="3584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406640" y="3977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access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7616952" y="4480560"/>
            <a:ext cx="1444752" cy="9144"/>
          </a:xfrm>
          <a:prstGeom prst="rect">
            <a:avLst/>
          </a:prstGeom>
          <a:solidFill>
            <a:srgbClr val="D5E3EA"/>
          </a:solidFill>
          <a:ln/>
        </p:spPr>
      </p:sp>
      <p:sp>
        <p:nvSpPr>
          <p:cNvPr id="35" name="Text 29"/>
          <p:cNvSpPr/>
          <p:nvPr/>
        </p:nvSpPr>
        <p:spPr>
          <a:xfrm>
            <a:off x="7388352" y="461772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GRANT, REVOKE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546336" y="18288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0177272" y="214884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1242" y="2362810"/>
            <a:ext cx="395021" cy="395021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637776" y="310896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4F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TCL</a:t>
            </a:r>
            <a:endParaRPr lang="en-US" sz="2400" dirty="0"/>
          </a:p>
        </p:txBody>
      </p:sp>
      <p:sp>
        <p:nvSpPr>
          <p:cNvPr id="40" name="Text 33"/>
          <p:cNvSpPr/>
          <p:nvPr/>
        </p:nvSpPr>
        <p:spPr>
          <a:xfrm>
            <a:off x="9637776" y="3584448"/>
            <a:ext cx="1901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9656064" y="39776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transactions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9866376" y="4480560"/>
            <a:ext cx="1444752" cy="9144"/>
          </a:xfrm>
          <a:prstGeom prst="rect">
            <a:avLst/>
          </a:prstGeom>
          <a:solidFill>
            <a:srgbClr val="D5E3EA"/>
          </a:solidFill>
          <a:ln/>
        </p:spPr>
      </p:sp>
      <p:sp>
        <p:nvSpPr>
          <p:cNvPr id="43" name="Text 36"/>
          <p:cNvSpPr/>
          <p:nvPr/>
        </p:nvSpPr>
        <p:spPr>
          <a:xfrm>
            <a:off x="9637776" y="4617720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ROLLBACK, SAVEPOINT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tip: </a:t>
            </a:r>
            <a:r>
              <a:rPr lang="en-US" sz="13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builds it, DML changes it, DQL reads it, DCL guards it, TCL completes it.</a:t>
            </a:r>
            <a:endParaRPr lang="en-US" sz="1350" dirty="0"/>
          </a:p>
        </p:txBody>
      </p:sp>
      <p:sp>
        <p:nvSpPr>
          <p:cNvPr id="45" name="Text 3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46" name="Text 3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LANGUAGES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Side-by-Side Comparison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Manipulates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Retrieves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access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Manages transactions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privileges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ALTER, DROP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INSERT, UPDATE,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GRANT, REVOKE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COMMIT, ROLLBACK,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Structure?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 / Designer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&amp;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&amp; Apps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Relational Database?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(RDB) </a:t>
            </a: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tables (relations) made of rows (tuples) and columns (attributes), linked through Primary and Foreign Keys. Proposed by </a:t>
            </a:r>
            <a:r>
              <a:rPr lang="en-US" sz="15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F. Codd in 1970.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Terminology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7315200" cy="2651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8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Student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(101, Rahul, CSE, 20)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of valid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Branch = {CSE, ECE, IT}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3383280"/>
            <a:ext cx="3520440" cy="265176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321040" y="3611880"/>
            <a:ext cx="594360" cy="5943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37664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052560" y="356616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called a Relation in the relational model — the name the whole model is built around.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321040" y="50749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Rahul, CSE, 20 → one tuple in the Student relation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Linking Tables with Primary &amp; Foreign Keys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420624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 (PK)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807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3191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92024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0" y="1920240"/>
            <a:ext cx="420624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6948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  (PK)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2807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Course_Name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31912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 (FK)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120640" y="3291840"/>
            <a:ext cx="192024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120640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 reference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461772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4709160"/>
            <a:ext cx="9692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</a:t>
            </a:r>
            <a:r>
              <a:rPr lang="en-US" sz="14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Primary Key of the Student table — it uniquely identifies each student. The same column appears in Course as a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r>
              <a:rPr lang="en-US" sz="14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linking every course row back to a specific student. A course cannot be enrolled unless that Student_ID already exists in Student — this is called </a:t>
            </a: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&amp; ACID Properties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Characteristics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stored in tables (rows &amp; columns)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enforced via Primary &amp; Foreign Keys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rules: NOT NULL, UNIQUE, CHECK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Structured Query Language (SQL)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Redundancy reduced through normalization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ACID Properties (Reliable Transactions)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0" y="21488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223760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223760" y="27157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execution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52560" y="214884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89720" y="2240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875520" y="231343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875520" y="271576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state to valid state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6576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223760" y="3822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23760" y="42245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don't interfere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365760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89720" y="3749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875520" y="382219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0" y="422452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data survives failure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Database Design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481328" cy="1481328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029968" y="3118104"/>
            <a:ext cx="115824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5792" y="2377440"/>
            <a:ext cx="1481328" cy="14813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5792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08632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(ER)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7120" y="3118104"/>
            <a:ext cx="115824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42944" y="2377440"/>
            <a:ext cx="1481328" cy="1481328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2944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05784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24272" y="3118104"/>
            <a:ext cx="115824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40096" y="2377440"/>
            <a:ext cx="1481328" cy="14813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40096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202936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21424" y="3118104"/>
            <a:ext cx="115824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37248" y="2377440"/>
            <a:ext cx="1481328" cy="1481328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37248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00088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418576" y="3118104"/>
            <a:ext cx="115824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34400" y="2377440"/>
            <a:ext cx="1481328" cy="1481328"/>
          </a:xfrm>
          <a:prstGeom prst="ellipse">
            <a:avLst/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34400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397240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15728" y="3118104"/>
            <a:ext cx="115824" cy="0"/>
          </a:xfrm>
          <a:prstGeom prst="line">
            <a:avLst/>
          </a:prstGeom>
          <a:noFill/>
          <a:ln w="2540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31552" y="2377440"/>
            <a:ext cx="1481328" cy="1481328"/>
          </a:xfrm>
          <a:prstGeom prst="ellipse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131552" y="2331720"/>
            <a:ext cx="148132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994392" y="3968496"/>
            <a:ext cx="17556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68680" y="470916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College Management System:  </a:t>
            </a: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requirements (students, faculty, courses) → draw the ER diagram (Student —Enrolls— Course) → convert to tables with keys → normalize to remove duplication → choose indexes &amp; storage → run CREATE TABLE statements → test queries and take backups.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to Model a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2651760" cy="10515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0B4F6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514600"/>
            <a:ext cx="2651760" cy="5943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8" name="Shape 6"/>
          <p:cNvSpPr/>
          <p:nvPr/>
        </p:nvSpPr>
        <p:spPr>
          <a:xfrm>
            <a:off x="1463040" y="21031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010" y="2317090"/>
            <a:ext cx="395021" cy="39502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Model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Chen, 1976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 &amp; relationships — used for conceptual design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355848" y="187452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55848" y="1874520"/>
            <a:ext cx="265176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Shape 12"/>
          <p:cNvSpPr/>
          <p:nvPr/>
        </p:nvSpPr>
        <p:spPr>
          <a:xfrm>
            <a:off x="3355848" y="1874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16" name="Shape 13"/>
          <p:cNvSpPr/>
          <p:nvPr/>
        </p:nvSpPr>
        <p:spPr>
          <a:xfrm>
            <a:off x="3355848" y="2514600"/>
            <a:ext cx="265176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4"/>
          <p:cNvSpPr/>
          <p:nvPr/>
        </p:nvSpPr>
        <p:spPr>
          <a:xfrm>
            <a:off x="4270248" y="210312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218" y="2317090"/>
            <a:ext cx="395021" cy="3950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47288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47288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structure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38728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linked as a graph; supports many-to-many links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163056" y="187452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63056" y="1874520"/>
            <a:ext cx="2651760" cy="10515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4" name="Shape 20"/>
          <p:cNvSpPr/>
          <p:nvPr/>
        </p:nvSpPr>
        <p:spPr>
          <a:xfrm>
            <a:off x="6163056" y="1874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0B4F6C"/>
          </a:solidFill>
          <a:ln/>
        </p:spPr>
      </p:sp>
      <p:sp>
        <p:nvSpPr>
          <p:cNvPr id="25" name="Shape 21"/>
          <p:cNvSpPr/>
          <p:nvPr/>
        </p:nvSpPr>
        <p:spPr>
          <a:xfrm>
            <a:off x="6163056" y="2514600"/>
            <a:ext cx="2651760" cy="59436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26" name="Shape 22"/>
          <p:cNvSpPr/>
          <p:nvPr/>
        </p:nvSpPr>
        <p:spPr>
          <a:xfrm>
            <a:off x="7077456" y="21031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426" y="2317090"/>
            <a:ext cx="395021" cy="39502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254496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6254496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Codd, 1970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45936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tables, linked by Primary &amp; Foreign Keys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8970264" y="187452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8970264" y="1874520"/>
            <a:ext cx="2651760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Shape 28"/>
          <p:cNvSpPr/>
          <p:nvPr/>
        </p:nvSpPr>
        <p:spPr>
          <a:xfrm>
            <a:off x="8970264" y="187452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C7293"/>
          </a:solidFill>
          <a:ln/>
        </p:spPr>
      </p:sp>
      <p:sp>
        <p:nvSpPr>
          <p:cNvPr id="34" name="Shape 29"/>
          <p:cNvSpPr/>
          <p:nvPr/>
        </p:nvSpPr>
        <p:spPr>
          <a:xfrm>
            <a:off x="8970264" y="2514600"/>
            <a:ext cx="265176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5" name="Shape 30"/>
          <p:cNvSpPr/>
          <p:nvPr/>
        </p:nvSpPr>
        <p:spPr>
          <a:xfrm>
            <a:off x="9884664" y="210312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98634" y="2317090"/>
            <a:ext cx="395021" cy="395021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061704" y="3200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Model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9061704" y="36850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OOP-based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9153144" y="41148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bundle data with behaviour (methods)</a:t>
            </a:r>
            <a:endParaRPr lang="en-US" sz="1250" dirty="0"/>
          </a:p>
        </p:txBody>
      </p:sp>
      <p:sp>
        <p:nvSpPr>
          <p:cNvPr id="40" name="Text 34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(ER)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2377440"/>
            <a:ext cx="2011680" cy="731520"/>
          </a:xfrm>
          <a:prstGeom prst="rect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03920" y="23774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2286000"/>
            <a:ext cx="2194560" cy="1097280"/>
          </a:xfrm>
          <a:prstGeom prst="diamond">
            <a:avLst/>
          </a:prstGeom>
          <a:solidFill>
            <a:srgbClr val="E8871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2860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2743200"/>
            <a:ext cx="2194560" cy="0"/>
          </a:xfrm>
          <a:prstGeom prst="line">
            <a:avLst/>
          </a:prstGeom>
          <a:noFill/>
          <a:ln w="25400">
            <a:solidFill>
              <a:srgbClr val="17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0" y="2743200"/>
            <a:ext cx="1371600" cy="0"/>
          </a:xfrm>
          <a:prstGeom prst="line">
            <a:avLst/>
          </a:prstGeom>
          <a:noFill/>
          <a:ln w="25400">
            <a:solidFill>
              <a:srgbClr val="17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8700" y="310896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29000"/>
            <a:ext cx="1143000" cy="502920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63140" y="310896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3429000"/>
            <a:ext cx="1143000" cy="502920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3429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92540" y="310896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3429000"/>
            <a:ext cx="1143000" cy="502920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429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126980" y="310896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3429000"/>
            <a:ext cx="1143000" cy="502920"/>
          </a:xfrm>
          <a:prstGeom prst="ellipse">
            <a:avLst/>
          </a:prstGeom>
          <a:solidFill>
            <a:srgbClr val="EAF3F7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34290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Course_Name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= Entity     Oval = Attribute     Diamond = Relationship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462272"/>
            <a:ext cx="219456" cy="21945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371600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1371600" y="47548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 &amp; visualize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real-world objects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database design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easily to relational tables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199632" y="4160520"/>
            <a:ext cx="5440680" cy="1920240"/>
          </a:xfrm>
          <a:prstGeom prst="roundRect">
            <a:avLst>
              <a:gd name="adj" fmla="val 3810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28232" y="43434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4462272"/>
            <a:ext cx="219456" cy="219456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7022592" y="4343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1450" dirty="0"/>
          </a:p>
        </p:txBody>
      </p:sp>
      <p:sp>
        <p:nvSpPr>
          <p:cNvPr id="34" name="Text 30"/>
          <p:cNvSpPr/>
          <p:nvPr/>
        </p:nvSpPr>
        <p:spPr>
          <a:xfrm>
            <a:off x="7022592" y="47548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store data directly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conversion to relational tables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complex for large databases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983480" y="1828800"/>
            <a:ext cx="2194560" cy="685800"/>
          </a:xfrm>
          <a:prstGeom prst="rect">
            <a:avLst/>
          </a:prstGeom>
          <a:solidFill>
            <a:srgbClr val="0B4F6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80" y="18288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3108960"/>
            <a:ext cx="2194560" cy="68580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03920" y="3108960"/>
            <a:ext cx="2194560" cy="685800"/>
          </a:xfrm>
          <a:prstGeom prst="rect">
            <a:avLst/>
          </a:prstGeom>
          <a:solidFill>
            <a:srgbClr val="1C7293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0" y="31089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83480" y="2514600"/>
            <a:ext cx="0" cy="594360"/>
          </a:xfrm>
          <a:prstGeom prst="line">
            <a:avLst/>
          </a:prstGeom>
          <a:noFill/>
          <a:ln w="25400">
            <a:solidFill>
              <a:srgbClr val="17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2514600"/>
            <a:ext cx="2423160" cy="594360"/>
          </a:xfrm>
          <a:prstGeom prst="line">
            <a:avLst/>
          </a:prstGeom>
          <a:noFill/>
          <a:ln w="25400">
            <a:solidFill>
              <a:srgbClr val="17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429768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8871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42976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3794760"/>
            <a:ext cx="1600200" cy="502920"/>
          </a:xfrm>
          <a:prstGeom prst="line">
            <a:avLst/>
          </a:prstGeom>
          <a:noFill/>
          <a:ln w="25400">
            <a:solidFill>
              <a:srgbClr val="17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3794760"/>
            <a:ext cx="0" cy="502920"/>
          </a:xfrm>
          <a:prstGeom prst="line">
            <a:avLst/>
          </a:prstGeom>
          <a:noFill/>
          <a:ln w="25400">
            <a:solidFill>
              <a:srgbClr val="17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can work on several Projects, and a Project can have several Employees — a many-to-many link.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623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 </a:t>
            </a:r>
            <a:r>
              <a:rPr lang="en-US" sz="11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many-to-many links, faster navigation for linked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9632" y="5623560"/>
            <a:ext cx="5440680" cy="868680"/>
          </a:xfrm>
          <a:prstGeom prst="roundRect">
            <a:avLst>
              <a:gd name="adj" fmla="val 8421"/>
            </a:avLst>
          </a:prstGeom>
          <a:solidFill>
            <a:srgbClr val="EA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6428232" y="56235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 </a:t>
            </a:r>
            <a:r>
              <a:rPr lang="en-US" sz="11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design and implement; requires knowledge of record links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420624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 (PK)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3000" y="2633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43000" y="2980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18288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0" y="1828800"/>
            <a:ext cx="4206240" cy="45720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69480" y="22860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  (PK)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269480" y="263347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  (FK)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20640" y="2743200"/>
            <a:ext cx="1920240" cy="0"/>
          </a:xfrm>
          <a:prstGeom prst="line">
            <a:avLst/>
          </a:prstGeom>
          <a:noFill/>
          <a:ln w="31750">
            <a:solidFill>
              <a:srgbClr val="E8871E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48640" y="3886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tables; relationships are made with Primary/Foreign Keys — simple, SQL-driven, and widely used.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4526280"/>
            <a:ext cx="2281428" cy="45720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526280"/>
            <a:ext cx="22814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Table-based structure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41548" y="452628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41548" y="45262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SQL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6572" y="4526280"/>
            <a:ext cx="2368296" cy="45720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6572" y="45262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normalization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27748" y="4526280"/>
            <a:ext cx="2368296" cy="457200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27748" y="4526280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data integrity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5257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 </a:t>
            </a: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understand, reduces redundancy, powerful SQL queries, supports ACID transactions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99632" y="525780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28232" y="52578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 </a:t>
            </a: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joins can slow performance; less suited to highly unstructured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Object-Oriented (OO) Model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4206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B4F6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28800"/>
            <a:ext cx="4206240" cy="502920"/>
          </a:xfrm>
          <a:prstGeom prst="rect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Object: Student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(data)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788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 = 101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31089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Rahul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4290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 = CSE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43000" y="3794760"/>
            <a:ext cx="3749040" cy="9144"/>
          </a:xfrm>
          <a:prstGeom prst="rect">
            <a:avLst/>
          </a:prstGeom>
          <a:solidFill>
            <a:srgbClr val="D5E3EA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(behaviour)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displayDetails()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calculateCGPA()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0" y="19202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090" y="2134210"/>
            <a:ext cx="395021" cy="39502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680960" y="19659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bundle data and behaviour together — just like classes in Java or C++.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75120" y="29260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classes &amp; objects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inheritance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encapsulation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polymorphism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48640" y="4937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49377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  </a:t>
            </a: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multimedia &amp; complex objects, reusable via inheritance, matches OOP design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99632" y="4937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EAF3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28232" y="493776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Disadvantages:  </a:t>
            </a:r>
            <a:r>
              <a:rPr lang="en-US" sz="1200" dirty="0">
                <a:solidFill>
                  <a:srgbClr val="17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&amp; costly to implement; less common for traditional business apps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Four Data Models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0233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design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navigation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objects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Entities &amp; relations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Many-to-many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/ FK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references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Language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directly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Navigational access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OQL / APIs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80" b="1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Use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Easy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80" dirty="0">
                          <a:solidFill>
                            <a:srgbClr val="17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486400" cy="5486400"/>
          </a:xfrm>
          <a:prstGeom prst="ellipse">
            <a:avLst/>
          </a:prstGeom>
          <a:solidFill>
            <a:srgbClr val="0B4F6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194560"/>
            <a:ext cx="4206240" cy="42062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" y="83027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554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2377440"/>
            <a:ext cx="10789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DDL, DML, DQL, DCL, TCL — each language handles a different job in the database lifecycle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organize data into tables linked by Primary and Foreign Keys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database design flows from requirements → ER model → tables → normalization → implementation</a:t>
            </a:r>
            <a:endParaRPr lang="en-US" sz="16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Network, Relational, and OO models each represent data differently — choose based on the need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8640" y="5394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· Unit 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1160</Words>
  <Application>Microsoft Office PowerPoint</Application>
  <PresentationFormat>Widescreen</PresentationFormat>
  <Paragraphs>316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Languages, RDB, Database Design &amp; Data Models</dc:title>
  <dc:subject>PptxGenJS Presentation</dc:subject>
  <dc:creator>DBMS Course</dc:creator>
  <cp:lastModifiedBy>Sahithi</cp:lastModifiedBy>
  <cp:revision>2</cp:revision>
  <dcterms:created xsi:type="dcterms:W3CDTF">2026-07-08T04:53:40Z</dcterms:created>
  <dcterms:modified xsi:type="dcterms:W3CDTF">2026-07-08T05:04:54Z</dcterms:modified>
</cp:coreProperties>
</file>