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Model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structure of a database, one relationship at a 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663440"/>
            <a:ext cx="320040" cy="3200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4590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4663440"/>
            <a:ext cx="320040" cy="3200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4590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4663440"/>
            <a:ext cx="320040" cy="3200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4590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ER Model?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blueprint used to design a database before it's ever built. It captures the real-world things we care about, the details that describe them, and the ways they connect.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201168" cy="20116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70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34640" y="26700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real-world object or concept (e.g., a Bank)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201168" cy="20116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47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34640" y="34472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that describes an entity (e.g., account number)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201168" cy="20116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24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42245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or more entities are associated (e.g., Bank Account belongs to a Bank)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1887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flipV="1">
            <a:off x="7680960" y="1737360"/>
            <a:ext cx="1554480" cy="640080"/>
          </a:xfrm>
          <a:prstGeom prst="line">
            <a:avLst/>
          </a:prstGeom>
          <a:noFill/>
          <a:ln w="19050">
            <a:solidFill>
              <a:srgbClr val="5A6B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23774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35440" y="1737360"/>
            <a:ext cx="914" cy="640080"/>
          </a:xfrm>
          <a:prstGeom prst="line">
            <a:avLst/>
          </a:prstGeom>
          <a:noFill/>
          <a:ln w="19050">
            <a:solidFill>
              <a:srgbClr val="5A6B9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3774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35440" y="1737360"/>
            <a:ext cx="1828800" cy="640080"/>
          </a:xfrm>
          <a:prstGeom prst="line">
            <a:avLst/>
          </a:prstGeom>
          <a:noFill/>
          <a:ln w="19050">
            <a:solidFill>
              <a:srgbClr val="5A6B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23774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  •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rectangle in an ER diagram — a real-world object with its own independent existence.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3774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Bank_Account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 — has its own primary key and can exist independently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24688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383280"/>
            <a:ext cx="2286000" cy="6400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Loan_Payment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3246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 — depends on another entity for identification (double-bordered rectangle); has no complete key of its own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01168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83464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set is a collection of similar entities.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all customers of a bank form the Customer entity set — each customer is one entity.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entity always appears with an identifying relationship to its owner entity.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  •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as ovals — the properties that describe an entity.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286000"/>
            <a:ext cx="169164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860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663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entity (e.g., Account_No)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9659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2286000"/>
            <a:ext cx="14173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2860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V="1">
            <a:off x="3977640" y="2834640"/>
            <a:ext cx="845820" cy="411480"/>
          </a:xfrm>
          <a:prstGeom prst="line">
            <a:avLst/>
          </a:prstGeom>
          <a:noFill/>
          <a:ln w="12700">
            <a:solidFill>
              <a:srgbClr val="5A6B9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3246120"/>
            <a:ext cx="73152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23460" y="2834640"/>
            <a:ext cx="22860" cy="411480"/>
          </a:xfrm>
          <a:prstGeom prst="line">
            <a:avLst/>
          </a:prstGeom>
          <a:noFill/>
          <a:ln w="12700">
            <a:solidFill>
              <a:srgbClr val="5A6B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246120"/>
            <a:ext cx="73152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23460" y="2834640"/>
            <a:ext cx="891540" cy="411480"/>
          </a:xfrm>
          <a:prstGeom prst="line">
            <a:avLst/>
          </a:prstGeom>
          <a:noFill/>
          <a:ln w="12700">
            <a:solidFill>
              <a:srgbClr val="5A6B9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3246120"/>
            <a:ext cx="73152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03320" y="4297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03320" y="4663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split into smaller sub-parts (e.g., Address → Street, City, ZIP)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19659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2231136"/>
            <a:ext cx="1783080" cy="658368"/>
          </a:xfrm>
          <a:prstGeom prst="ellipse">
            <a:avLst/>
          </a:prstGeom>
          <a:solidFill>
            <a:srgbClr val="F6F8FD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67728" y="2340864"/>
            <a:ext cx="1563624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7728" y="2340864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Phone_Numbers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29400" y="4297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Multivalued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29400" y="4663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more than one value (e.g., Phone_Numbers)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326880" y="19659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9800" y="2286000"/>
            <a:ext cx="169164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9829800" y="22860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97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555480" y="4663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other attributes (e.g., Age from Date_of_Birth)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  •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&amp; Cardinality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as diamonds — cardinality tells us how many instances of one entity relate to another.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 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11580" y="269748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158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03020" y="3383280"/>
            <a:ext cx="1188720" cy="502920"/>
          </a:xfrm>
          <a:prstGeom prst="diamond">
            <a:avLst/>
          </a:prstGeom>
          <a:solidFill>
            <a:srgbClr val="F2B134"/>
          </a:solidFill>
          <a:ln/>
        </p:spPr>
      </p:sp>
      <p:sp>
        <p:nvSpPr>
          <p:cNvPr id="9" name="Shape 7"/>
          <p:cNvSpPr/>
          <p:nvPr/>
        </p:nvSpPr>
        <p:spPr>
          <a:xfrm>
            <a:off x="1897380" y="3154680"/>
            <a:ext cx="914" cy="228600"/>
          </a:xfrm>
          <a:prstGeom prst="line">
            <a:avLst/>
          </a:prstGeom>
          <a:noFill/>
          <a:ln w="19050">
            <a:solidFill>
              <a:srgbClr val="5A6B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1580" y="411480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158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97380" y="3886200"/>
            <a:ext cx="914" cy="228600"/>
          </a:xfrm>
          <a:prstGeom prst="line">
            <a:avLst/>
          </a:prstGeom>
          <a:noFill/>
          <a:ln w="19050">
            <a:solidFill>
              <a:srgbClr val="5A6B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09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has exactly one passport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0" y="19202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 Many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37660" y="269748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766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29100" y="3383280"/>
            <a:ext cx="1188720" cy="502920"/>
          </a:xfrm>
          <a:prstGeom prst="diamond">
            <a:avLst/>
          </a:prstGeom>
          <a:solidFill>
            <a:srgbClr val="F2B1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823460" y="3154680"/>
            <a:ext cx="914" cy="228600"/>
          </a:xfrm>
          <a:prstGeom prst="line">
            <a:avLst/>
          </a:prstGeom>
          <a:noFill/>
          <a:ln w="19050">
            <a:solidFill>
              <a:srgbClr val="5A6B9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37660" y="411480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766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23460" y="3886200"/>
            <a:ext cx="914" cy="228600"/>
          </a:xfrm>
          <a:prstGeom prst="line">
            <a:avLst/>
          </a:prstGeom>
          <a:noFill/>
          <a:ln w="19050">
            <a:solidFill>
              <a:srgbClr val="5A6B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709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 has many accounts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19202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to One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63740" y="269748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374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55180" y="3383280"/>
            <a:ext cx="1188720" cy="502920"/>
          </a:xfrm>
          <a:prstGeom prst="diamond">
            <a:avLst/>
          </a:prstGeom>
          <a:solidFill>
            <a:srgbClr val="F2B134"/>
          </a:solidFill>
          <a:ln/>
        </p:spPr>
      </p:sp>
      <p:sp>
        <p:nvSpPr>
          <p:cNvPr id="29" name="Shape 27"/>
          <p:cNvSpPr/>
          <p:nvPr/>
        </p:nvSpPr>
        <p:spPr>
          <a:xfrm>
            <a:off x="7749540" y="3154680"/>
            <a:ext cx="914" cy="228600"/>
          </a:xfrm>
          <a:prstGeom prst="line">
            <a:avLst/>
          </a:prstGeom>
          <a:noFill/>
          <a:ln w="19050">
            <a:solidFill>
              <a:srgbClr val="5A6B9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63740" y="411480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6374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49540" y="3886200"/>
            <a:ext cx="914" cy="228600"/>
          </a:xfrm>
          <a:prstGeom prst="line">
            <a:avLst/>
          </a:prstGeom>
          <a:noFill/>
          <a:ln w="19050">
            <a:solidFill>
              <a:srgbClr val="5A6B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709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accounts belong to one bank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326880" y="19202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6404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to Many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989820" y="269748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8982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081260" y="3383280"/>
            <a:ext cx="1188720" cy="502920"/>
          </a:xfrm>
          <a:prstGeom prst="diamond">
            <a:avLst/>
          </a:prstGeom>
          <a:solidFill>
            <a:srgbClr val="F2B134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75620" y="3154680"/>
            <a:ext cx="914" cy="228600"/>
          </a:xfrm>
          <a:prstGeom prst="line">
            <a:avLst/>
          </a:prstGeom>
          <a:noFill/>
          <a:ln w="19050">
            <a:solidFill>
              <a:srgbClr val="5A6B9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89820" y="411480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8982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675620" y="3886200"/>
            <a:ext cx="914" cy="228600"/>
          </a:xfrm>
          <a:prstGeom prst="line">
            <a:avLst/>
          </a:prstGeom>
          <a:noFill/>
          <a:ln w="19050">
            <a:solidFill>
              <a:srgbClr val="5A6B9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09760" y="4709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 in many courses, and vice versa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  •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Bank_Account – Bank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together: two entities connected through a relationship.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914400" y="3566160"/>
            <a:ext cx="237744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Bank_Account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69680" y="3566160"/>
            <a:ext cx="237744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57800" y="3611880"/>
            <a:ext cx="1645920" cy="731520"/>
          </a:xfrm>
          <a:prstGeom prst="diamond">
            <a:avLst/>
          </a:prstGeom>
          <a:solidFill>
            <a:srgbClr val="F2B134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maintained_by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0760" y="3020760"/>
            <a:ext cx="0" cy="591120"/>
          </a:xfrm>
          <a:prstGeom prst="line">
            <a:avLst/>
          </a:prstGeom>
          <a:noFill/>
          <a:ln w="12700">
            <a:solidFill>
              <a:srgbClr val="5A6B9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0" y="2517840"/>
            <a:ext cx="1371600" cy="50292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2517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Date_Opened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3977640"/>
            <a:ext cx="1965960" cy="914"/>
          </a:xfrm>
          <a:prstGeom prst="line">
            <a:avLst/>
          </a:prstGeom>
          <a:noFill/>
          <a:ln w="25400">
            <a:solidFill>
              <a:srgbClr val="5A6B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3977640"/>
            <a:ext cx="1965960" cy="914"/>
          </a:xfrm>
          <a:prstGeom prst="line">
            <a:avLst/>
          </a:prstGeom>
          <a:noFill/>
          <a:ln w="25400">
            <a:solidFill>
              <a:srgbClr val="5A6B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474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3474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423160"/>
            <a:ext cx="1691640" cy="1143000"/>
          </a:xfrm>
          <a:prstGeom prst="line">
            <a:avLst/>
          </a:prstGeom>
          <a:noFill/>
          <a:ln w="12700">
            <a:solidFill>
              <a:srgbClr val="5A6B9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-274320" y="2103120"/>
            <a:ext cx="1371600" cy="50292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-27432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37360" y="2148840"/>
            <a:ext cx="365760" cy="1417320"/>
          </a:xfrm>
          <a:prstGeom prst="line">
            <a:avLst/>
          </a:prstGeom>
          <a:noFill/>
          <a:ln w="12700">
            <a:solidFill>
              <a:srgbClr val="5A6B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1828800"/>
            <a:ext cx="1371600" cy="50292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1828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flipV="1">
            <a:off x="2103120" y="2423160"/>
            <a:ext cx="868680" cy="1143000"/>
          </a:xfrm>
          <a:prstGeom prst="line">
            <a:avLst/>
          </a:prstGeom>
          <a:noFill/>
          <a:ln w="12700">
            <a:solidFill>
              <a:srgbClr val="5A6B9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2103120"/>
            <a:ext cx="1371600" cy="50292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35440" y="2148840"/>
            <a:ext cx="822960" cy="1417320"/>
          </a:xfrm>
          <a:prstGeom prst="line">
            <a:avLst/>
          </a:prstGeom>
          <a:noFill/>
          <a:ln w="12700">
            <a:solidFill>
              <a:srgbClr val="5A6B9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9640" y="1828800"/>
            <a:ext cx="1371600" cy="50292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1828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Bank_Name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flipV="1">
            <a:off x="10058400" y="2423160"/>
            <a:ext cx="548640" cy="1143000"/>
          </a:xfrm>
          <a:prstGeom prst="line">
            <a:avLst/>
          </a:prstGeom>
          <a:noFill/>
          <a:ln w="12700">
            <a:solidFill>
              <a:srgbClr val="5A6B9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21240" y="2103120"/>
            <a:ext cx="1371600" cy="50292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2124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285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it: Many (M) Bank_Account entities are maintained_by exactly One (1) Bank — a Many-to-One relationship. Account_No is the key attribute that uniquely identifies each account. Relationships can carry their own attributes too — Date_Opened belongs to maintained_by itself, not to either entity.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  •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B13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31920" y="1783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object (rectangle); may be strong or weak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B134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31920" y="27432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describing property (oval): key, composite, multivalued, or derived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31920" y="3703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between entities (diamond), with cardinality: 1:1, 1:M, M:1, M:M — and sometimes its own attributes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120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three building blocks let us model any real-world database — from a single bank account to an entire enterprise system.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2026-07-14T01:12:57Z</dcterms:created>
  <dcterms:modified xsi:type="dcterms:W3CDTF">2026-07-14T01:12:57Z</dcterms:modified>
</cp:coreProperties>
</file>